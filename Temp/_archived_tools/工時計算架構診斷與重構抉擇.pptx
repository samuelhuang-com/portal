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75" r:id="rId2"/>
    <p:sldId id="271" r:id="rId3"/>
    <p:sldId id="272" r:id="rId4"/>
    <p:sldId id="273" r:id="rId5"/>
    <p:sldId id="274" r:id="rId6"/>
    <p:sldId id="256" r:id="rId7"/>
    <p:sldId id="257" r:id="rId8"/>
    <p:sldId id="269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F349A3-6940-44CE-9463-7E6330E858F5}" v="37" dt="2026-06-10T07:32:03.2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17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Huang" userId="3d14d3036a2a384b" providerId="LiveId" clId="{59E6B3E9-767B-4360-86A1-1FE5E3B4620C}"/>
    <pc:docChg chg="custSel addSld delSld modSld">
      <pc:chgData name="Samuel Huang" userId="3d14d3036a2a384b" providerId="LiveId" clId="{59E6B3E9-767B-4360-86A1-1FE5E3B4620C}" dt="2026-06-10T08:18:27.852" v="257" actId="20577"/>
      <pc:docMkLst>
        <pc:docMk/>
      </pc:docMkLst>
      <pc:sldChg chg="modSp mod">
        <pc:chgData name="Samuel Huang" userId="3d14d3036a2a384b" providerId="LiveId" clId="{59E6B3E9-767B-4360-86A1-1FE5E3B4620C}" dt="2026-06-10T06:09:26.327" v="43"/>
        <pc:sldMkLst>
          <pc:docMk/>
          <pc:sldMk cId="0" sldId="256"/>
        </pc:sldMkLst>
        <pc:spChg chg="mod">
          <ac:chgData name="Samuel Huang" userId="3d14d3036a2a384b" providerId="LiveId" clId="{59E6B3E9-767B-4360-86A1-1FE5E3B4620C}" dt="2026-06-10T06:09:26.327" v="43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Samuel Huang" userId="3d14d3036a2a384b" providerId="LiveId" clId="{59E6B3E9-767B-4360-86A1-1FE5E3B4620C}" dt="2026-06-09T03:29:48.130" v="16"/>
        <pc:sldMkLst>
          <pc:docMk/>
          <pc:sldMk cId="0" sldId="258"/>
        </pc:sldMkLst>
        <pc:spChg chg="mod">
          <ac:chgData name="Samuel Huang" userId="3d14d3036a2a384b" providerId="LiveId" clId="{59E6B3E9-767B-4360-86A1-1FE5E3B4620C}" dt="2026-06-09T03:29:48.130" v="16"/>
          <ac:spMkLst>
            <pc:docMk/>
            <pc:sldMk cId="0" sldId="258"/>
            <ac:spMk id="7" creationId="{00000000-0000-0000-0000-000000000000}"/>
          </ac:spMkLst>
        </pc:spChg>
        <pc:spChg chg="mod">
          <ac:chgData name="Samuel Huang" userId="3d14d3036a2a384b" providerId="LiveId" clId="{59E6B3E9-767B-4360-86A1-1FE5E3B4620C}" dt="2026-06-09T03:29:14.200" v="15" actId="6549"/>
          <ac:spMkLst>
            <pc:docMk/>
            <pc:sldMk cId="0" sldId="258"/>
            <ac:spMk id="18" creationId="{00000000-0000-0000-0000-000000000000}"/>
          </ac:spMkLst>
        </pc:spChg>
      </pc:sldChg>
      <pc:sldChg chg="modSp">
        <pc:chgData name="Samuel Huang" userId="3d14d3036a2a384b" providerId="LiveId" clId="{59E6B3E9-767B-4360-86A1-1FE5E3B4620C}" dt="2026-06-09T03:29:48.130" v="16"/>
        <pc:sldMkLst>
          <pc:docMk/>
          <pc:sldMk cId="0" sldId="259"/>
        </pc:sldMkLst>
        <pc:spChg chg="mod">
          <ac:chgData name="Samuel Huang" userId="3d14d3036a2a384b" providerId="LiveId" clId="{59E6B3E9-767B-4360-86A1-1FE5E3B4620C}" dt="2026-06-09T03:29:48.130" v="16"/>
          <ac:spMkLst>
            <pc:docMk/>
            <pc:sldMk cId="0" sldId="259"/>
            <ac:spMk id="7" creationId="{00000000-0000-0000-0000-000000000000}"/>
          </ac:spMkLst>
        </pc:spChg>
        <pc:spChg chg="mod">
          <ac:chgData name="Samuel Huang" userId="3d14d3036a2a384b" providerId="LiveId" clId="{59E6B3E9-767B-4360-86A1-1FE5E3B4620C}" dt="2026-06-09T03:29:48.130" v="1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Samuel Huang" userId="3d14d3036a2a384b" providerId="LiveId" clId="{59E6B3E9-767B-4360-86A1-1FE5E3B4620C}" dt="2026-06-09T03:29:48.130" v="16"/>
          <ac:spMkLst>
            <pc:docMk/>
            <pc:sldMk cId="0" sldId="259"/>
            <ac:spMk id="17" creationId="{00000000-0000-0000-0000-000000000000}"/>
          </ac:spMkLst>
        </pc:spChg>
      </pc:sldChg>
      <pc:sldChg chg="modSp mod">
        <pc:chgData name="Samuel Huang" userId="3d14d3036a2a384b" providerId="LiveId" clId="{59E6B3E9-767B-4360-86A1-1FE5E3B4620C}" dt="2026-06-09T03:33:18.720" v="28" actId="6549"/>
        <pc:sldMkLst>
          <pc:docMk/>
          <pc:sldMk cId="0" sldId="261"/>
        </pc:sldMkLst>
        <pc:spChg chg="mod">
          <ac:chgData name="Samuel Huang" userId="3d14d3036a2a384b" providerId="LiveId" clId="{59E6B3E9-767B-4360-86A1-1FE5E3B4620C}" dt="2026-06-09T03:32:50.253" v="26"/>
          <ac:spMkLst>
            <pc:docMk/>
            <pc:sldMk cId="0" sldId="261"/>
            <ac:spMk id="21" creationId="{00000000-0000-0000-0000-000000000000}"/>
          </ac:spMkLst>
        </pc:spChg>
        <pc:spChg chg="mod">
          <ac:chgData name="Samuel Huang" userId="3d14d3036a2a384b" providerId="LiveId" clId="{59E6B3E9-767B-4360-86A1-1FE5E3B4620C}" dt="2026-06-09T03:33:18.720" v="28" actId="6549"/>
          <ac:spMkLst>
            <pc:docMk/>
            <pc:sldMk cId="0" sldId="261"/>
            <ac:spMk id="27" creationId="{00000000-0000-0000-0000-000000000000}"/>
          </ac:spMkLst>
        </pc:spChg>
      </pc:sldChg>
      <pc:sldChg chg="modSp">
        <pc:chgData name="Samuel Huang" userId="3d14d3036a2a384b" providerId="LiveId" clId="{59E6B3E9-767B-4360-86A1-1FE5E3B4620C}" dt="2026-06-09T03:35:45.717" v="29"/>
        <pc:sldMkLst>
          <pc:docMk/>
          <pc:sldMk cId="0" sldId="263"/>
        </pc:sldMkLst>
        <pc:spChg chg="mod">
          <ac:chgData name="Samuel Huang" userId="3d14d3036a2a384b" providerId="LiveId" clId="{59E6B3E9-767B-4360-86A1-1FE5E3B4620C}" dt="2026-06-09T03:35:45.717" v="29"/>
          <ac:spMkLst>
            <pc:docMk/>
            <pc:sldMk cId="0" sldId="263"/>
            <ac:spMk id="33" creationId="{00000000-0000-0000-0000-000000000000}"/>
          </ac:spMkLst>
        </pc:spChg>
      </pc:sldChg>
      <pc:sldChg chg="modSp">
        <pc:chgData name="Samuel Huang" userId="3d14d3036a2a384b" providerId="LiveId" clId="{59E6B3E9-767B-4360-86A1-1FE5E3B4620C}" dt="2026-06-09T03:29:48.130" v="16"/>
        <pc:sldMkLst>
          <pc:docMk/>
          <pc:sldMk cId="0" sldId="264"/>
        </pc:sldMkLst>
        <pc:spChg chg="mod">
          <ac:chgData name="Samuel Huang" userId="3d14d3036a2a384b" providerId="LiveId" clId="{59E6B3E9-767B-4360-86A1-1FE5E3B4620C}" dt="2026-06-09T03:29:48.130" v="16"/>
          <ac:spMkLst>
            <pc:docMk/>
            <pc:sldMk cId="0" sldId="264"/>
            <ac:spMk id="5" creationId="{00000000-0000-0000-0000-000000000000}"/>
          </ac:spMkLst>
        </pc:spChg>
      </pc:sldChg>
      <pc:sldChg chg="modSp mod">
        <pc:chgData name="Samuel Huang" userId="3d14d3036a2a384b" providerId="LiveId" clId="{59E6B3E9-767B-4360-86A1-1FE5E3B4620C}" dt="2026-06-09T03:37:06.072" v="32" actId="122"/>
        <pc:sldMkLst>
          <pc:docMk/>
          <pc:sldMk cId="0" sldId="265"/>
        </pc:sldMkLst>
        <pc:graphicFrameChg chg="modGraphic">
          <ac:chgData name="Samuel Huang" userId="3d14d3036a2a384b" providerId="LiveId" clId="{59E6B3E9-767B-4360-86A1-1FE5E3B4620C}" dt="2026-06-09T03:37:06.072" v="32" actId="122"/>
          <ac:graphicFrameMkLst>
            <pc:docMk/>
            <pc:sldMk cId="0" sldId="265"/>
            <ac:graphicFrameMk id="11" creationId="{00000000-0000-0000-0000-000000000000}"/>
          </ac:graphicFrameMkLst>
        </pc:graphicFrameChg>
      </pc:sldChg>
      <pc:sldChg chg="modSp">
        <pc:chgData name="Samuel Huang" userId="3d14d3036a2a384b" providerId="LiveId" clId="{59E6B3E9-767B-4360-86A1-1FE5E3B4620C}" dt="2026-06-09T03:29:48.130" v="16"/>
        <pc:sldMkLst>
          <pc:docMk/>
          <pc:sldMk cId="0" sldId="267"/>
        </pc:sldMkLst>
        <pc:spChg chg="mod">
          <ac:chgData name="Samuel Huang" userId="3d14d3036a2a384b" providerId="LiveId" clId="{59E6B3E9-767B-4360-86A1-1FE5E3B4620C}" dt="2026-06-09T03:29:48.130" v="16"/>
          <ac:spMkLst>
            <pc:docMk/>
            <pc:sldMk cId="0" sldId="267"/>
            <ac:spMk id="15" creationId="{00000000-0000-0000-0000-000000000000}"/>
          </ac:spMkLst>
        </pc:spChg>
      </pc:sldChg>
      <pc:sldChg chg="modSp">
        <pc:chgData name="Samuel Huang" userId="3d14d3036a2a384b" providerId="LiveId" clId="{59E6B3E9-767B-4360-86A1-1FE5E3B4620C}" dt="2026-06-09T03:33:07.758" v="27"/>
        <pc:sldMkLst>
          <pc:docMk/>
          <pc:sldMk cId="0" sldId="268"/>
        </pc:sldMkLst>
        <pc:spChg chg="mod">
          <ac:chgData name="Samuel Huang" userId="3d14d3036a2a384b" providerId="LiveId" clId="{59E6B3E9-767B-4360-86A1-1FE5E3B4620C}" dt="2026-06-09T03:33:07.758" v="27"/>
          <ac:spMkLst>
            <pc:docMk/>
            <pc:sldMk cId="0" sldId="268"/>
            <ac:spMk id="19" creationId="{00000000-0000-0000-0000-000000000000}"/>
          </ac:spMkLst>
        </pc:spChg>
      </pc:sldChg>
      <pc:sldChg chg="addSp modSp new mod">
        <pc:chgData name="Samuel Huang" userId="3d14d3036a2a384b" providerId="LiveId" clId="{59E6B3E9-767B-4360-86A1-1FE5E3B4620C}" dt="2026-06-09T03:28:48.468" v="14" actId="1076"/>
        <pc:sldMkLst>
          <pc:docMk/>
          <pc:sldMk cId="2982067890" sldId="269"/>
        </pc:sldMkLst>
        <pc:picChg chg="add mod">
          <ac:chgData name="Samuel Huang" userId="3d14d3036a2a384b" providerId="LiveId" clId="{59E6B3E9-767B-4360-86A1-1FE5E3B4620C}" dt="2026-06-09T03:28:20.701" v="11" actId="1076"/>
          <ac:picMkLst>
            <pc:docMk/>
            <pc:sldMk cId="2982067890" sldId="269"/>
            <ac:picMk id="3" creationId="{8E825CFE-7507-954F-62BD-FA058FB20CC4}"/>
          </ac:picMkLst>
        </pc:picChg>
        <pc:picChg chg="add mod">
          <ac:chgData name="Samuel Huang" userId="3d14d3036a2a384b" providerId="LiveId" clId="{59E6B3E9-767B-4360-86A1-1FE5E3B4620C}" dt="2026-06-09T03:28:48.468" v="14" actId="1076"/>
          <ac:picMkLst>
            <pc:docMk/>
            <pc:sldMk cId="2982067890" sldId="269"/>
            <ac:picMk id="5" creationId="{50A52C27-B188-ACC0-D1D3-FC600A525BCF}"/>
          </ac:picMkLst>
        </pc:picChg>
      </pc:sldChg>
      <pc:sldChg chg="addSp delSp modSp new del mod">
        <pc:chgData name="Samuel Huang" userId="3d14d3036a2a384b" providerId="LiveId" clId="{59E6B3E9-767B-4360-86A1-1FE5E3B4620C}" dt="2026-06-10T07:29:59.154" v="188" actId="47"/>
        <pc:sldMkLst>
          <pc:docMk/>
          <pc:sldMk cId="1865449450" sldId="270"/>
        </pc:sldMkLst>
        <pc:spChg chg="add del mod">
          <ac:chgData name="Samuel Huang" userId="3d14d3036a2a384b" providerId="LiveId" clId="{59E6B3E9-767B-4360-86A1-1FE5E3B4620C}" dt="2026-06-10T07:02:30.104" v="47"/>
          <ac:spMkLst>
            <pc:docMk/>
            <pc:sldMk cId="1865449450" sldId="270"/>
            <ac:spMk id="2" creationId="{CA68F6EC-5DDD-5C67-892F-BA53EB4E08CA}"/>
          </ac:spMkLst>
        </pc:spChg>
        <pc:spChg chg="add del mod">
          <ac:chgData name="Samuel Huang" userId="3d14d3036a2a384b" providerId="LiveId" clId="{59E6B3E9-767B-4360-86A1-1FE5E3B4620C}" dt="2026-06-10T07:24:16.176" v="186" actId="478"/>
          <ac:spMkLst>
            <pc:docMk/>
            <pc:sldMk cId="1865449450" sldId="270"/>
            <ac:spMk id="4" creationId="{97ACE673-65B9-6A40-2D24-94FF3F393759}"/>
          </ac:spMkLst>
        </pc:spChg>
      </pc:sldChg>
      <pc:sldChg chg="modSp add mod setBg">
        <pc:chgData name="Samuel Huang" userId="3d14d3036a2a384b" providerId="LiveId" clId="{59E6B3E9-767B-4360-86A1-1FE5E3B4620C}" dt="2026-06-10T08:17:32.732" v="249" actId="20577"/>
        <pc:sldMkLst>
          <pc:docMk/>
          <pc:sldMk cId="0" sldId="271"/>
        </pc:sldMkLst>
        <pc:spChg chg="mod">
          <ac:chgData name="Samuel Huang" userId="3d14d3036a2a384b" providerId="LiveId" clId="{59E6B3E9-767B-4360-86A1-1FE5E3B4620C}" dt="2026-06-10T08:17:32.732" v="249" actId="20577"/>
          <ac:spMkLst>
            <pc:docMk/>
            <pc:sldMk cId="0" sldId="271"/>
            <ac:spMk id="11" creationId="{00000000-0000-0000-0000-000000000000}"/>
          </ac:spMkLst>
        </pc:spChg>
      </pc:sldChg>
      <pc:sldChg chg="add setBg">
        <pc:chgData name="Samuel Huang" userId="3d14d3036a2a384b" providerId="LiveId" clId="{59E6B3E9-767B-4360-86A1-1FE5E3B4620C}" dt="2026-06-10T07:29:56.019" v="187"/>
        <pc:sldMkLst>
          <pc:docMk/>
          <pc:sldMk cId="0" sldId="272"/>
        </pc:sldMkLst>
      </pc:sldChg>
      <pc:sldChg chg="add setBg">
        <pc:chgData name="Samuel Huang" userId="3d14d3036a2a384b" providerId="LiveId" clId="{59E6B3E9-767B-4360-86A1-1FE5E3B4620C}" dt="2026-06-10T07:29:56.019" v="187"/>
        <pc:sldMkLst>
          <pc:docMk/>
          <pc:sldMk cId="0" sldId="273"/>
        </pc:sldMkLst>
      </pc:sldChg>
      <pc:sldChg chg="modSp add mod setBg">
        <pc:chgData name="Samuel Huang" userId="3d14d3036a2a384b" providerId="LiveId" clId="{59E6B3E9-767B-4360-86A1-1FE5E3B4620C}" dt="2026-06-10T08:18:27.852" v="257" actId="20577"/>
        <pc:sldMkLst>
          <pc:docMk/>
          <pc:sldMk cId="0" sldId="274"/>
        </pc:sldMkLst>
        <pc:spChg chg="mod">
          <ac:chgData name="Samuel Huang" userId="3d14d3036a2a384b" providerId="LiveId" clId="{59E6B3E9-767B-4360-86A1-1FE5E3B4620C}" dt="2026-06-10T08:18:27.852" v="257" actId="20577"/>
          <ac:spMkLst>
            <pc:docMk/>
            <pc:sldMk cId="0" sldId="274"/>
            <ac:spMk id="23" creationId="{00000000-0000-0000-0000-000000000000}"/>
          </ac:spMkLst>
        </pc:spChg>
      </pc:sldChg>
      <pc:sldChg chg="addSp delSp modSp add mod">
        <pc:chgData name="Samuel Huang" userId="3d14d3036a2a384b" providerId="LiveId" clId="{59E6B3E9-767B-4360-86A1-1FE5E3B4620C}" dt="2026-06-10T07:32:35.559" v="246" actId="2711"/>
        <pc:sldMkLst>
          <pc:docMk/>
          <pc:sldMk cId="378775889" sldId="275"/>
        </pc:sldMkLst>
        <pc:spChg chg="del mod">
          <ac:chgData name="Samuel Huang" userId="3d14d3036a2a384b" providerId="LiveId" clId="{59E6B3E9-767B-4360-86A1-1FE5E3B4620C}" dt="2026-06-10T07:30:22.614" v="193" actId="478"/>
          <ac:spMkLst>
            <pc:docMk/>
            <pc:sldMk cId="378775889" sldId="275"/>
            <ac:spMk id="3" creationId="{137CBB05-E6EC-DA0D-796B-31139F5A80B0}"/>
          </ac:spMkLst>
        </pc:spChg>
        <pc:spChg chg="mod">
          <ac:chgData name="Samuel Huang" userId="3d14d3036a2a384b" providerId="LiveId" clId="{59E6B3E9-767B-4360-86A1-1FE5E3B4620C}" dt="2026-06-10T07:31:11.780" v="231" actId="14100"/>
          <ac:spMkLst>
            <pc:docMk/>
            <pc:sldMk cId="378775889" sldId="275"/>
            <ac:spMk id="4" creationId="{161A8A92-6735-F21F-91E8-4ECE6A2D405B}"/>
          </ac:spMkLst>
        </pc:spChg>
        <pc:spChg chg="del">
          <ac:chgData name="Samuel Huang" userId="3d14d3036a2a384b" providerId="LiveId" clId="{59E6B3E9-767B-4360-86A1-1FE5E3B4620C}" dt="2026-06-10T07:30:35.488" v="194" actId="478"/>
          <ac:spMkLst>
            <pc:docMk/>
            <pc:sldMk cId="378775889" sldId="275"/>
            <ac:spMk id="5" creationId="{07DD979E-8AFF-3F5E-D52C-E9678917A8BB}"/>
          </ac:spMkLst>
        </pc:spChg>
        <pc:spChg chg="del">
          <ac:chgData name="Samuel Huang" userId="3d14d3036a2a384b" providerId="LiveId" clId="{59E6B3E9-767B-4360-86A1-1FE5E3B4620C}" dt="2026-06-10T07:30:37.403" v="195" actId="478"/>
          <ac:spMkLst>
            <pc:docMk/>
            <pc:sldMk cId="378775889" sldId="275"/>
            <ac:spMk id="7" creationId="{A2535554-E3F6-CAA8-2568-07AF29FC0EEF}"/>
          </ac:spMkLst>
        </pc:spChg>
        <pc:spChg chg="add mod">
          <ac:chgData name="Samuel Huang" userId="3d14d3036a2a384b" providerId="LiveId" clId="{59E6B3E9-767B-4360-86A1-1FE5E3B4620C}" dt="2026-06-10T07:32:35.559" v="246" actId="2711"/>
          <ac:spMkLst>
            <pc:docMk/>
            <pc:sldMk cId="378775889" sldId="275"/>
            <ac:spMk id="9" creationId="{2D56F3F1-1746-B06A-5223-626896891388}"/>
          </ac:spMkLst>
        </pc:spChg>
      </pc:sldChg>
      <pc:sldChg chg="add del setBg">
        <pc:chgData name="Samuel Huang" userId="3d14d3036a2a384b" providerId="LiveId" clId="{59E6B3E9-767B-4360-86A1-1FE5E3B4620C}" dt="2026-06-10T07:30:17.271" v="190"/>
        <pc:sldMkLst>
          <pc:docMk/>
          <pc:sldMk cId="1508804666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6576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82265-BF5F-E7E7-BF68-0B11BC15D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3EF3C7-61A5-15EE-E811-F6119E33F3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D403F2-DA2B-2AB2-90C9-7EAB9BDE49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49460B-5B8E-4338-EA4D-3612F32AD0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7060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3FA94C-AE3D-0B06-9FAC-A5A702F31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43BC84B-58FD-F50D-2EAC-149ACFBC6994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61A8A92-6735-F21F-91E8-4ECE6A2D405B}"/>
              </a:ext>
            </a:extLst>
          </p:cNvPr>
          <p:cNvSpPr/>
          <p:nvPr/>
        </p:nvSpPr>
        <p:spPr>
          <a:xfrm>
            <a:off x="822960" y="1874520"/>
            <a:ext cx="10607040" cy="861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zh-TW" altLang="en-US" sz="40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</a:rPr>
              <a:t>功能介紹</a:t>
            </a:r>
            <a:endParaRPr lang="en-US" sz="4000" b="1" dirty="0">
              <a:solidFill>
                <a:srgbClr val="FFFFFF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B051EDB-E63A-2A95-34BB-C08C13532988}"/>
              </a:ext>
            </a:extLst>
          </p:cNvPr>
          <p:cNvSpPr/>
          <p:nvPr/>
        </p:nvSpPr>
        <p:spPr>
          <a:xfrm>
            <a:off x="841248" y="4343400"/>
            <a:ext cx="2926080" cy="0"/>
          </a:xfrm>
          <a:prstGeom prst="line">
            <a:avLst/>
          </a:prstGeom>
          <a:noFill/>
          <a:ln w="19050">
            <a:solidFill>
              <a:srgbClr val="4BA8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D56F3F1-1746-B06A-5223-626896891388}"/>
              </a:ext>
            </a:extLst>
          </p:cNvPr>
          <p:cNvSpPr txBox="1"/>
          <p:nvPr/>
        </p:nvSpPr>
        <p:spPr>
          <a:xfrm>
            <a:off x="2304288" y="293932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排班系統</a:t>
            </a:r>
            <a:br>
              <a:rPr lang="en-US" altLang="zh-TW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行事曆</a:t>
            </a:r>
            <a:br>
              <a:rPr lang="en-US" altLang="zh-TW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工作日誌生成與 Excel 匯出</a:t>
            </a:r>
            <a:br>
              <a:rPr lang="en-US" altLang="zh-TW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飯店／商場數據匯出簡報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8775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3" name="Shape 1"/>
          <p:cNvSpPr/>
          <p:nvPr/>
        </p:nvSpPr>
        <p:spPr>
          <a:xfrm>
            <a:off x="182880" y="0"/>
            <a:ext cx="12009120" cy="1645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4" name="Shape 2"/>
          <p:cNvSpPr/>
          <p:nvPr/>
        </p:nvSpPr>
        <p:spPr>
          <a:xfrm>
            <a:off x="11338560" y="146304"/>
            <a:ext cx="609600" cy="60960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5" name="Text 3"/>
          <p:cNvSpPr/>
          <p:nvPr/>
        </p:nvSpPr>
        <p:spPr>
          <a:xfrm>
            <a:off x="11338560" y="146304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</a:rPr>
              <a:t>1</a:t>
            </a:r>
            <a:endParaRPr lang="en-US" sz="1867" dirty="0"/>
          </a:p>
        </p:txBody>
      </p:sp>
      <p:sp>
        <p:nvSpPr>
          <p:cNvPr id="6" name="Text 4"/>
          <p:cNvSpPr/>
          <p:nvPr/>
        </p:nvSpPr>
        <p:spPr>
          <a:xfrm>
            <a:off x="487680" y="146304"/>
            <a:ext cx="91440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FFFFFF"/>
                </a:solidFill>
              </a:rPr>
              <a:t>排班系統</a:t>
            </a:r>
            <a:endParaRPr lang="en-US" sz="3733" dirty="0"/>
          </a:p>
        </p:txBody>
      </p:sp>
      <p:sp>
        <p:nvSpPr>
          <p:cNvPr id="7" name="Text 5"/>
          <p:cNvSpPr/>
          <p:nvPr/>
        </p:nvSpPr>
        <p:spPr>
          <a:xfrm>
            <a:off x="487680" y="950976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CADCFC"/>
                </a:solidFill>
              </a:rPr>
              <a:t>Scheduling System</a:t>
            </a:r>
            <a:endParaRPr lang="en-US" sz="1733" dirty="0"/>
          </a:p>
        </p:txBody>
      </p:sp>
      <p:sp>
        <p:nvSpPr>
          <p:cNvPr id="8" name="Shape 6"/>
          <p:cNvSpPr/>
          <p:nvPr/>
        </p:nvSpPr>
        <p:spPr>
          <a:xfrm>
            <a:off x="304800" y="1889760"/>
            <a:ext cx="5547360" cy="1950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9" name="Shape 7"/>
          <p:cNvSpPr/>
          <p:nvPr/>
        </p:nvSpPr>
        <p:spPr>
          <a:xfrm>
            <a:off x="304800" y="1889760"/>
            <a:ext cx="73152" cy="195072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10" name="Text 8"/>
          <p:cNvSpPr/>
          <p:nvPr/>
        </p:nvSpPr>
        <p:spPr>
          <a:xfrm>
            <a:off x="451104" y="2036064"/>
            <a:ext cx="463296" cy="463296"/>
          </a:xfrm>
          <a:prstGeom prst="rect">
            <a:avLst/>
          </a:prstGeom>
          <a:solidFill>
            <a:srgbClr val="1B3A5C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1</a:t>
            </a:r>
            <a:endParaRPr lang="en-US" sz="1733" dirty="0"/>
          </a:p>
        </p:txBody>
      </p:sp>
      <p:sp>
        <p:nvSpPr>
          <p:cNvPr id="11" name="Text 9"/>
          <p:cNvSpPr/>
          <p:nvPr/>
        </p:nvSpPr>
        <p:spPr>
          <a:xfrm>
            <a:off x="1036320" y="1950720"/>
            <a:ext cx="4669536" cy="1828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r>
              <a:rPr lang="en-US">
                <a:solidFill>
                  <a:srgbClr val="1E293B"/>
                </a:solidFill>
              </a:rPr>
              <a:t>依部門，</a:t>
            </a:r>
            <a:r>
              <a:rPr lang="en-US" dirty="0">
                <a:solidFill>
                  <a:srgbClr val="1E293B"/>
                </a:solidFill>
              </a:rPr>
              <a:t>安排每位員工的上班時間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974080" y="1889760"/>
            <a:ext cx="5547360" cy="1950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13" name="Shape 11"/>
          <p:cNvSpPr/>
          <p:nvPr/>
        </p:nvSpPr>
        <p:spPr>
          <a:xfrm>
            <a:off x="5974080" y="1889760"/>
            <a:ext cx="73152" cy="195072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14" name="Text 12"/>
          <p:cNvSpPr/>
          <p:nvPr/>
        </p:nvSpPr>
        <p:spPr>
          <a:xfrm>
            <a:off x="6120384" y="2036064"/>
            <a:ext cx="463296" cy="463296"/>
          </a:xfrm>
          <a:prstGeom prst="rect">
            <a:avLst/>
          </a:prstGeom>
          <a:solidFill>
            <a:srgbClr val="1B3A5C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2</a:t>
            </a:r>
            <a:endParaRPr lang="en-US" sz="1733" dirty="0"/>
          </a:p>
        </p:txBody>
      </p:sp>
      <p:sp>
        <p:nvSpPr>
          <p:cNvPr id="15" name="Text 13"/>
          <p:cNvSpPr/>
          <p:nvPr/>
        </p:nvSpPr>
        <p:spPr>
          <a:xfrm>
            <a:off x="6705600" y="1950720"/>
            <a:ext cx="4669536" cy="1828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r>
              <a:rPr lang="en-US" dirty="0">
                <a:solidFill>
                  <a:srgbClr val="1E293B"/>
                </a:solidFill>
              </a:rPr>
              <a:t>支援多班別設定（早班、中班、夜班）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04800" y="4023360"/>
            <a:ext cx="5547360" cy="1950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17" name="Shape 15"/>
          <p:cNvSpPr/>
          <p:nvPr/>
        </p:nvSpPr>
        <p:spPr>
          <a:xfrm>
            <a:off x="304800" y="4023360"/>
            <a:ext cx="73152" cy="195072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18" name="Text 16"/>
          <p:cNvSpPr/>
          <p:nvPr/>
        </p:nvSpPr>
        <p:spPr>
          <a:xfrm>
            <a:off x="451104" y="4169664"/>
            <a:ext cx="463296" cy="463296"/>
          </a:xfrm>
          <a:prstGeom prst="rect">
            <a:avLst/>
          </a:prstGeom>
          <a:solidFill>
            <a:srgbClr val="1B3A5C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3</a:t>
            </a:r>
            <a:endParaRPr lang="en-US" sz="1733" dirty="0"/>
          </a:p>
        </p:txBody>
      </p:sp>
      <p:sp>
        <p:nvSpPr>
          <p:cNvPr id="19" name="Text 17"/>
          <p:cNvSpPr/>
          <p:nvPr/>
        </p:nvSpPr>
        <p:spPr>
          <a:xfrm>
            <a:off x="1036320" y="4084320"/>
            <a:ext cx="4669536" cy="1828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r>
              <a:rPr lang="en-US" dirty="0">
                <a:solidFill>
                  <a:srgbClr val="1E293B"/>
                </a:solidFill>
              </a:rPr>
              <a:t>即時查看各日期人力配置，避免人員空缺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974080" y="4023360"/>
            <a:ext cx="5547360" cy="1950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21" name="Shape 19"/>
          <p:cNvSpPr/>
          <p:nvPr/>
        </p:nvSpPr>
        <p:spPr>
          <a:xfrm>
            <a:off x="5974080" y="4023360"/>
            <a:ext cx="73152" cy="195072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22" name="Text 20"/>
          <p:cNvSpPr/>
          <p:nvPr/>
        </p:nvSpPr>
        <p:spPr>
          <a:xfrm>
            <a:off x="6120384" y="4169664"/>
            <a:ext cx="463296" cy="463296"/>
          </a:xfrm>
          <a:prstGeom prst="rect">
            <a:avLst/>
          </a:prstGeom>
          <a:solidFill>
            <a:srgbClr val="1B3A5C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4</a:t>
            </a:r>
            <a:endParaRPr lang="en-US" sz="1733" dirty="0"/>
          </a:p>
        </p:txBody>
      </p:sp>
      <p:sp>
        <p:nvSpPr>
          <p:cNvPr id="23" name="Text 21"/>
          <p:cNvSpPr/>
          <p:nvPr/>
        </p:nvSpPr>
        <p:spPr>
          <a:xfrm>
            <a:off x="6705600" y="4084320"/>
            <a:ext cx="4669536" cy="1828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r>
              <a:rPr lang="en-US" dirty="0">
                <a:solidFill>
                  <a:srgbClr val="1E293B"/>
                </a:solidFill>
              </a:rPr>
              <a:t>主管可快速調班、補班並紀錄異動原因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182880" y="6522720"/>
            <a:ext cx="12009120" cy="3352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25" name="Text 23"/>
          <p:cNvSpPr/>
          <p:nvPr/>
        </p:nvSpPr>
        <p:spPr>
          <a:xfrm>
            <a:off x="487680" y="6534912"/>
            <a:ext cx="731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</a:rPr>
              <a:t>Portal 功能說明  ·  飯店管理系統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3" name="Shape 1"/>
          <p:cNvSpPr/>
          <p:nvPr/>
        </p:nvSpPr>
        <p:spPr>
          <a:xfrm>
            <a:off x="182880" y="0"/>
            <a:ext cx="12009120" cy="1645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4" name="Shape 2"/>
          <p:cNvSpPr/>
          <p:nvPr/>
        </p:nvSpPr>
        <p:spPr>
          <a:xfrm>
            <a:off x="11338560" y="146304"/>
            <a:ext cx="609600" cy="60960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5" name="Text 3"/>
          <p:cNvSpPr/>
          <p:nvPr/>
        </p:nvSpPr>
        <p:spPr>
          <a:xfrm>
            <a:off x="11338560" y="146304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</a:rPr>
              <a:t>2</a:t>
            </a:r>
            <a:endParaRPr lang="en-US" sz="1867" dirty="0"/>
          </a:p>
        </p:txBody>
      </p:sp>
      <p:sp>
        <p:nvSpPr>
          <p:cNvPr id="6" name="Text 4"/>
          <p:cNvSpPr/>
          <p:nvPr/>
        </p:nvSpPr>
        <p:spPr>
          <a:xfrm>
            <a:off x="487680" y="146304"/>
            <a:ext cx="91440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FFFFFF"/>
                </a:solidFill>
              </a:rPr>
              <a:t>行事曆</a:t>
            </a:r>
            <a:endParaRPr lang="en-US" sz="3733" dirty="0"/>
          </a:p>
        </p:txBody>
      </p:sp>
      <p:sp>
        <p:nvSpPr>
          <p:cNvPr id="7" name="Text 5"/>
          <p:cNvSpPr/>
          <p:nvPr/>
        </p:nvSpPr>
        <p:spPr>
          <a:xfrm>
            <a:off x="487680" y="950976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CADCFC"/>
                </a:solidFill>
              </a:rPr>
              <a:t>Calendar</a:t>
            </a:r>
            <a:endParaRPr lang="en-US" sz="1733" dirty="0"/>
          </a:p>
        </p:txBody>
      </p:sp>
      <p:sp>
        <p:nvSpPr>
          <p:cNvPr id="8" name="Shape 6"/>
          <p:cNvSpPr/>
          <p:nvPr/>
        </p:nvSpPr>
        <p:spPr>
          <a:xfrm>
            <a:off x="304800" y="1889760"/>
            <a:ext cx="5547360" cy="1950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9" name="Shape 7"/>
          <p:cNvSpPr/>
          <p:nvPr/>
        </p:nvSpPr>
        <p:spPr>
          <a:xfrm>
            <a:off x="304800" y="1889760"/>
            <a:ext cx="73152" cy="195072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10" name="Text 8"/>
          <p:cNvSpPr/>
          <p:nvPr/>
        </p:nvSpPr>
        <p:spPr>
          <a:xfrm>
            <a:off x="451104" y="2036064"/>
            <a:ext cx="463296" cy="463296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1</a:t>
            </a:r>
            <a:endParaRPr lang="en-US" sz="1733" dirty="0"/>
          </a:p>
        </p:txBody>
      </p:sp>
      <p:sp>
        <p:nvSpPr>
          <p:cNvPr id="11" name="Text 9"/>
          <p:cNvSpPr/>
          <p:nvPr/>
        </p:nvSpPr>
        <p:spPr>
          <a:xfrm>
            <a:off x="1036320" y="1950720"/>
            <a:ext cx="4669536" cy="1828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r>
              <a:rPr lang="en-US" dirty="0">
                <a:solidFill>
                  <a:srgbClr val="1E293B"/>
                </a:solidFill>
              </a:rPr>
              <a:t>以月、週、日三種視角瀏覽所有排程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974080" y="1889760"/>
            <a:ext cx="5547360" cy="1950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13" name="Shape 11"/>
          <p:cNvSpPr/>
          <p:nvPr/>
        </p:nvSpPr>
        <p:spPr>
          <a:xfrm>
            <a:off x="5974080" y="1889760"/>
            <a:ext cx="73152" cy="195072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14" name="Text 12"/>
          <p:cNvSpPr/>
          <p:nvPr/>
        </p:nvSpPr>
        <p:spPr>
          <a:xfrm>
            <a:off x="6120384" y="2036064"/>
            <a:ext cx="463296" cy="463296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2</a:t>
            </a:r>
            <a:endParaRPr lang="en-US" sz="1733" dirty="0"/>
          </a:p>
        </p:txBody>
      </p:sp>
      <p:sp>
        <p:nvSpPr>
          <p:cNvPr id="15" name="Text 13"/>
          <p:cNvSpPr/>
          <p:nvPr/>
        </p:nvSpPr>
        <p:spPr>
          <a:xfrm>
            <a:off x="6705600" y="1950720"/>
            <a:ext cx="4669536" cy="1828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r>
              <a:rPr lang="en-US" dirty="0">
                <a:solidFill>
                  <a:srgbClr val="1E293B"/>
                </a:solidFill>
              </a:rPr>
              <a:t>整合工作任務、交辦事項、維修保養資料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04800" y="4023360"/>
            <a:ext cx="5547360" cy="1950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17" name="Shape 15"/>
          <p:cNvSpPr/>
          <p:nvPr/>
        </p:nvSpPr>
        <p:spPr>
          <a:xfrm>
            <a:off x="304800" y="4023360"/>
            <a:ext cx="73152" cy="195072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18" name="Text 16"/>
          <p:cNvSpPr/>
          <p:nvPr/>
        </p:nvSpPr>
        <p:spPr>
          <a:xfrm>
            <a:off x="451104" y="4169664"/>
            <a:ext cx="463296" cy="463296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3</a:t>
            </a:r>
            <a:endParaRPr lang="en-US" sz="1733" dirty="0"/>
          </a:p>
        </p:txBody>
      </p:sp>
      <p:sp>
        <p:nvSpPr>
          <p:cNvPr id="19" name="Text 17"/>
          <p:cNvSpPr/>
          <p:nvPr/>
        </p:nvSpPr>
        <p:spPr>
          <a:xfrm>
            <a:off x="1036320" y="4084320"/>
            <a:ext cx="4669536" cy="1828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r>
              <a:rPr lang="en-US" dirty="0">
                <a:solidFill>
                  <a:srgbClr val="1E293B"/>
                </a:solidFill>
              </a:rPr>
              <a:t>點擊日期即可新增事件或查看當日明細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974080" y="4023360"/>
            <a:ext cx="5547360" cy="1950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21" name="Shape 19"/>
          <p:cNvSpPr/>
          <p:nvPr/>
        </p:nvSpPr>
        <p:spPr>
          <a:xfrm>
            <a:off x="5974080" y="4023360"/>
            <a:ext cx="73152" cy="195072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22" name="Text 20"/>
          <p:cNvSpPr/>
          <p:nvPr/>
        </p:nvSpPr>
        <p:spPr>
          <a:xfrm>
            <a:off x="6120384" y="4169664"/>
            <a:ext cx="463296" cy="463296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4</a:t>
            </a:r>
            <a:endParaRPr lang="en-US" sz="1733" dirty="0"/>
          </a:p>
        </p:txBody>
      </p:sp>
      <p:sp>
        <p:nvSpPr>
          <p:cNvPr id="23" name="Text 21"/>
          <p:cNvSpPr/>
          <p:nvPr/>
        </p:nvSpPr>
        <p:spPr>
          <a:xfrm>
            <a:off x="6705600" y="4084320"/>
            <a:ext cx="4669536" cy="1828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r>
              <a:rPr lang="en-US" dirty="0">
                <a:solidFill>
                  <a:srgbClr val="1E293B"/>
                </a:solidFill>
              </a:rPr>
              <a:t>跨部門事件共享，統一掌握全館動態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182880" y="6522720"/>
            <a:ext cx="12009120" cy="3352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25" name="Text 23"/>
          <p:cNvSpPr/>
          <p:nvPr/>
        </p:nvSpPr>
        <p:spPr>
          <a:xfrm>
            <a:off x="487680" y="6534912"/>
            <a:ext cx="731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</a:rPr>
              <a:t>Portal 功能說明  ·  飯店管理系統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3" name="Shape 1"/>
          <p:cNvSpPr/>
          <p:nvPr/>
        </p:nvSpPr>
        <p:spPr>
          <a:xfrm>
            <a:off x="182880" y="0"/>
            <a:ext cx="12009120" cy="1645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4" name="Shape 2"/>
          <p:cNvSpPr/>
          <p:nvPr/>
        </p:nvSpPr>
        <p:spPr>
          <a:xfrm>
            <a:off x="11338560" y="146304"/>
            <a:ext cx="609600" cy="60960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5" name="Text 3"/>
          <p:cNvSpPr/>
          <p:nvPr/>
        </p:nvSpPr>
        <p:spPr>
          <a:xfrm>
            <a:off x="11338560" y="146304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</a:rPr>
              <a:t>3</a:t>
            </a:r>
            <a:endParaRPr lang="en-US" sz="1867" dirty="0"/>
          </a:p>
        </p:txBody>
      </p:sp>
      <p:sp>
        <p:nvSpPr>
          <p:cNvPr id="6" name="Text 4"/>
          <p:cNvSpPr/>
          <p:nvPr/>
        </p:nvSpPr>
        <p:spPr>
          <a:xfrm>
            <a:off x="487680" y="146304"/>
            <a:ext cx="91440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FFFFFF"/>
                </a:solidFill>
              </a:rPr>
              <a:t>工作日誌生成與 Excel 匯出</a:t>
            </a:r>
            <a:endParaRPr lang="en-US" sz="3733" dirty="0"/>
          </a:p>
        </p:txBody>
      </p:sp>
      <p:sp>
        <p:nvSpPr>
          <p:cNvPr id="7" name="Text 5"/>
          <p:cNvSpPr/>
          <p:nvPr/>
        </p:nvSpPr>
        <p:spPr>
          <a:xfrm>
            <a:off x="487680" y="950976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CADCFC"/>
                </a:solidFill>
              </a:rPr>
              <a:t>Work Journal &amp; Excel Export</a:t>
            </a:r>
            <a:endParaRPr lang="en-US" sz="1733" dirty="0"/>
          </a:p>
        </p:txBody>
      </p:sp>
      <p:sp>
        <p:nvSpPr>
          <p:cNvPr id="8" name="Shape 6"/>
          <p:cNvSpPr/>
          <p:nvPr/>
        </p:nvSpPr>
        <p:spPr>
          <a:xfrm>
            <a:off x="304800" y="1889760"/>
            <a:ext cx="5547360" cy="1950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9" name="Shape 7"/>
          <p:cNvSpPr/>
          <p:nvPr/>
        </p:nvSpPr>
        <p:spPr>
          <a:xfrm>
            <a:off x="304800" y="1889760"/>
            <a:ext cx="73152" cy="195072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10" name="Text 8"/>
          <p:cNvSpPr/>
          <p:nvPr/>
        </p:nvSpPr>
        <p:spPr>
          <a:xfrm>
            <a:off x="451104" y="2036064"/>
            <a:ext cx="463296" cy="463296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1</a:t>
            </a:r>
            <a:endParaRPr lang="en-US" sz="1733" dirty="0"/>
          </a:p>
        </p:txBody>
      </p:sp>
      <p:sp>
        <p:nvSpPr>
          <p:cNvPr id="11" name="Text 9"/>
          <p:cNvSpPr/>
          <p:nvPr/>
        </p:nvSpPr>
        <p:spPr>
          <a:xfrm>
            <a:off x="1036320" y="1950720"/>
            <a:ext cx="4669536" cy="1828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r>
              <a:rPr lang="en-US" dirty="0">
                <a:solidFill>
                  <a:srgbClr val="1E293B"/>
                </a:solidFill>
              </a:rPr>
              <a:t>自動彙整每日工作記錄，生成結構化日誌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974080" y="1889760"/>
            <a:ext cx="5547360" cy="1950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13" name="Shape 11"/>
          <p:cNvSpPr/>
          <p:nvPr/>
        </p:nvSpPr>
        <p:spPr>
          <a:xfrm>
            <a:off x="5974080" y="1889760"/>
            <a:ext cx="73152" cy="195072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14" name="Text 12"/>
          <p:cNvSpPr/>
          <p:nvPr/>
        </p:nvSpPr>
        <p:spPr>
          <a:xfrm>
            <a:off x="6120384" y="2036064"/>
            <a:ext cx="463296" cy="463296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2</a:t>
            </a:r>
            <a:endParaRPr lang="en-US" sz="1733" dirty="0"/>
          </a:p>
        </p:txBody>
      </p:sp>
      <p:sp>
        <p:nvSpPr>
          <p:cNvPr id="15" name="Text 13"/>
          <p:cNvSpPr/>
          <p:nvPr/>
        </p:nvSpPr>
        <p:spPr>
          <a:xfrm>
            <a:off x="6705600" y="1950720"/>
            <a:ext cx="4669536" cy="1828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r>
              <a:rPr lang="en-US" dirty="0">
                <a:solidFill>
                  <a:srgbClr val="1E293B"/>
                </a:solidFill>
              </a:rPr>
              <a:t>支援依日期、部門、人員篩選所需資料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04800" y="4023360"/>
            <a:ext cx="5547360" cy="1950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17" name="Shape 15"/>
          <p:cNvSpPr/>
          <p:nvPr/>
        </p:nvSpPr>
        <p:spPr>
          <a:xfrm>
            <a:off x="304800" y="4023360"/>
            <a:ext cx="73152" cy="195072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18" name="Text 16"/>
          <p:cNvSpPr/>
          <p:nvPr/>
        </p:nvSpPr>
        <p:spPr>
          <a:xfrm>
            <a:off x="451104" y="4169664"/>
            <a:ext cx="463296" cy="463296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3</a:t>
            </a:r>
            <a:endParaRPr lang="en-US" sz="1733" dirty="0"/>
          </a:p>
        </p:txBody>
      </p:sp>
      <p:sp>
        <p:nvSpPr>
          <p:cNvPr id="19" name="Text 17"/>
          <p:cNvSpPr/>
          <p:nvPr/>
        </p:nvSpPr>
        <p:spPr>
          <a:xfrm>
            <a:off x="1036320" y="4084320"/>
            <a:ext cx="4669536" cy="1828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r>
              <a:rPr lang="en-US" dirty="0">
                <a:solidFill>
                  <a:srgbClr val="1E293B"/>
                </a:solidFill>
              </a:rPr>
              <a:t>一鍵匯出 Excel，可直接開啟或存檔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974080" y="4023360"/>
            <a:ext cx="5547360" cy="1950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21" name="Shape 19"/>
          <p:cNvSpPr/>
          <p:nvPr/>
        </p:nvSpPr>
        <p:spPr>
          <a:xfrm>
            <a:off x="5974080" y="4023360"/>
            <a:ext cx="73152" cy="195072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22" name="Text 20"/>
          <p:cNvSpPr/>
          <p:nvPr/>
        </p:nvSpPr>
        <p:spPr>
          <a:xfrm>
            <a:off x="6120384" y="4169664"/>
            <a:ext cx="463296" cy="463296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4</a:t>
            </a:r>
            <a:endParaRPr lang="en-US" sz="1733" dirty="0"/>
          </a:p>
        </p:txBody>
      </p:sp>
      <p:sp>
        <p:nvSpPr>
          <p:cNvPr id="23" name="Text 21"/>
          <p:cNvSpPr/>
          <p:nvPr/>
        </p:nvSpPr>
        <p:spPr>
          <a:xfrm>
            <a:off x="6705600" y="4084320"/>
            <a:ext cx="4669536" cy="1828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r>
              <a:rPr lang="en-US" dirty="0">
                <a:solidFill>
                  <a:srgbClr val="1E293B"/>
                </a:solidFill>
              </a:rPr>
              <a:t>欄位對應 Ragic 原始資料，確保數據一致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182880" y="6522720"/>
            <a:ext cx="12009120" cy="3352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25" name="Text 23"/>
          <p:cNvSpPr/>
          <p:nvPr/>
        </p:nvSpPr>
        <p:spPr>
          <a:xfrm>
            <a:off x="487680" y="6534912"/>
            <a:ext cx="731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</a:rPr>
              <a:t>Portal 功能說明  ·  飯店管理系統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3" name="Shape 1"/>
          <p:cNvSpPr/>
          <p:nvPr/>
        </p:nvSpPr>
        <p:spPr>
          <a:xfrm>
            <a:off x="182880" y="0"/>
            <a:ext cx="12009120" cy="16459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4" name="Shape 2"/>
          <p:cNvSpPr/>
          <p:nvPr/>
        </p:nvSpPr>
        <p:spPr>
          <a:xfrm>
            <a:off x="11338560" y="146304"/>
            <a:ext cx="609600" cy="60960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5" name="Text 3"/>
          <p:cNvSpPr/>
          <p:nvPr/>
        </p:nvSpPr>
        <p:spPr>
          <a:xfrm>
            <a:off x="11338560" y="146304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</a:rPr>
              <a:t>4</a:t>
            </a:r>
            <a:endParaRPr lang="en-US" sz="1867" dirty="0"/>
          </a:p>
        </p:txBody>
      </p:sp>
      <p:sp>
        <p:nvSpPr>
          <p:cNvPr id="6" name="Text 4"/>
          <p:cNvSpPr/>
          <p:nvPr/>
        </p:nvSpPr>
        <p:spPr>
          <a:xfrm>
            <a:off x="487680" y="146304"/>
            <a:ext cx="91440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FFFFFF"/>
                </a:solidFill>
              </a:rPr>
              <a:t>飯店／商場數據匯出簡報</a:t>
            </a:r>
            <a:endParaRPr lang="en-US" sz="3733" dirty="0"/>
          </a:p>
        </p:txBody>
      </p:sp>
      <p:sp>
        <p:nvSpPr>
          <p:cNvPr id="7" name="Text 5"/>
          <p:cNvSpPr/>
          <p:nvPr/>
        </p:nvSpPr>
        <p:spPr>
          <a:xfrm>
            <a:off x="487680" y="950976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CADCFC"/>
                </a:solidFill>
              </a:rPr>
              <a:t>Hotel / Mall Data Export Report</a:t>
            </a:r>
            <a:endParaRPr lang="en-US" sz="1733" dirty="0"/>
          </a:p>
        </p:txBody>
      </p:sp>
      <p:sp>
        <p:nvSpPr>
          <p:cNvPr id="8" name="Shape 6"/>
          <p:cNvSpPr/>
          <p:nvPr/>
        </p:nvSpPr>
        <p:spPr>
          <a:xfrm>
            <a:off x="304800" y="1889760"/>
            <a:ext cx="5547360" cy="1950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9" name="Shape 7"/>
          <p:cNvSpPr/>
          <p:nvPr/>
        </p:nvSpPr>
        <p:spPr>
          <a:xfrm>
            <a:off x="304800" y="1889760"/>
            <a:ext cx="73152" cy="195072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10" name="Text 8"/>
          <p:cNvSpPr/>
          <p:nvPr/>
        </p:nvSpPr>
        <p:spPr>
          <a:xfrm>
            <a:off x="451104" y="2036064"/>
            <a:ext cx="463296" cy="463296"/>
          </a:xfrm>
          <a:prstGeom prst="rect">
            <a:avLst/>
          </a:prstGeom>
          <a:solidFill>
            <a:srgbClr val="2C5F2D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1</a:t>
            </a:r>
            <a:endParaRPr lang="en-US" sz="1733" dirty="0"/>
          </a:p>
        </p:txBody>
      </p:sp>
      <p:sp>
        <p:nvSpPr>
          <p:cNvPr id="11" name="Text 9"/>
          <p:cNvSpPr/>
          <p:nvPr/>
        </p:nvSpPr>
        <p:spPr>
          <a:xfrm>
            <a:off x="1036320" y="1950720"/>
            <a:ext cx="4669536" cy="1828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r>
              <a:rPr lang="en-US" dirty="0">
                <a:solidFill>
                  <a:srgbClr val="1E293B"/>
                </a:solidFill>
              </a:rPr>
              <a:t>自動抓取 KPI 數據（客房、設備、人力）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974080" y="1889760"/>
            <a:ext cx="5547360" cy="1950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13" name="Shape 11"/>
          <p:cNvSpPr/>
          <p:nvPr/>
        </p:nvSpPr>
        <p:spPr>
          <a:xfrm>
            <a:off x="5974080" y="1889760"/>
            <a:ext cx="73152" cy="195072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14" name="Text 12"/>
          <p:cNvSpPr/>
          <p:nvPr/>
        </p:nvSpPr>
        <p:spPr>
          <a:xfrm>
            <a:off x="6120384" y="2036064"/>
            <a:ext cx="463296" cy="463296"/>
          </a:xfrm>
          <a:prstGeom prst="rect">
            <a:avLst/>
          </a:prstGeom>
          <a:solidFill>
            <a:srgbClr val="2C5F2D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2</a:t>
            </a:r>
            <a:endParaRPr lang="en-US" sz="1733" dirty="0"/>
          </a:p>
        </p:txBody>
      </p:sp>
      <p:sp>
        <p:nvSpPr>
          <p:cNvPr id="15" name="Text 13"/>
          <p:cNvSpPr/>
          <p:nvPr/>
        </p:nvSpPr>
        <p:spPr>
          <a:xfrm>
            <a:off x="6705600" y="1950720"/>
            <a:ext cx="4669536" cy="1828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r>
              <a:rPr lang="en-US" dirty="0">
                <a:solidFill>
                  <a:srgbClr val="1E293B"/>
                </a:solidFill>
              </a:rPr>
              <a:t>生成視覺化圖表，適合週報、月報使用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04800" y="4023360"/>
            <a:ext cx="5547360" cy="1950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17" name="Shape 15"/>
          <p:cNvSpPr/>
          <p:nvPr/>
        </p:nvSpPr>
        <p:spPr>
          <a:xfrm>
            <a:off x="304800" y="4023360"/>
            <a:ext cx="73152" cy="195072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18" name="Text 16"/>
          <p:cNvSpPr/>
          <p:nvPr/>
        </p:nvSpPr>
        <p:spPr>
          <a:xfrm>
            <a:off x="451104" y="4169664"/>
            <a:ext cx="463296" cy="463296"/>
          </a:xfrm>
          <a:prstGeom prst="rect">
            <a:avLst/>
          </a:prstGeom>
          <a:solidFill>
            <a:srgbClr val="2C5F2D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3</a:t>
            </a:r>
            <a:endParaRPr lang="en-US" sz="1733" dirty="0"/>
          </a:p>
        </p:txBody>
      </p:sp>
      <p:sp>
        <p:nvSpPr>
          <p:cNvPr id="19" name="Text 17"/>
          <p:cNvSpPr/>
          <p:nvPr/>
        </p:nvSpPr>
        <p:spPr>
          <a:xfrm>
            <a:off x="1036320" y="4084320"/>
            <a:ext cx="4669536" cy="1828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r>
              <a:rPr lang="en-US" dirty="0">
                <a:solidFill>
                  <a:srgbClr val="1E293B"/>
                </a:solidFill>
              </a:rPr>
              <a:t>飯店與商場兩種模板，對應不同指標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974080" y="4023360"/>
            <a:ext cx="5547360" cy="1950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21" name="Shape 19"/>
          <p:cNvSpPr/>
          <p:nvPr/>
        </p:nvSpPr>
        <p:spPr>
          <a:xfrm>
            <a:off x="5974080" y="4023360"/>
            <a:ext cx="73152" cy="195072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22" name="Text 20"/>
          <p:cNvSpPr/>
          <p:nvPr/>
        </p:nvSpPr>
        <p:spPr>
          <a:xfrm>
            <a:off x="6120384" y="4169664"/>
            <a:ext cx="463296" cy="463296"/>
          </a:xfrm>
          <a:prstGeom prst="rect">
            <a:avLst/>
          </a:prstGeom>
          <a:solidFill>
            <a:srgbClr val="2C5F2D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4</a:t>
            </a:r>
            <a:endParaRPr lang="en-US" sz="1733" dirty="0"/>
          </a:p>
        </p:txBody>
      </p:sp>
      <p:sp>
        <p:nvSpPr>
          <p:cNvPr id="23" name="Text 21"/>
          <p:cNvSpPr/>
          <p:nvPr/>
        </p:nvSpPr>
        <p:spPr>
          <a:xfrm>
            <a:off x="6705600" y="4084320"/>
            <a:ext cx="4669536" cy="1828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r>
              <a:rPr lang="en-US">
                <a:solidFill>
                  <a:srgbClr val="1E293B"/>
                </a:solidFill>
              </a:rPr>
              <a:t>匯出為 PowerPoint，</a:t>
            </a:r>
            <a:r>
              <a:rPr lang="en-US" dirty="0">
                <a:solidFill>
                  <a:srgbClr val="1E293B"/>
                </a:solidFill>
              </a:rPr>
              <a:t>即可用於簡報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182880" y="6522720"/>
            <a:ext cx="12009120" cy="3352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25" name="Text 23"/>
          <p:cNvSpPr/>
          <p:nvPr/>
        </p:nvSpPr>
        <p:spPr>
          <a:xfrm>
            <a:off x="487680" y="6534912"/>
            <a:ext cx="731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</a:rPr>
              <a:t>Portal 功能說明  ·  飯店管理系統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技術診斷與策略評估　·　PORTAL 專案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一個欄位錯誤</a:t>
            </a:r>
            <a:r>
              <a:rPr lang="en-US" sz="40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，揭示的系統架構</a:t>
            </a:r>
            <a:r>
              <a:rPr lang="zh-TW" altLang="en-US" sz="40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主／子表單邏輯衝突　×　從「一案一人」到「多人協作」的重構抉擇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41248" y="4343400"/>
            <a:ext cx="2926080" cy="0"/>
          </a:xfrm>
          <a:prstGeom prst="line">
            <a:avLst/>
          </a:prstGeom>
          <a:noFill/>
          <a:ln w="1905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822960" y="45262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EC4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彙整自 2026-06-09 工時計算問題討論會議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EC4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目的：請決策層就架構變更方向拍板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症狀  SYMPTOM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起點：一筆「消失」的工時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977640" cy="4297680"/>
          </a:xfrm>
          <a:prstGeom prst="roundRect">
            <a:avLst>
              <a:gd name="adj" fmla="val 1839"/>
            </a:avLst>
          </a:prstGeom>
          <a:solidFill>
            <a:srgbClr val="FDF2F2"/>
          </a:solidFill>
          <a:ln w="12700">
            <a:solidFill>
              <a:srgbClr val="F5C6C6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案例：工程維修單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2.13h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吳友仁未被計入工作日誌的工時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40280" y="457200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0" y="4663440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51206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統計邏輯抓取失敗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00600" y="1828800"/>
            <a:ext cx="681228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9"/>
          <p:cNvSpPr/>
          <p:nvPr/>
        </p:nvSpPr>
        <p:spPr>
          <a:xfrm>
            <a:off x="5029200" y="208483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176272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23560" y="202996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如何發現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623560" y="2395728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下載「吳友仁」的工作日誌，比對使用者手寫紙本後，發現工程維修單的工時完全沒有帶入。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800600" y="3246120"/>
            <a:ext cx="681228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3"/>
          <p:cNvSpPr/>
          <p:nvPr/>
        </p:nvSpPr>
        <p:spPr>
          <a:xfrm>
            <a:off x="5029200" y="350215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3593592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623560" y="344728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其他模組正常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623560" y="3813048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臨時／主管交辦單的工時都有正確進入日誌——因為它們結構單純，人員與工時同在一張表。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4800600" y="4663440"/>
            <a:ext cx="681228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17"/>
          <p:cNvSpPr/>
          <p:nvPr/>
        </p:nvSpPr>
        <p:spPr>
          <a:xfrm>
            <a:off x="5029200" y="491947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5010912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623560" y="486460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問題範圍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5623560" y="5230368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只要是「人員在主表、工時在子表」的單據都會中招，並非單一筆資料的疏漏。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工時計算架構診斷與重構抉擇　·　明日決策會議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8E825CFE-7507-954F-62BD-FA058FB20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10" y="153000"/>
            <a:ext cx="5619915" cy="65520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50A52C27-B188-ACC0-D1D3-FC600A525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613" y="4510238"/>
            <a:ext cx="7802064" cy="216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067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根本原因  ROOT CAUSE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主／子表單的邏輯斷裂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0" cy="2240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09728" cy="224028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主表單 (Master)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記錄</a:t>
            </a:r>
            <a:r>
              <a:rPr lang="en-US" sz="130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「處理</a:t>
            </a:r>
            <a:r>
              <a:rPr lang="zh-TW" altLang="en-US" sz="130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工務</a:t>
            </a:r>
            <a:r>
              <a:rPr lang="en-US" sz="130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</a:t>
            </a:r>
            <a:r>
              <a:rPr lang="en-US" sz="13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人員（單選）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完工時間、待修天數、待辦頁狀態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用於結案與件數判斷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0" y="1783080"/>
            <a:ext cx="5029200" cy="2240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6583680" y="1783080"/>
            <a:ext cx="109728" cy="2240280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690372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子表單 (Detail)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49440" y="246888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記錄實際「開始／結束時間」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系統自動計算維護工時（項次 1234…）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工時真正發生的地方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15000" y="2606040"/>
            <a:ext cx="777240" cy="594360"/>
          </a:xfrm>
          <a:prstGeom prst="ellipse">
            <a:avLst/>
          </a:prstGeom>
          <a:solidFill>
            <a:srgbClr val="FDF2F2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5715000" y="26060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4297680"/>
            <a:ext cx="11064240" cy="1783080"/>
          </a:xfrm>
          <a:prstGeom prst="roundRect">
            <a:avLst>
              <a:gd name="adj" fmla="val 3590"/>
            </a:avLst>
          </a:prstGeom>
          <a:solidFill>
            <a:srgbClr val="1B3A5C"/>
          </a:solidFill>
          <a:ln/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868680" y="461772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709160"/>
            <a:ext cx="237744" cy="23774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1732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機制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417320" y="498348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現行工時統計程式只抓「主表單的人員」，工時數據卻在「子表單</a:t>
            </a:r>
            <a:r>
              <a:rPr lang="en-US" sz="150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」，兩者無欄位可對應—</a:t>
            </a: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子表單的工時無法歸屬給人員，於是被靜默丟棄。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工時計算架構診斷與重構抉擇　·　明日決策會議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新需求  NEW REALITY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更棘手的是：使用者拋出了新需求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22960" y="19933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舊有假設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一案一人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一個維修案子</a:t>
            </a:r>
            <a:r>
              <a:rPr lang="en-US" sz="125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，由一名</a:t>
            </a:r>
            <a:r>
              <a:rPr lang="zh-TW" altLang="en-US" sz="125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工務</a:t>
            </a:r>
            <a:r>
              <a:rPr lang="en-US" sz="125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人員負責</a:t>
            </a:r>
            <a:r>
              <a:rPr lang="en-US" sz="125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，人員記在主表單即可。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394960" cy="1828800"/>
          </a:xfrm>
          <a:prstGeom prst="roundRect">
            <a:avLst>
              <a:gd name="adj" fmla="val 3500"/>
            </a:avLst>
          </a:prstGeom>
          <a:solidFill>
            <a:srgbClr val="F4F9FE"/>
          </a:solidFill>
          <a:ln w="15240">
            <a:solidFill>
              <a:srgbClr val="4BA8E8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6492240" y="19933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新現實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23317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多人協作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92240" y="29260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同一間房間可能 </a:t>
            </a:r>
            <a:r>
              <a:rPr lang="en-US" sz="125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2–3 名</a:t>
            </a:r>
            <a:r>
              <a:rPr lang="zh-TW" altLang="en-US" sz="125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工務</a:t>
            </a:r>
            <a:r>
              <a:rPr lang="en-US" sz="125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同時施工</a:t>
            </a:r>
            <a:r>
              <a:rPr lang="en-US" sz="125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，每人工時都須獨立記錄。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870448" y="2331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48640" y="3886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此需求的直接衝擊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356616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804672" y="457200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4663440"/>
            <a:ext cx="237744" cy="23774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04672" y="5074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主表</a:t>
            </a:r>
            <a:r>
              <a:rPr lang="en-US" sz="1350" b="1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「處理</a:t>
            </a:r>
            <a:r>
              <a:rPr lang="zh-TW" altLang="en-US" sz="1350" b="1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工務</a:t>
            </a:r>
            <a:r>
              <a:rPr lang="en-US" sz="1350" b="1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</a:t>
            </a:r>
            <a:r>
              <a:rPr lang="en-US" sz="135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失準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04672" y="559612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僅能單選，三人協作只記得到一人，另兩人工時憑空消失。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251960" y="4343400"/>
            <a:ext cx="356616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7"/>
          <p:cNvSpPr/>
          <p:nvPr/>
        </p:nvSpPr>
        <p:spPr>
          <a:xfrm>
            <a:off x="4507992" y="457200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4663440"/>
            <a:ext cx="237744" cy="23774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507992" y="5074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人員須移至子表並改多選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4507992" y="559612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每個項次各記由誰執行，才能對上實際施工狀況。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7955280" y="4343400"/>
            <a:ext cx="356616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1"/>
          <p:cNvSpPr/>
          <p:nvPr/>
        </p:nvSpPr>
        <p:spPr>
          <a:xfrm>
            <a:off x="8211312" y="457200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2" y="4663440"/>
            <a:ext cx="237744" cy="23774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211312" y="5074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工時邏輯被迫重寫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8211312" y="559612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從「抓主表」改為「遍歷子表、按人分別匯總」。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工時計算架構診斷與重構抉擇　·　明日決策會議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  KEY INSIGHT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三個指標，活在不同層級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這是整份簡報最重要的一張：別把它們混為一談。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66160" cy="397764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566160" cy="146304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868680" y="237744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468880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2926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工時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868680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Detail 子表單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86968" y="3977640"/>
            <a:ext cx="28346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9"/>
          <p:cNvSpPr/>
          <p:nvPr/>
        </p:nvSpPr>
        <p:spPr>
          <a:xfrm>
            <a:off x="868680" y="41148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由開始／結束時間計算，按人匯總。應以子表單為唯一來源。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251960" y="1965960"/>
            <a:ext cx="3566160" cy="397764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1"/>
          <p:cNvSpPr/>
          <p:nvPr/>
        </p:nvSpPr>
        <p:spPr>
          <a:xfrm>
            <a:off x="4251960" y="1965960"/>
            <a:ext cx="3566160" cy="146304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2"/>
          <p:cNvSpPr/>
          <p:nvPr/>
        </p:nvSpPr>
        <p:spPr>
          <a:xfrm>
            <a:off x="4572000" y="237744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468880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72000" y="2926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件數 / 結案</a:t>
            </a:r>
            <a:endParaRPr lang="en-US" sz="2300" dirty="0"/>
          </a:p>
        </p:txBody>
      </p:sp>
      <p:sp>
        <p:nvSpPr>
          <p:cNvPr id="18" name="Text 14"/>
          <p:cNvSpPr/>
          <p:nvPr/>
        </p:nvSpPr>
        <p:spPr>
          <a:xfrm>
            <a:off x="4572000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Master 主表單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590288" y="3977640"/>
            <a:ext cx="28346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6"/>
          <p:cNvSpPr/>
          <p:nvPr/>
        </p:nvSpPr>
        <p:spPr>
          <a:xfrm>
            <a:off x="4572000" y="41148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完工時間、待修天數、結案日期都綁在主表，是案件層級的概念。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7955280" y="1965960"/>
            <a:ext cx="3566160" cy="397764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18"/>
          <p:cNvSpPr/>
          <p:nvPr/>
        </p:nvSpPr>
        <p:spPr>
          <a:xfrm>
            <a:off x="7955280" y="1965960"/>
            <a:ext cx="3566160" cy="146304"/>
          </a:xfrm>
          <a:prstGeom prst="rect">
            <a:avLst/>
          </a:prstGeom>
          <a:solidFill>
            <a:srgbClr val="C77D1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19"/>
          <p:cNvSpPr/>
          <p:nvPr/>
        </p:nvSpPr>
        <p:spPr>
          <a:xfrm>
            <a:off x="8275320" y="237744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C77D11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2468880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275320" y="2926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C77D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待辦頁狀態</a:t>
            </a:r>
            <a:endParaRPr lang="en-US" sz="2300" dirty="0"/>
          </a:p>
        </p:txBody>
      </p:sp>
      <p:sp>
        <p:nvSpPr>
          <p:cNvPr id="26" name="Text 21"/>
          <p:cNvSpPr/>
          <p:nvPr/>
        </p:nvSpPr>
        <p:spPr>
          <a:xfrm>
            <a:off x="8275320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Master 主表單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8293608" y="3977640"/>
            <a:ext cx="28346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3"/>
          <p:cNvSpPr/>
          <p:nvPr/>
        </p:nvSpPr>
        <p:spPr>
          <a:xfrm>
            <a:off x="8275320" y="41148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子表單沒有待辦／結案狀態欄位，硬搬到子表會直接失效。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工時計算架構診斷與重構抉擇　·　明日決策會議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衝突盤點  CONFLICTS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與現有系統設計的四項牴觸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22960" y="2039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120640" y="207568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216712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0574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「一案一人」是隱含的資料模型前提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2862072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改人員位置等於推翻同步模組「以什麼為單位 loop」的核心，不是改一個欄位而已。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78308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8"/>
          <p:cNvSpPr/>
          <p:nvPr/>
        </p:nvSpPr>
        <p:spPr>
          <a:xfrm>
            <a:off x="6446520" y="2039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10744200" y="207568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2167128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40880" y="20574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全搬到子表會撞上結案邏輯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446520" y="2862072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子表沒有待辦／結案欄位。待辦頁與結案統計都綁在主表，無法整個下移。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397764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3"/>
          <p:cNvSpPr/>
          <p:nvPr/>
        </p:nvSpPr>
        <p:spPr>
          <a:xfrm>
            <a:off x="822960" y="4233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Shape 14"/>
          <p:cNvSpPr/>
          <p:nvPr/>
        </p:nvSpPr>
        <p:spPr>
          <a:xfrm>
            <a:off x="5120640" y="427024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4361688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42519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件數定義會動到受保護的 Dashboard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22960" y="5056632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KPI 卡片與工作狀態色彩屬受保護元素</a:t>
            </a:r>
            <a:r>
              <a:rPr lang="en-US" sz="125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，件數語意一改就需</a:t>
            </a:r>
            <a:r>
              <a:rPr lang="zh-TW" altLang="en-US" sz="125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</a:t>
            </a:r>
            <a:r>
              <a:rPr lang="en-US" sz="125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授權</a:t>
            </a:r>
            <a:r>
              <a:rPr lang="en-US" sz="125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172200" y="397764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Text 18"/>
          <p:cNvSpPr/>
          <p:nvPr/>
        </p:nvSpPr>
        <p:spPr>
          <a:xfrm>
            <a:off x="6446520" y="4233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000" dirty="0"/>
          </a:p>
        </p:txBody>
      </p:sp>
      <p:sp>
        <p:nvSpPr>
          <p:cNvPr id="24" name="Shape 19"/>
          <p:cNvSpPr/>
          <p:nvPr/>
        </p:nvSpPr>
        <p:spPr>
          <a:xfrm>
            <a:off x="10744200" y="427024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35640" y="4361688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040880" y="42519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這是跨模組的模式問題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6446520" y="5056632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</a:t>
            </a:r>
            <a:r>
              <a:rPr lang="en-US" sz="125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如法炮製」—</a:t>
            </a:r>
            <a:r>
              <a:rPr lang="en-US" sz="125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所有人員在主表的 Master/Detail 模組都有同樣斷裂，影響面要先盤點。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工時計算架構診斷與重構抉擇　·　明日決策會議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  RISKS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可能發生的問題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91440" cy="19659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822960" y="203911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30552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02082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重複計算工時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26517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主表人員保留＋子表又加人員，兩邊都抓會 double。工時須定義唯一來源＝子表。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4251960" y="1783080"/>
            <a:ext cx="35661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8"/>
          <p:cNvSpPr/>
          <p:nvPr/>
        </p:nvSpPr>
        <p:spPr>
          <a:xfrm>
            <a:off x="4251960" y="1783080"/>
            <a:ext cx="91440" cy="19659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9"/>
          <p:cNvSpPr/>
          <p:nvPr/>
        </p:nvSpPr>
        <p:spPr>
          <a:xfrm>
            <a:off x="4526280" y="203911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130552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74920" y="202082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歷史資料無法回溯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26280" y="26517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舊單人員只在主表。改抓子表後舊資料對不到人，須決定回填或設切換日。</a:t>
            </a:r>
            <a:endParaRPr lang="en-US" sz="1180" dirty="0"/>
          </a:p>
        </p:txBody>
      </p:sp>
      <p:sp>
        <p:nvSpPr>
          <p:cNvPr id="16" name="Shape 12"/>
          <p:cNvSpPr/>
          <p:nvPr/>
        </p:nvSpPr>
        <p:spPr>
          <a:xfrm>
            <a:off x="7955280" y="1783080"/>
            <a:ext cx="35661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3"/>
          <p:cNvSpPr/>
          <p:nvPr/>
        </p:nvSpPr>
        <p:spPr>
          <a:xfrm>
            <a:off x="7955280" y="1783080"/>
            <a:ext cx="91440" cy="19659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4"/>
          <p:cNvSpPr/>
          <p:nvPr/>
        </p:nvSpPr>
        <p:spPr>
          <a:xfrm>
            <a:off x="8229600" y="203911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2130552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778240" y="202082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Ragic 端可能算不動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8229600" y="26517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按人匯總子表 Ragic 公式恐做不到，複雜度全轉嫁 Portal，同步時間與列數放大。</a:t>
            </a:r>
            <a:endParaRPr lang="en-US" sz="1180" dirty="0"/>
          </a:p>
        </p:txBody>
      </p:sp>
      <p:sp>
        <p:nvSpPr>
          <p:cNvPr id="22" name="Shape 17"/>
          <p:cNvSpPr/>
          <p:nvPr/>
        </p:nvSpPr>
        <p:spPr>
          <a:xfrm>
            <a:off x="548640" y="3931920"/>
            <a:ext cx="35661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18"/>
          <p:cNvSpPr/>
          <p:nvPr/>
        </p:nvSpPr>
        <p:spPr>
          <a:xfrm>
            <a:off x="548640" y="3931920"/>
            <a:ext cx="91440" cy="19659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19"/>
          <p:cNvSpPr/>
          <p:nvPr/>
        </p:nvSpPr>
        <p:spPr>
          <a:xfrm>
            <a:off x="822960" y="418795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279392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71600" y="416966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工時加倍 vs 耗時加倍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822960" y="48006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兩人同時段：人力工時該加倍，但案件實際耗時不該加倍，兩者不可混算。</a:t>
            </a:r>
            <a:endParaRPr lang="en-US" sz="1180" dirty="0"/>
          </a:p>
        </p:txBody>
      </p:sp>
      <p:sp>
        <p:nvSpPr>
          <p:cNvPr id="28" name="Shape 22"/>
          <p:cNvSpPr/>
          <p:nvPr/>
        </p:nvSpPr>
        <p:spPr>
          <a:xfrm>
            <a:off x="4251960" y="3931920"/>
            <a:ext cx="35661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3"/>
          <p:cNvSpPr/>
          <p:nvPr/>
        </p:nvSpPr>
        <p:spPr>
          <a:xfrm>
            <a:off x="4251960" y="3931920"/>
            <a:ext cx="91440" cy="19659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4"/>
          <p:cNvSpPr/>
          <p:nvPr/>
        </p:nvSpPr>
        <p:spPr>
          <a:xfrm>
            <a:off x="4526280" y="418795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4279392"/>
            <a:ext cx="237744" cy="23774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074920" y="416966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孤兒工時（同類 bug）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4526280" y="48006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子表人員可空白，忘了選人那段工時又被靜默丟棄，須強制驗證或預設值。</a:t>
            </a:r>
            <a:endParaRPr lang="en-US" sz="1180" dirty="0"/>
          </a:p>
        </p:txBody>
      </p:sp>
      <p:sp>
        <p:nvSpPr>
          <p:cNvPr id="34" name="Shape 27"/>
          <p:cNvSpPr/>
          <p:nvPr/>
        </p:nvSpPr>
        <p:spPr>
          <a:xfrm>
            <a:off x="7955280" y="3931920"/>
            <a:ext cx="35661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28"/>
          <p:cNvSpPr/>
          <p:nvPr/>
        </p:nvSpPr>
        <p:spPr>
          <a:xfrm>
            <a:off x="7955280" y="3931920"/>
            <a:ext cx="91440" cy="19659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29"/>
          <p:cNvSpPr/>
          <p:nvPr/>
        </p:nvSpPr>
        <p:spPr>
          <a:xfrm>
            <a:off x="8229600" y="418795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1040" y="4279392"/>
            <a:ext cx="237744" cy="23774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778240" y="416966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績效定義之爭無法靠技術解決</a:t>
            </a:r>
            <a:endParaRPr lang="en-US" sz="1350" dirty="0"/>
          </a:p>
        </p:txBody>
      </p:sp>
      <p:sp>
        <p:nvSpPr>
          <p:cNvPr id="39" name="Text 31"/>
          <p:cNvSpPr/>
          <p:nvPr/>
        </p:nvSpPr>
        <p:spPr>
          <a:xfrm>
            <a:off x="8229600" y="48006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使用者要放大件數工時、管理者想從嚴，算出什麼數字都會被質疑。</a:t>
            </a:r>
            <a:endParaRPr lang="en-US" sz="1180" dirty="0"/>
          </a:p>
        </p:txBody>
      </p:sp>
      <p:sp>
        <p:nvSpPr>
          <p:cNvPr id="40" name="Text 3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工時計算架構診斷與重構抉擇　·　明日決策會議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C8C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盲點  BLIND SPOTS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討論中還沒被考慮到的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1325880"/>
          </a:xfrm>
          <a:prstGeom prst="roundRect">
            <a:avLst>
              <a:gd name="adj" fmla="val 4138"/>
            </a:avLst>
          </a:prstGeom>
          <a:solidFill>
            <a:srgbClr val="EAF6EF"/>
          </a:solidFill>
          <a:ln w="15240">
            <a:solidFill>
              <a:srgbClr val="2C8C5A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2C8C5A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03120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9476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C8C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把「修 bug」和「架構重構」拆開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25880" y="238658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2.13h 沒進日誌，就算維持一案一人也是 bug。可先獨立修掉，不必綁在大決策上。</a:t>
            </a:r>
            <a:endParaRPr lang="en-US" sz="1130" dirty="0"/>
          </a:p>
        </p:txBody>
      </p:sp>
      <p:sp>
        <p:nvSpPr>
          <p:cNvPr id="9" name="Shape 6"/>
          <p:cNvSpPr/>
          <p:nvPr/>
        </p:nvSpPr>
        <p:spPr>
          <a:xfrm>
            <a:off x="6172200" y="1783080"/>
            <a:ext cx="5486400" cy="1325880"/>
          </a:xfrm>
          <a:prstGeom prst="roundRect">
            <a:avLst>
              <a:gd name="adj" fmla="val 4138"/>
            </a:avLst>
          </a:prstGeom>
          <a:solidFill>
            <a:srgbClr val="EAF6EF"/>
          </a:solidFill>
          <a:ln w="15240">
            <a:solidFill>
              <a:srgbClr val="2C8C5A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7"/>
          <p:cNvSpPr/>
          <p:nvPr/>
        </p:nvSpPr>
        <p:spPr>
          <a:xfrm>
            <a:off x="6400800" y="201168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2C8C5A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10312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19476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C8C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「全面重構 vs 強制簡化」是假二選一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949440" y="238658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第三條路：工時抓子表、件數結案留主表、子表加多選人員——不重構也不逼簡化。</a:t>
            </a:r>
            <a:endParaRPr lang="en-US" sz="1130" dirty="0"/>
          </a:p>
        </p:txBody>
      </p:sp>
      <p:sp>
        <p:nvSpPr>
          <p:cNvPr id="14" name="Shape 10"/>
          <p:cNvSpPr/>
          <p:nvPr/>
        </p:nvSpPr>
        <p:spPr>
          <a:xfrm>
            <a:off x="548640" y="3246120"/>
            <a:ext cx="54864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1"/>
          <p:cNvSpPr/>
          <p:nvPr/>
        </p:nvSpPr>
        <p:spPr>
          <a:xfrm>
            <a:off x="777240" y="347472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566160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4107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件數別二選一，兩個都報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325880" y="384962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Dashboard 同時呈現「案件數(主表)」與「參與人次／工時(子表)」，透明化擋掉灌水爭議。</a:t>
            </a:r>
            <a:endParaRPr lang="en-US" sz="1130" dirty="0"/>
          </a:p>
        </p:txBody>
      </p:sp>
      <p:sp>
        <p:nvSpPr>
          <p:cNvPr id="19" name="Shape 14"/>
          <p:cNvSpPr/>
          <p:nvPr/>
        </p:nvSpPr>
        <p:spPr>
          <a:xfrm>
            <a:off x="6172200" y="3246120"/>
            <a:ext cx="54864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5"/>
          <p:cNvSpPr/>
          <p:nvPr/>
        </p:nvSpPr>
        <p:spPr>
          <a:xfrm>
            <a:off x="6400800" y="347472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3566160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49440" y="34107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跨報表一致性風險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949440" y="384962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有子表工時者會出現在日誌，但他不是主表負責人——「誰負責」會在報表間不一致。</a:t>
            </a:r>
            <a:endParaRPr lang="en-US" sz="1130" dirty="0"/>
          </a:p>
        </p:txBody>
      </p:sp>
      <p:sp>
        <p:nvSpPr>
          <p:cNvPr id="24" name="Shape 18"/>
          <p:cNvSpPr/>
          <p:nvPr/>
        </p:nvSpPr>
        <p:spPr>
          <a:xfrm>
            <a:off x="548640" y="4709160"/>
            <a:ext cx="54864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19"/>
          <p:cNvSpPr/>
          <p:nvPr/>
        </p:nvSpPr>
        <p:spPr>
          <a:xfrm>
            <a:off x="777240" y="493776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5029200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25880" y="48737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先盤點受影響模組清單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325880" y="531266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決策前列出所有「人員在主表」的 Master/Detail 模組與工時估計，讓決策層看到全貌。</a:t>
            </a:r>
            <a:endParaRPr lang="en-US" sz="1130" dirty="0"/>
          </a:p>
        </p:txBody>
      </p:sp>
      <p:sp>
        <p:nvSpPr>
          <p:cNvPr id="29" name="Shape 22"/>
          <p:cNvSpPr/>
          <p:nvPr/>
        </p:nvSpPr>
        <p:spPr>
          <a:xfrm>
            <a:off x="6172200" y="4709160"/>
            <a:ext cx="54864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3"/>
          <p:cNvSpPr/>
          <p:nvPr/>
        </p:nvSpPr>
        <p:spPr>
          <a:xfrm>
            <a:off x="6400800" y="493776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5029200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49440" y="48737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受保護元素的授權路徑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6949440" y="531266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件數語意、KPI </a:t>
            </a:r>
            <a:r>
              <a:rPr lang="en-US" sz="113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卡片在 </a:t>
            </a:r>
            <a:r>
              <a:rPr lang="zh-TW" altLang="en-US" sz="113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</a:t>
            </a:r>
            <a:r>
              <a:rPr lang="en-US" sz="113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保護清單，須先取得</a:t>
            </a:r>
            <a:r>
              <a:rPr lang="zh-TW" altLang="en-US" sz="113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</a:t>
            </a:r>
            <a:r>
              <a:rPr lang="en-US" sz="113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明確同意再動</a:t>
            </a:r>
            <a:r>
              <a:rPr lang="en-US" sz="113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130" dirty="0"/>
          </a:p>
        </p:txBody>
      </p:sp>
      <p:sp>
        <p:nvSpPr>
          <p:cNvPr id="34" name="Text 26"/>
          <p:cNvSpPr/>
          <p:nvPr/>
        </p:nvSpPr>
        <p:spPr>
          <a:xfrm>
            <a:off x="8595360" y="60899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2C8C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綠框＝建議優先採行的方向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工時計算架構診斷與重構抉擇　·　明日決策會議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77D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核心爭議  THE CORE DEBATE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「1 件」還是「3 件」？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1B3A5C"/>
          </a:solidFill>
          <a:ln/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情境：同一間房、同一個案子</a:t>
            </a:r>
            <a:r>
              <a:rPr lang="en-US" sz="15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，三名</a:t>
            </a:r>
            <a:r>
              <a:rPr lang="zh-TW" altLang="en-US" sz="15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工務</a:t>
            </a:r>
            <a:r>
              <a:rPr lang="en-US" sz="15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同時施工</a:t>
            </a: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，各自記錄工時。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539496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822960" y="309067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C77D11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182112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30632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77D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使用者立場：放大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361188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三人＝三件、工時三份。工作量與忙碌程度被放大，更有理由說「我很忙」。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0" y="2834640"/>
            <a:ext cx="539496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9"/>
          <p:cNvSpPr/>
          <p:nvPr/>
        </p:nvSpPr>
        <p:spPr>
          <a:xfrm>
            <a:off x="6492240" y="309067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182112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40880" y="30632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管理者立場：從嚴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92240" y="361188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該不該三人來看？件數應縮小、工時放小，避免膨脹。需要被檢視的是必要性。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EAF6EF"/>
          </a:solidFill>
          <a:ln w="15240">
            <a:solidFill>
              <a:srgbClr val="2C8C5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3"/>
          <p:cNvSpPr/>
          <p:nvPr/>
        </p:nvSpPr>
        <p:spPr>
          <a:xfrm>
            <a:off x="822960" y="541324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2C8C5A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504688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516636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C8C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解法：這是治理／定義問題，不是技術問題。</a:t>
            </a:r>
            <a:r>
              <a:rPr lang="en-US" sz="13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先由決策層定義「件數」，再寫程式；兩個指標都報，誰都不靠定義「贏」。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工時計算架構診斷與重構抉擇　·　明日決策會議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方案比較  OPTIONS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三個方案的取捨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064504"/>
              </p:ext>
            </p:extLst>
          </p:nvPr>
        </p:nvGraphicFramePr>
        <p:xfrm>
          <a:off x="548640" y="1783080"/>
          <a:ext cx="11064240" cy="35661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1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81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723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比較項目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B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 · 全面重構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 · 強制簡化流程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D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 · 漸進式（推薦）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8C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做法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整套改以子表為核心，重寫件數／結案／待辦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維持現架構，逼使用者拆成一案一人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工時抓子表、件數結案留主表、子表加多選人員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能否多人協作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完整支援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039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✗ 不支援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8C5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工時層級支援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開發成本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039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極高（跨模組大改）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8C5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77D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中（聚焦工時邏輯）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使用者接受度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8C5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039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低（違反真實流程）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8C5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動到受保護元素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039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是（Dashboard 件數）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8C5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否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8C5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件數維持，風險可控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風險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改不完、系統長期混亂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使用者反彈、資料失準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須明確定義件數與切換日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工時計算架構診斷與重構抉擇　·　明日決策會議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C8C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  RECOMMENDATION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建議路線：先止血，再漸進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70048" cy="324612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1517904" y="2194560"/>
            <a:ext cx="731520" cy="731520"/>
          </a:xfrm>
          <a:prstGeom prst="ellipse">
            <a:avLst/>
          </a:prstGeom>
          <a:solidFill>
            <a:srgbClr val="2C8C5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517904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8C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立即止血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修正工時統計：改抓子表工時並歸給人員。獨立於大決策，本週可完成。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90672" y="3200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364992" y="1920240"/>
            <a:ext cx="2670048" cy="324612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334256" y="2194560"/>
            <a:ext cx="731520" cy="73152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334256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547872" y="3108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確立定義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93592" y="36118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由決策層拍板「件數」定義；Dashboard 同時呈現案件數與參與人次。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07024" y="3200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181344" y="1920240"/>
            <a:ext cx="2670048" cy="324612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7150608" y="2194560"/>
            <a:ext cx="731520" cy="731520"/>
          </a:xfrm>
          <a:prstGeom prst="ellipse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7150608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64224" y="3108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漸進擴充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9944" y="36118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子表加多選人員、工時按人匯總；件數與結案維持主表，不動受保護元素。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723376" y="3200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997696" y="1920240"/>
            <a:ext cx="2670048" cy="324612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9966960" y="2194560"/>
            <a:ext cx="731520" cy="731520"/>
          </a:xfrm>
          <a:prstGeom prst="ellipse">
            <a:avLst/>
          </a:prstGeom>
          <a:solidFill>
            <a:srgbClr val="C77D1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996696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180576" y="3108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7D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全模組推廣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26296" y="36118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盤點同型模組，依同一原則逐步套用，避免一次性大改。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44068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EAF6EF"/>
          </a:solidFill>
          <a:ln w="12700">
            <a:solidFill>
              <a:srgbClr val="2C8C5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8C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核心原則：</a:t>
            </a: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工時＝子表唯一來源；件數／結案＝主表；先定義、後開發；分階段、不一次性大改。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工時計算架構診斷與重構抉擇　·　明日決策會議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  ACTION ITEMS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後續行動與分工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2103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Samuel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2468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開發執行與分析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定位工程維修單工時未計入的具體程式邏輯錯誤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撰寫三方案優劣分析，供明日會議討論（明日會議前）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同步 Rich Client，查找 823 窗簾維修、雅詩漏水等案例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783080"/>
            <a:ext cx="544068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6446520" y="2057400"/>
            <a:ext cx="640080" cy="640080"/>
          </a:xfrm>
          <a:prstGeom prst="ellipse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44652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英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23760" y="2103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英仕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223760" y="2468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資料提供與向上回報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306324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轉發使用者手寫工時紙本、</a:t>
            </a:r>
            <a:r>
              <a:rPr lang="zh-TW" altLang="en-US" sz="130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工務</a:t>
            </a:r>
            <a:r>
              <a:rPr lang="en-US" sz="130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資料與 </a:t>
            </a: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Ragic 報修單連結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向總工程師回報：此問題涉及工時計算的根本性變更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於明日會議提出架構變更風險，供決策層深入討論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工時計算架構診斷與重構抉擇　·　明日決策會議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明日會議  ·  請決策層拍板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需要董事長決定的三件事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10515600" cy="1298448"/>
          </a:xfrm>
          <a:prstGeom prst="roundRect">
            <a:avLst>
              <a:gd name="adj" fmla="val 4225"/>
            </a:avLst>
          </a:prstGeom>
          <a:solidFill>
            <a:srgbClr val="24466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1097280" y="240487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496312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350008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「件數」如何定義？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691640" y="2770632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一案三人，算 1 件還是 3 件？這決定績效指標的計算基礎，須先定義才能開發。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3566160"/>
            <a:ext cx="10515600" cy="1298448"/>
          </a:xfrm>
          <a:prstGeom prst="roundRect">
            <a:avLst>
              <a:gd name="adj" fmla="val 4225"/>
            </a:avLst>
          </a:prstGeom>
          <a:solidFill>
            <a:srgbClr val="24466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8"/>
          <p:cNvSpPr/>
          <p:nvPr/>
        </p:nvSpPr>
        <p:spPr>
          <a:xfrm>
            <a:off x="1097280" y="382219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913632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3767328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走哪一條路？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1691640" y="4187952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全面重構 / 強制簡化 / 漸進式（推薦）。建議先止血修 bug，再分階段漸進。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22960" y="4983480"/>
            <a:ext cx="10515600" cy="1298448"/>
          </a:xfrm>
          <a:prstGeom prst="roundRect">
            <a:avLst>
              <a:gd name="adj" fmla="val 4225"/>
            </a:avLst>
          </a:prstGeom>
          <a:solidFill>
            <a:srgbClr val="24466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2"/>
          <p:cNvSpPr/>
          <p:nvPr/>
        </p:nvSpPr>
        <p:spPr>
          <a:xfrm>
            <a:off x="1097280" y="523951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5330952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5184648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是否授權變更受保護元素？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1691640" y="5605272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若調整 Dashboard 件數與 KPI</a:t>
            </a:r>
            <a:r>
              <a:rPr lang="en-US" sz="130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，需</a:t>
            </a:r>
            <a:r>
              <a:rPr lang="zh-TW" altLang="en-US" sz="130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</a:t>
            </a:r>
            <a:r>
              <a:rPr lang="en-US" sz="130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明確同意</a:t>
            </a: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；否則維持現狀件數定義。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946</Words>
  <Application>Microsoft Office PowerPoint</Application>
  <PresentationFormat>寬螢幕</PresentationFormat>
  <Paragraphs>269</Paragraphs>
  <Slides>19</Slides>
  <Notes>18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5" baseType="lpstr">
      <vt:lpstr>Microsoft JhengHei</vt:lpstr>
      <vt:lpstr>Microsoft JhengHei</vt:lpstr>
      <vt:lpstr>Aptos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工時計算錯誤揭示系統架構與使用者流程脫節</dc:title>
  <dc:subject>PptxGenJS Presentation</dc:subject>
  <dc:creator>Samuel</dc:creator>
  <cp:lastModifiedBy>Samuel Huang</cp:lastModifiedBy>
  <cp:revision>1</cp:revision>
  <dcterms:created xsi:type="dcterms:W3CDTF">2026-06-09T03:26:07Z</dcterms:created>
  <dcterms:modified xsi:type="dcterms:W3CDTF">2026-06-10T08:18:35Z</dcterms:modified>
</cp:coreProperties>
</file>