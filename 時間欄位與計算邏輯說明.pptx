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  <a:srgbClr val="A88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CFE28-EC5B-4511-B279-8728C652338A}" v="36" dt="2026-04-23T09:04:19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9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modSld">
      <pc:chgData name="Samuel Huang" userId="3d14d3036a2a384b" providerId="LiveId" clId="{59E6B3E9-767B-4360-86A1-1FE5E3B4620C}" dt="2026-04-23T09:04:19.776" v="210"/>
      <pc:docMkLst>
        <pc:docMk/>
      </pc:docMkLst>
      <pc:sldChg chg="modSp mod">
        <pc:chgData name="Samuel Huang" userId="3d14d3036a2a384b" providerId="LiveId" clId="{59E6B3E9-767B-4360-86A1-1FE5E3B4620C}" dt="2026-04-22T14:03:41.795" v="149" actId="113"/>
        <pc:sldMkLst>
          <pc:docMk/>
          <pc:sldMk cId="0" sldId="256"/>
        </pc:sldMkLst>
        <pc:spChg chg="mod">
          <ac:chgData name="Samuel Huang" userId="3d14d3036a2a384b" providerId="LiveId" clId="{59E6B3E9-767B-4360-86A1-1FE5E3B4620C}" dt="2026-04-22T14:03:41.795" v="149" actId="113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4-23T08:06:29.031" v="197" actId="207"/>
        <pc:sldMkLst>
          <pc:docMk/>
          <pc:sldMk cId="0" sldId="257"/>
        </pc:sldMkLst>
        <pc:spChg chg="mod">
          <ac:chgData name="Samuel Huang" userId="3d14d3036a2a384b" providerId="LiveId" clId="{59E6B3E9-767B-4360-86A1-1FE5E3B4620C}" dt="2026-04-23T08:06:29.031" v="197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muel Huang" userId="3d14d3036a2a384b" providerId="LiveId" clId="{59E6B3E9-767B-4360-86A1-1FE5E3B4620C}" dt="2026-04-23T08:06:09.153" v="18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amuel Huang" userId="3d14d3036a2a384b" providerId="LiveId" clId="{59E6B3E9-767B-4360-86A1-1FE5E3B4620C}" dt="2026-04-23T08:03:42.632" v="165" actId="207"/>
          <ac:spMkLst>
            <pc:docMk/>
            <pc:sldMk cId="0" sldId="257"/>
            <ac:spMk id="22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4-22T14:04:12.831" v="151" actId="113"/>
        <pc:sldMkLst>
          <pc:docMk/>
          <pc:sldMk cId="0" sldId="258"/>
        </pc:sldMkLst>
        <pc:spChg chg="mod">
          <ac:chgData name="Samuel Huang" userId="3d14d3036a2a384b" providerId="LiveId" clId="{59E6B3E9-767B-4360-86A1-1FE5E3B4620C}" dt="2026-04-22T14:04:12.831" v="151" actId="113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4-22T13:52:14.995" v="148" actId="403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4-22T14:04:04.255" v="150" actId="113"/>
        <pc:sldMkLst>
          <pc:docMk/>
          <pc:sldMk cId="0" sldId="259"/>
        </pc:sldMkLst>
        <pc:spChg chg="mod">
          <ac:chgData name="Samuel Huang" userId="3d14d3036a2a384b" providerId="LiveId" clId="{59E6B3E9-767B-4360-86A1-1FE5E3B4620C}" dt="2026-04-22T14:04:04.255" v="150" actId="113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4-22T13:51:46.084" v="145" actId="113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4-22T14:06:10.895" v="163" actId="113"/>
        <pc:sldMkLst>
          <pc:docMk/>
          <pc:sldMk cId="0" sldId="260"/>
        </pc:sldMkLst>
        <pc:spChg chg="mod">
          <ac:chgData name="Samuel Huang" userId="3d14d3036a2a384b" providerId="LiveId" clId="{59E6B3E9-767B-4360-86A1-1FE5E3B4620C}" dt="2026-04-22T14:04:22.608" v="152" actId="113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6:10.895" v="163" actId="113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Samuel Huang" userId="3d14d3036a2a384b" providerId="LiveId" clId="{59E6B3E9-767B-4360-86A1-1FE5E3B4620C}" dt="2026-04-22T14:05:10.929" v="161" actId="14100"/>
        <pc:sldMkLst>
          <pc:docMk/>
          <pc:sldMk cId="0" sldId="261"/>
        </pc:sldMkLst>
        <pc:spChg chg="mod">
          <ac:chgData name="Samuel Huang" userId="3d14d3036a2a384b" providerId="LiveId" clId="{59E6B3E9-767B-4360-86A1-1FE5E3B4620C}" dt="2026-04-22T14:04:44.102" v="153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4:47.724" v="154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4:53.329" v="155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4:56.047" v="156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4:59.322" v="157" actId="14100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5:02.342" v="158" actId="14100"/>
          <ac:spMkLst>
            <pc:docMk/>
            <pc:sldMk cId="0" sldId="261"/>
            <ac:spMk id="33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5:05.046" v="159" actId="14100"/>
          <ac:spMkLst>
            <pc:docMk/>
            <pc:sldMk cId="0" sldId="261"/>
            <ac:spMk id="38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5:07.676" v="160" actId="14100"/>
          <ac:spMkLst>
            <pc:docMk/>
            <pc:sldMk cId="0" sldId="261"/>
            <ac:spMk id="43" creationId="{00000000-0000-0000-0000-000000000000}"/>
          </ac:spMkLst>
        </pc:spChg>
        <pc:spChg chg="mod">
          <ac:chgData name="Samuel Huang" userId="3d14d3036a2a384b" providerId="LiveId" clId="{59E6B3E9-767B-4360-86A1-1FE5E3B4620C}" dt="2026-04-22T14:05:10.929" v="161" actId="14100"/>
          <ac:spMkLst>
            <pc:docMk/>
            <pc:sldMk cId="0" sldId="261"/>
            <ac:spMk id="48" creationId="{00000000-0000-0000-0000-000000000000}"/>
          </ac:spMkLst>
        </pc:spChg>
        <pc:spChg chg="mod">
          <ac:chgData name="Samuel Huang" userId="3d14d3036a2a384b" providerId="LiveId" clId="{59E6B3E9-767B-4360-86A1-1FE5E3B4620C}" dt="2026-04-22T13:49:55.362" v="130" actId="403"/>
          <ac:spMkLst>
            <pc:docMk/>
            <pc:sldMk cId="0" sldId="261"/>
            <ac:spMk id="49" creationId="{00000000-0000-0000-0000-000000000000}"/>
          </ac:spMkLst>
        </pc:spChg>
      </pc:sldChg>
      <pc:sldChg chg="addSp delSp modSp mod">
        <pc:chgData name="Samuel Huang" userId="3d14d3036a2a384b" providerId="LiveId" clId="{59E6B3E9-767B-4360-86A1-1FE5E3B4620C}" dt="2026-04-23T09:04:19.776" v="210"/>
        <pc:sldMkLst>
          <pc:docMk/>
          <pc:sldMk cId="0" sldId="262"/>
        </pc:sldMkLst>
        <pc:spChg chg="mod topLvl">
          <ac:chgData name="Samuel Huang" userId="3d14d3036a2a384b" providerId="LiveId" clId="{59E6B3E9-767B-4360-86A1-1FE5E3B4620C}" dt="2026-04-22T13:50:27.015" v="134" actId="242"/>
          <ac:spMkLst>
            <pc:docMk/>
            <pc:sldMk cId="0" sldId="262"/>
            <ac:spMk id="4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44:50.533" v="99" actId="164"/>
          <ac:spMkLst>
            <pc:docMk/>
            <pc:sldMk cId="0" sldId="262"/>
            <ac:spMk id="5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44:50.533" v="99" actId="164"/>
          <ac:spMkLst>
            <pc:docMk/>
            <pc:sldMk cId="0" sldId="262"/>
            <ac:spMk id="6" creationId="{00000000-0000-0000-0000-000000000000}"/>
          </ac:spMkLst>
        </pc:spChg>
        <pc:spChg chg="del mod topLvl">
          <ac:chgData name="Samuel Huang" userId="3d14d3036a2a384b" providerId="LiveId" clId="{59E6B3E9-767B-4360-86A1-1FE5E3B4620C}" dt="2026-04-22T13:43:38.618" v="75" actId="478"/>
          <ac:spMkLst>
            <pc:docMk/>
            <pc:sldMk cId="0" sldId="262"/>
            <ac:spMk id="7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50:37.249" v="136" actId="242"/>
          <ac:spMkLst>
            <pc:docMk/>
            <pc:sldMk cId="0" sldId="262"/>
            <ac:spMk id="8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44:54.113" v="100" actId="164"/>
          <ac:spMkLst>
            <pc:docMk/>
            <pc:sldMk cId="0" sldId="262"/>
            <ac:spMk id="9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44:54.113" v="100" actId="164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Samuel Huang" userId="3d14d3036a2a384b" providerId="LiveId" clId="{59E6B3E9-767B-4360-86A1-1FE5E3B4620C}" dt="2026-04-22T13:44:20.598" v="88" actId="478"/>
          <ac:spMkLst>
            <pc:docMk/>
            <pc:sldMk cId="0" sldId="262"/>
            <ac:spMk id="11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3T09:04:19.776" v="210"/>
          <ac:spMkLst>
            <pc:docMk/>
            <pc:sldMk cId="0" sldId="262"/>
            <ac:spMk id="12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44:57.553" v="101" actId="164"/>
          <ac:spMkLst>
            <pc:docMk/>
            <pc:sldMk cId="0" sldId="262"/>
            <ac:spMk id="13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3T09:04:02.509" v="208"/>
          <ac:spMkLst>
            <pc:docMk/>
            <pc:sldMk cId="0" sldId="262"/>
            <ac:spMk id="14" creationId="{00000000-0000-0000-0000-000000000000}"/>
          </ac:spMkLst>
        </pc:spChg>
        <pc:spChg chg="del mod">
          <ac:chgData name="Samuel Huang" userId="3d14d3036a2a384b" providerId="LiveId" clId="{59E6B3E9-767B-4360-86A1-1FE5E3B4620C}" dt="2026-04-22T13:45:19.134" v="106" actId="478"/>
          <ac:spMkLst>
            <pc:docMk/>
            <pc:sldMk cId="0" sldId="262"/>
            <ac:spMk id="15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3T09:04:16.402" v="209"/>
          <ac:spMkLst>
            <pc:docMk/>
            <pc:sldMk cId="0" sldId="262"/>
            <ac:spMk id="16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45:05.001" v="104" actId="164"/>
          <ac:spMkLst>
            <pc:docMk/>
            <pc:sldMk cId="0" sldId="262"/>
            <ac:spMk id="17" creationId="{00000000-0000-0000-0000-000000000000}"/>
          </ac:spMkLst>
        </pc:spChg>
        <pc:spChg chg="mod topLvl">
          <ac:chgData name="Samuel Huang" userId="3d14d3036a2a384b" providerId="LiveId" clId="{59E6B3E9-767B-4360-86A1-1FE5E3B4620C}" dt="2026-04-22T13:45:05.001" v="104" actId="164"/>
          <ac:spMkLst>
            <pc:docMk/>
            <pc:sldMk cId="0" sldId="262"/>
            <ac:spMk id="18" creationId="{00000000-0000-0000-0000-000000000000}"/>
          </ac:spMkLst>
        </pc:spChg>
        <pc:spChg chg="del mod">
          <ac:chgData name="Samuel Huang" userId="3d14d3036a2a384b" providerId="LiveId" clId="{59E6B3E9-767B-4360-86A1-1FE5E3B4620C}" dt="2026-04-22T13:44:31.466" v="92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Samuel Huang" userId="3d14d3036a2a384b" providerId="LiveId" clId="{59E6B3E9-767B-4360-86A1-1FE5E3B4620C}" dt="2026-04-22T13:38:55.037" v="4" actId="478"/>
          <ac:spMkLst>
            <pc:docMk/>
            <pc:sldMk cId="0" sldId="262"/>
            <ac:spMk id="20" creationId="{00000000-0000-0000-0000-000000000000}"/>
          </ac:spMkLst>
        </pc:spChg>
        <pc:spChg chg="del mod">
          <ac:chgData name="Samuel Huang" userId="3d14d3036a2a384b" providerId="LiveId" clId="{59E6B3E9-767B-4360-86A1-1FE5E3B4620C}" dt="2026-04-22T13:38:53.717" v="3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Samuel Huang" userId="3d14d3036a2a384b" providerId="LiveId" clId="{59E6B3E9-767B-4360-86A1-1FE5E3B4620C}" dt="2026-04-22T13:39:57.202" v="31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Samuel Huang" userId="3d14d3036a2a384b" providerId="LiveId" clId="{59E6B3E9-767B-4360-86A1-1FE5E3B4620C}" dt="2026-04-22T13:39:56.329" v="30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Samuel Huang" userId="3d14d3036a2a384b" providerId="LiveId" clId="{59E6B3E9-767B-4360-86A1-1FE5E3B4620C}" dt="2026-04-22T13:39:50.309" v="28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Samuel Huang" userId="3d14d3036a2a384b" providerId="LiveId" clId="{59E6B3E9-767B-4360-86A1-1FE5E3B4620C}" dt="2026-04-22T13:39:53.833" v="29" actId="478"/>
          <ac:spMkLst>
            <pc:docMk/>
            <pc:sldMk cId="0" sldId="262"/>
            <ac:spMk id="25" creationId="{00000000-0000-0000-0000-000000000000}"/>
          </ac:spMkLst>
        </pc:spChg>
        <pc:spChg chg="mod">
          <ac:chgData name="Samuel Huang" userId="3d14d3036a2a384b" providerId="LiveId" clId="{59E6B3E9-767B-4360-86A1-1FE5E3B4620C}" dt="2026-04-22T13:51:15.627" v="144" actId="404"/>
          <ac:spMkLst>
            <pc:docMk/>
            <pc:sldMk cId="0" sldId="262"/>
            <ac:spMk id="27" creationId="{00000000-0000-0000-0000-000000000000}"/>
          </ac:spMkLst>
        </pc:spChg>
        <pc:spChg chg="add del">
          <ac:chgData name="Samuel Huang" userId="3d14d3036a2a384b" providerId="LiveId" clId="{59E6B3E9-767B-4360-86A1-1FE5E3B4620C}" dt="2026-04-22T13:42:59.763" v="65" actId="22"/>
          <ac:spMkLst>
            <pc:docMk/>
            <pc:sldMk cId="0" sldId="262"/>
            <ac:spMk id="34" creationId="{1F14E204-4E3F-5BF5-5C5B-E6ED6ECBB555}"/>
          </ac:spMkLst>
        </pc:spChg>
        <pc:spChg chg="add mod">
          <ac:chgData name="Samuel Huang" userId="3d14d3036a2a384b" providerId="LiveId" clId="{59E6B3E9-767B-4360-86A1-1FE5E3B4620C}" dt="2026-04-22T13:45:03.881" v="103"/>
          <ac:spMkLst>
            <pc:docMk/>
            <pc:sldMk cId="0" sldId="262"/>
            <ac:spMk id="38" creationId="{02E36E3D-D86B-65EB-EF38-78264943CA01}"/>
          </ac:spMkLst>
        </pc:spChg>
        <pc:spChg chg="add mod">
          <ac:chgData name="Samuel Huang" userId="3d14d3036a2a384b" providerId="LiveId" clId="{59E6B3E9-767B-4360-86A1-1FE5E3B4620C}" dt="2026-04-22T13:45:03.881" v="103"/>
          <ac:spMkLst>
            <pc:docMk/>
            <pc:sldMk cId="0" sldId="262"/>
            <ac:spMk id="39" creationId="{9A399BD6-0880-2182-08AF-CFCC375836AA}"/>
          </ac:spMkLst>
        </pc:spChg>
        <pc:spChg chg="add mod">
          <ac:chgData name="Samuel Huang" userId="3d14d3036a2a384b" providerId="LiveId" clId="{59E6B3E9-767B-4360-86A1-1FE5E3B4620C}" dt="2026-04-22T13:45:03.881" v="103"/>
          <ac:spMkLst>
            <pc:docMk/>
            <pc:sldMk cId="0" sldId="262"/>
            <ac:spMk id="40" creationId="{82DAA46B-40AF-8703-9A2C-F48FAE39BEB3}"/>
          </ac:spMkLst>
        </pc:spChg>
        <pc:grpChg chg="add del mod topLvl">
          <ac:chgData name="Samuel Huang" userId="3d14d3036a2a384b" providerId="LiveId" clId="{59E6B3E9-767B-4360-86A1-1FE5E3B4620C}" dt="2026-04-22T13:43:44.745" v="78" actId="165"/>
          <ac:grpSpMkLst>
            <pc:docMk/>
            <pc:sldMk cId="0" sldId="262"/>
            <ac:grpSpMk id="28" creationId="{9A5A4A34-8F2A-8B3C-AF51-D641A7710570}"/>
          </ac:grpSpMkLst>
        </pc:grpChg>
        <pc:grpChg chg="add del mod">
          <ac:chgData name="Samuel Huang" userId="3d14d3036a2a384b" providerId="LiveId" clId="{59E6B3E9-767B-4360-86A1-1FE5E3B4620C}" dt="2026-04-22T13:43:09.398" v="66" actId="165"/>
          <ac:grpSpMkLst>
            <pc:docMk/>
            <pc:sldMk cId="0" sldId="262"/>
            <ac:grpSpMk id="29" creationId="{E50B4253-0013-191E-360E-A3F37F1DC561}"/>
          </ac:grpSpMkLst>
        </pc:grpChg>
        <pc:grpChg chg="add del mod">
          <ac:chgData name="Samuel Huang" userId="3d14d3036a2a384b" providerId="LiveId" clId="{59E6B3E9-767B-4360-86A1-1FE5E3B4620C}" dt="2026-04-22T13:44:02.991" v="83" actId="165"/>
          <ac:grpSpMkLst>
            <pc:docMk/>
            <pc:sldMk cId="0" sldId="262"/>
            <ac:grpSpMk id="30" creationId="{D5AE0204-0463-D01E-95C8-753C67E4C92C}"/>
          </ac:grpSpMkLst>
        </pc:grpChg>
        <pc:grpChg chg="add del mod">
          <ac:chgData name="Samuel Huang" userId="3d14d3036a2a384b" providerId="LiveId" clId="{59E6B3E9-767B-4360-86A1-1FE5E3B4620C}" dt="2026-04-22T13:44:37.618" v="95" actId="165"/>
          <ac:grpSpMkLst>
            <pc:docMk/>
            <pc:sldMk cId="0" sldId="262"/>
            <ac:grpSpMk id="31" creationId="{B79C6D26-A2B1-F94C-ED28-3884BB24D319}"/>
          </ac:grpSpMkLst>
        </pc:grpChg>
        <pc:grpChg chg="add del mod">
          <ac:chgData name="Samuel Huang" userId="3d14d3036a2a384b" providerId="LiveId" clId="{59E6B3E9-767B-4360-86A1-1FE5E3B4620C}" dt="2026-04-22T13:43:29.624" v="73" actId="165"/>
          <ac:grpSpMkLst>
            <pc:docMk/>
            <pc:sldMk cId="0" sldId="262"/>
            <ac:grpSpMk id="32" creationId="{48E22A09-42E7-87D9-9DC4-6473D84988C6}"/>
          </ac:grpSpMkLst>
        </pc:grpChg>
        <pc:grpChg chg="add mod">
          <ac:chgData name="Samuel Huang" userId="3d14d3036a2a384b" providerId="LiveId" clId="{59E6B3E9-767B-4360-86A1-1FE5E3B4620C}" dt="2026-04-22T13:46:15.650" v="116" actId="1076"/>
          <ac:grpSpMkLst>
            <pc:docMk/>
            <pc:sldMk cId="0" sldId="262"/>
            <ac:grpSpMk id="35" creationId="{68E29385-BB2D-4AD8-02EC-146CAD0BEC86}"/>
          </ac:grpSpMkLst>
        </pc:grpChg>
        <pc:grpChg chg="add mod">
          <ac:chgData name="Samuel Huang" userId="3d14d3036a2a384b" providerId="LiveId" clId="{59E6B3E9-767B-4360-86A1-1FE5E3B4620C}" dt="2026-04-22T13:46:36.842" v="119" actId="408"/>
          <ac:grpSpMkLst>
            <pc:docMk/>
            <pc:sldMk cId="0" sldId="262"/>
            <ac:grpSpMk id="36" creationId="{0C94A936-53E9-121B-CEE0-3ABD0CDC4414}"/>
          </ac:grpSpMkLst>
        </pc:grpChg>
        <pc:grpChg chg="add mod">
          <ac:chgData name="Samuel Huang" userId="3d14d3036a2a384b" providerId="LiveId" clId="{59E6B3E9-767B-4360-86A1-1FE5E3B4620C}" dt="2026-04-22T13:46:36.842" v="119" actId="408"/>
          <ac:grpSpMkLst>
            <pc:docMk/>
            <pc:sldMk cId="0" sldId="262"/>
            <ac:grpSpMk id="37" creationId="{C1237D78-2342-885E-E50B-97CA6DD94BBC}"/>
          </ac:grpSpMkLst>
        </pc:grpChg>
        <pc:grpChg chg="add mod">
          <ac:chgData name="Samuel Huang" userId="3d14d3036a2a384b" providerId="LiveId" clId="{59E6B3E9-767B-4360-86A1-1FE5E3B4620C}" dt="2026-04-22T13:46:28.050" v="118" actId="1076"/>
          <ac:grpSpMkLst>
            <pc:docMk/>
            <pc:sldMk cId="0" sldId="262"/>
            <ac:grpSpMk id="41" creationId="{04D4C60A-E7DD-2AB6-0A61-E8945C41651F}"/>
          </ac:grpSpMkLst>
        </pc:grpChg>
        <pc:cxnChg chg="add mod">
          <ac:chgData name="Samuel Huang" userId="3d14d3036a2a384b" providerId="LiveId" clId="{59E6B3E9-767B-4360-86A1-1FE5E3B4620C}" dt="2026-04-22T13:46:36.842" v="119" actId="408"/>
          <ac:cxnSpMkLst>
            <pc:docMk/>
            <pc:sldMk cId="0" sldId="262"/>
            <ac:cxnSpMk id="43" creationId="{81A45231-06E7-6D4A-8681-DFB9ED8BC8C3}"/>
          </ac:cxnSpMkLst>
        </pc:cxnChg>
        <pc:cxnChg chg="add mod">
          <ac:chgData name="Samuel Huang" userId="3d14d3036a2a384b" providerId="LiveId" clId="{59E6B3E9-767B-4360-86A1-1FE5E3B4620C}" dt="2026-04-22T13:46:36.842" v="119" actId="408"/>
          <ac:cxnSpMkLst>
            <pc:docMk/>
            <pc:sldMk cId="0" sldId="262"/>
            <ac:cxnSpMk id="44" creationId="{B91E8DF1-01D9-941A-99D6-63F46C360CD7}"/>
          </ac:cxnSpMkLst>
        </pc:cxnChg>
        <pc:cxnChg chg="add mod">
          <ac:chgData name="Samuel Huang" userId="3d14d3036a2a384b" providerId="LiveId" clId="{59E6B3E9-767B-4360-86A1-1FE5E3B4620C}" dt="2026-04-22T13:46:36.842" v="119" actId="408"/>
          <ac:cxnSpMkLst>
            <pc:docMk/>
            <pc:sldMk cId="0" sldId="262"/>
            <ac:cxnSpMk id="47" creationId="{2168A5E2-480A-321A-9621-D363F57D2D5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32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64008" cy="2560320"/>
          </a:xfrm>
          <a:prstGeom prst="rect">
            <a:avLst/>
          </a:prstGeom>
          <a:solidFill>
            <a:srgbClr val="4BA8E8"/>
          </a:solidFill>
          <a:ln w="12700">
            <a:solidFill>
              <a:srgbClr val="4BA8E8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時間欄位與計算邏輯</a:t>
            </a:r>
            <a:endParaRPr lang="en-US" sz="4200" dirty="0">
              <a:latin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大直工務部 × 樂群工務報修</a:t>
            </a:r>
            <a:endParaRPr lang="en-US" sz="2400" dirty="0">
              <a:latin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報修日期 · 結案時間 · 結案天數 · 統計月份歸屬 · 完成判定</a:t>
            </a:r>
            <a:endParaRPr lang="en-US" sz="1400" dirty="0">
              <a:latin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240"/>
          </a:solidFill>
          <a:ln w="12700">
            <a:solidFill>
              <a:srgbClr val="0F2240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微軟正黑體" panose="020B0604030504040204" pitchFamily="34" charset="-120"/>
              </a:rPr>
              <a:t>Portal 系統 — 技術文件 2026-04-22</a:t>
            </a:r>
            <a:endParaRPr lang="en-US" sz="1000" b="1" dirty="0"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① Ragic 原始時間欄位</a:t>
            </a:r>
            <a:endParaRPr lang="en-US" sz="2200" dirty="0">
              <a:latin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大直工務部</a:t>
            </a:r>
            <a:endParaRPr lang="en-US" sz="1500" dirty="0">
              <a:latin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74904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微軟正黑體" panose="020B0604030504040204" pitchFamily="34" charset="-120"/>
              </a:rPr>
              <a:t>報修日期（occurred_at）</a:t>
            </a:r>
            <a:endParaRPr lang="en-US" sz="1200" dirty="0">
              <a:latin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Ragic 欄位：「報修日期」</a:t>
            </a:r>
            <a:endParaRPr lang="en-US" sz="10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備用：發生時間 → 報修時間 → 申報時間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374904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微軟正黑體" panose="020B0604030504040204" pitchFamily="34" charset="-120"/>
              </a:rPr>
              <a:t>結案時間（completed_at）</a:t>
            </a:r>
            <a:endParaRPr lang="en-US" sz="1200" dirty="0">
              <a:latin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Ragic 欄位：「</a:t>
            </a:r>
            <a:r>
              <a:rPr lang="en-US" sz="1050">
                <a:solidFill>
                  <a:srgbClr val="1E293B"/>
                </a:solidFill>
                <a:latin typeface="微軟正黑體" panose="020B0604030504040204" pitchFamily="34" charset="-120"/>
              </a:rPr>
              <a:t>維修日期」→</a:t>
            </a:r>
            <a:r>
              <a:rPr lang="zh-TW" altLang="en-US" sz="1050">
                <a:solidFill>
                  <a:srgbClr val="1E293B"/>
                </a:solidFill>
                <a:latin typeface="微軟正黑體" panose="020B0604030504040204" pitchFamily="34" charset="-120"/>
              </a:rPr>
              <a:t> </a:t>
            </a:r>
            <a:r>
              <a:rPr lang="zh-TW" altLang="en-US" sz="1050">
                <a:solidFill>
                  <a:srgbClr val="EE0000"/>
                </a:solidFill>
                <a:latin typeface="微軟正黑體" panose="020B0604030504040204" pitchFamily="34" charset="-120"/>
              </a:rPr>
              <a:t>改 </a:t>
            </a:r>
            <a:r>
              <a:rPr lang="en-US" altLang="zh-TW" sz="1050">
                <a:solidFill>
                  <a:srgbClr val="EE0000"/>
                </a:solidFill>
                <a:latin typeface="微軟正黑體" panose="020B0604030504040204" pitchFamily="34" charset="-120"/>
              </a:rPr>
              <a:t>完工時間</a:t>
            </a:r>
            <a:endParaRPr lang="en-US" sz="1050" dirty="0">
              <a:solidFill>
                <a:srgbClr val="EE0000"/>
              </a:solidFill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備用：結案時間 → 完成時間 → 驗收日期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※ 格式支援：YYYY/MM/DD HH:MM 或 YYYY-MM-DD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樂群工務報修</a:t>
            </a:r>
            <a:endParaRPr lang="en-US" sz="1500" dirty="0">
              <a:latin typeface="微軟正黑體" panose="020B060403050404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983480" y="1463040"/>
            <a:ext cx="374904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749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軟正黑體" panose="020B0604030504040204" pitchFamily="34" charset="-120"/>
              </a:rPr>
              <a:t>報修日期（occurred_at）</a:t>
            </a:r>
            <a:endParaRPr lang="en-US" sz="1200" dirty="0">
              <a:latin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74920" y="18105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Ragic 欄位：「</a:t>
            </a:r>
            <a:r>
              <a:rPr lang="en-US" sz="1050">
                <a:solidFill>
                  <a:srgbClr val="EE0000"/>
                </a:solidFill>
                <a:latin typeface="微軟正黑體" panose="020B0604030504040204" pitchFamily="34" charset="-120"/>
              </a:rPr>
              <a:t>發生時間</a:t>
            </a:r>
            <a:r>
              <a:rPr lang="en-US" sz="1050">
                <a:solidFill>
                  <a:srgbClr val="1E293B"/>
                </a:solidFill>
                <a:latin typeface="微軟正黑體" panose="020B0604030504040204" pitchFamily="34" charset="-120"/>
              </a:rPr>
              <a:t>」→</a:t>
            </a:r>
            <a:r>
              <a:rPr lang="zh-TW" altLang="en-US" sz="1050">
                <a:solidFill>
                  <a:srgbClr val="1E293B"/>
                </a:solidFill>
                <a:latin typeface="微軟正黑體" panose="020B0604030504040204" pitchFamily="34" charset="-120"/>
              </a:rPr>
              <a:t>改</a:t>
            </a:r>
            <a:r>
              <a:rPr lang="en-US" altLang="zh-TW" sz="1050">
                <a:solidFill>
                  <a:srgbClr val="1E293B"/>
                </a:solidFill>
                <a:latin typeface="微軟正黑體" panose="020B0604030504040204" pitchFamily="34" charset="-120"/>
              </a:rPr>
              <a:t> 報修日期</a:t>
            </a:r>
            <a:endParaRPr lang="en-US" sz="10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備用：實際報修時間 → 報修時間 → 申報時間 → 建立時間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83480" y="2788920"/>
            <a:ext cx="374904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軟正黑體" panose="020B0604030504040204" pitchFamily="34" charset="-120"/>
              </a:rPr>
              <a:t>結案時間（completed_at）</a:t>
            </a:r>
            <a:endParaRPr lang="en-US" sz="1200" dirty="0">
              <a:latin typeface="微軟正黑體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74920" y="31363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Ragic 欄位：「完工時間」</a:t>
            </a:r>
            <a:endParaRPr lang="en-US" sz="10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備用：結案時間 → </a:t>
            </a:r>
            <a:r>
              <a:rPr lang="en-US" sz="1050" dirty="0">
                <a:solidFill>
                  <a:srgbClr val="EE0000"/>
                </a:solidFill>
                <a:latin typeface="微軟正黑體" panose="020B0604030504040204" pitchFamily="34" charset="-120"/>
              </a:rPr>
              <a:t>完成時間</a:t>
            </a: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 → 驗收日期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※ 格式支援：YYYY/MM/DD HH:MM 或 YYYY-MM-DD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② 系統自動衍生的時間計算</a:t>
            </a:r>
            <a:endParaRPr lang="en-US" sz="2200" dirty="0">
              <a:latin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4A3B8"/>
                </a:solidFill>
                <a:latin typeface="微軟正黑體" panose="020B0604030504040204" pitchFamily="34" charset="-120"/>
              </a:rPr>
              <a:t>兩個系統完全相同</a:t>
            </a:r>
            <a:endParaRPr lang="en-US" sz="1200" b="1" dirty="0">
              <a:latin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0972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微軟正黑體" panose="020B0604030504040204" pitchFamily="34" charset="-120"/>
              </a:rPr>
              <a:t>結案天數（close_days）</a:t>
            </a:r>
            <a:endParaRPr lang="en-US" sz="1600" dirty="0">
              <a:latin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軟正黑體" panose="020B0604030504040204" pitchFamily="34" charset="-120"/>
              </a:rPr>
              <a:t>公式：completed_at  −  occurred_at  （天數，四捨五入到小數 2 位）</a:t>
            </a:r>
            <a:endParaRPr lang="en-US" sz="1300" dirty="0">
              <a:latin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微軟正黑體" panose="020B0604030504040204" pitchFamily="34" charset="-120"/>
              </a:rPr>
              <a:t>條件：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</a:rPr>
              <a:t>① 狀態屬於「已完成」  ② occurred_at 有值  ③ completed_at 有值  （三者缺一不可，否則為空值）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10972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微軟正黑體" panose="020B0604030504040204" pitchFamily="34" charset="-120"/>
              </a:rPr>
              <a:t>待處理天數（pending_days）</a:t>
            </a:r>
            <a:endParaRPr lang="en-US" sz="1600" dirty="0">
              <a:latin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0632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軟正黑體" panose="020B0604030504040204" pitchFamily="34" charset="-120"/>
              </a:rPr>
              <a:t>公式：現在時間  −  occurred_at  （天數，四捨五入到整數）</a:t>
            </a:r>
            <a:endParaRPr lang="en-US" sz="1300" dirty="0">
              <a:latin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微軟正黑體" panose="020B0604030504040204" pitchFamily="34" charset="-120"/>
              </a:rPr>
              <a:t>條件：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</a:rPr>
              <a:t>① 狀態屬於「未完成」  ② occurred_at 有值  （用途：顯示「逾期多少天」警示）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💡 每次同步 Ragic 資料時即時重新計算，不存 DB（DB to_dict() 動態產生）</a:t>
            </a:r>
            <a:endParaRPr lang="en-US" sz="1200" b="1" dirty="0"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③ 完成與排除狀態判定</a:t>
            </a:r>
            <a:endParaRPr lang="en-US" sz="2200" dirty="0">
              <a:latin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4A3B8"/>
                </a:solidFill>
                <a:latin typeface="微軟正黑體" panose="020B0604030504040204" pitchFamily="34" charset="-120"/>
              </a:rPr>
              <a:t>兩個系統完全相同</a:t>
            </a:r>
            <a:endParaRPr lang="en-US" sz="1200" b="1" dirty="0">
              <a:latin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109728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914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微軟正黑體" panose="020B0604030504040204" pitchFamily="34" charset="-120"/>
              </a:rPr>
              <a:t>✅  已完成狀態（COMPLETED_STATUSES）</a:t>
            </a:r>
            <a:endParaRPr lang="en-US" sz="1500" dirty="0">
              <a:latin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</a:rPr>
              <a:t>結案  ·  已辦驗  ·  已驗收  ·  已結案  ·  完修  ·  已完成  ·  完成</a:t>
            </a:r>
            <a:endParaRPr lang="en-US" sz="1400" dirty="0">
              <a:latin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微軟正黑體" panose="020B0604030504040204" pitchFamily="34" charset="-120"/>
              </a:rPr>
              <a:t>效果：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</a:rPr>
              <a:t>計入完成數；啟用 close_days 計算；納入結案率分母+分子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微軟正黑體" panose="020B0604030504040204" pitchFamily="34" charset="-120"/>
              </a:rPr>
              <a:t>🚫  排除狀態（EXCLUDED_STATUSES）</a:t>
            </a:r>
            <a:endParaRPr lang="en-US" sz="1500" dirty="0">
              <a:latin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447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</a:rPr>
              <a:t>取消</a:t>
            </a:r>
            <a:endParaRPr lang="en-US" sz="1400" dirty="0">
              <a:latin typeface="微軟正黑體" panose="020B060403050404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7947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微軟正黑體" panose="020B0604030504040204" pitchFamily="34" charset="-120"/>
              </a:rPr>
              <a:t>效果：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</a:rPr>
              <a:t>完全不進入任何統計（Dashboard / 4.1 / 4.2 / 4.3 / 4.4 / 金額統計）</a:t>
            </a:r>
            <a:endParaRPr lang="en-US" sz="110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</a:rPr>
              <a:t>「明細總表」Tab 仍可查閱原始記錄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未完成 = 不在「已完成」也不在「排除」的所有狀態（待修中、進行中、待料中、委外處理、待辦驗、辦驗未通過、待確認…）</a:t>
            </a:r>
            <a:endParaRPr lang="en-US" sz="950" b="1" dirty="0"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④ 統計月份歸屬  ⚡ 兩系統最大差異</a:t>
            </a:r>
            <a:endParaRPr lang="en-US" sz="2200" dirty="0">
              <a:latin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「這張報修單算哪個月的？」——兩系統的答案不同</a:t>
            </a:r>
            <a:endParaRPr lang="en-US" sz="1300" b="1" dirty="0">
              <a:latin typeface="微軟正黑體" panose="020B060403050404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大直工務部</a:t>
            </a:r>
            <a:endParaRPr lang="en-US" sz="1500" dirty="0">
              <a:latin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微軟正黑體" panose="020B0604030504040204" pitchFamily="34" charset="-120"/>
              </a:rPr>
              <a:t>year / month</a:t>
            </a:r>
            <a:endParaRPr lang="en-US" sz="1300" dirty="0">
              <a:latin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微軟正黑體" panose="020B0604030504040204" pitchFamily="34" charset="-120"/>
              </a:rPr>
              <a:t>永遠</a:t>
            </a:r>
            <a:r>
              <a:rPr lang="en-US" sz="1200" dirty="0">
                <a:solidFill>
                  <a:srgbClr val="1E293B"/>
                </a:solidFill>
                <a:latin typeface="微軟正黑體" panose="020B0604030504040204" pitchFamily="34" charset="-120"/>
              </a:rPr>
              <a:t> 以 </a:t>
            </a:r>
            <a:r>
              <a:rPr lang="en-US" sz="1200" b="1" dirty="0">
                <a:solidFill>
                  <a:srgbClr val="7C3AED"/>
                </a:solidFill>
                <a:latin typeface="微軟正黑體" panose="020B0604030504040204" pitchFamily="34" charset="-120"/>
              </a:rPr>
              <a:t>occurred_at（報修日期）</a:t>
            </a:r>
            <a:r>
              <a:rPr lang="en-US" sz="1200" dirty="0">
                <a:solidFill>
                  <a:srgbClr val="1E293B"/>
                </a:solidFill>
                <a:latin typeface="微軟正黑體" panose="020B0604030504040204" pitchFamily="34" charset="-120"/>
              </a:rPr>
              <a:t> 為準</a:t>
            </a:r>
            <a:endParaRPr lang="en-US" sz="1200" dirty="0">
              <a:latin typeface="微軟正黑體" panose="020B060403050404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365760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474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例：3月報修、4月結案</a:t>
            </a:r>
            <a:endParaRPr lang="en-US" sz="10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→ 無論結案與否，都算 3月 的案件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微軟正黑體" panose="020B0604030504040204" pitchFamily="34" charset="-120"/>
              </a:rPr>
              <a:t>欄位清單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occurred_at.year</a:t>
            </a:r>
            <a:endParaRPr lang="en-US" sz="10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= occurred_at.month</a:t>
            </a:r>
            <a:endParaRPr lang="en-US" sz="10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（無 occ_year / occ_month）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931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1887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樂群工務報修</a:t>
            </a:r>
            <a:endParaRPr lang="en-US" sz="1500" dirty="0">
              <a:latin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83480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軟正黑體" panose="020B0604030504040204" pitchFamily="34" charset="-120"/>
              </a:rPr>
              <a:t>year / month（費用統計用）</a:t>
            </a:r>
            <a:endParaRPr lang="en-US" sz="1200" dirty="0">
              <a:latin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83480" y="20665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軟正黑體" panose="020B0604030504040204" pitchFamily="34" charset="-120"/>
              </a:rPr>
              <a:t>已結案</a:t>
            </a:r>
            <a:r>
              <a:rPr lang="en-US" sz="1100" dirty="0">
                <a:solidFill>
                  <a:srgbClr val="1E293B"/>
                </a:solidFill>
                <a:latin typeface="微軟正黑體" panose="020B0604030504040204" pitchFamily="34" charset="-120"/>
              </a:rPr>
              <a:t> → completed_at 月份</a:t>
            </a:r>
            <a:endParaRPr lang="en-US" sz="110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軟正黑體" panose="020B0604030504040204" pitchFamily="34" charset="-120"/>
              </a:rPr>
              <a:t>未結案</a:t>
            </a:r>
            <a:r>
              <a:rPr lang="en-US" sz="1100" dirty="0">
                <a:solidFill>
                  <a:srgbClr val="1E293B"/>
                </a:solidFill>
                <a:latin typeface="微軟正黑體" panose="020B0604030504040204" pitchFamily="34" charset="-120"/>
              </a:rPr>
              <a:t> → occurred_at 月份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348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軟正黑體" panose="020B0604030504040204" pitchFamily="34" charset="-120"/>
              </a:rPr>
              <a:t>occ_year / occ_month（4.1 &amp; Dashboard 用）</a:t>
            </a:r>
            <a:endParaRPr lang="en-US" sz="1200" dirty="0">
              <a:latin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83480" y="2889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微軟正黑體" panose="020B0604030504040204" pitchFamily="34" charset="-120"/>
              </a:rPr>
              <a:t>永遠</a:t>
            </a:r>
            <a:r>
              <a:rPr lang="en-US" sz="1100" dirty="0">
                <a:solidFill>
                  <a:srgbClr val="1E293B"/>
                </a:solidFill>
                <a:latin typeface="微軟正黑體" panose="020B0604030504040204" pitchFamily="34" charset="-120"/>
              </a:rPr>
              <a:t> 以 </a:t>
            </a:r>
            <a:r>
              <a:rPr lang="en-US" sz="1100" b="1" dirty="0">
                <a:solidFill>
                  <a:srgbClr val="0D9488"/>
                </a:solidFill>
                <a:latin typeface="微軟正黑體" panose="020B0604030504040204" pitchFamily="34" charset="-120"/>
              </a:rPr>
              <a:t>occurred_at（報修日期）</a:t>
            </a:r>
            <a:r>
              <a:rPr lang="en-US" sz="1100" dirty="0">
                <a:solidFill>
                  <a:srgbClr val="1E293B"/>
                </a:solidFill>
                <a:latin typeface="微軟正黑體" panose="020B0604030504040204" pitchFamily="34" charset="-120"/>
              </a:rPr>
              <a:t> 為準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983480" y="3264408"/>
            <a:ext cx="3657600" cy="6400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74920" y="32918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軟正黑體" panose="020B0604030504040204" pitchFamily="34" charset="-120"/>
              </a:rPr>
              <a:t>例：3月報修、4月結案</a:t>
            </a:r>
            <a:endParaRPr lang="en-US" sz="100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微軟正黑體" panose="020B0604030504040204" pitchFamily="34" charset="-120"/>
              </a:rPr>
              <a:t>→ 4.1 報修統計：算 3月；費用統計：算 4月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83480" y="3931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year / month 雙軌設計原因：</a:t>
            </a:r>
            <a:endParaRPr lang="en-US" sz="9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費用要反映「錢何時付出」(結案月)</a:t>
            </a:r>
            <a:endParaRPr lang="en-US" sz="950" dirty="0">
              <a:latin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報修件數要反映「何時開單」(報修月)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⑤ 各統計功能使用的時間欄位一覽</a:t>
            </a:r>
            <a:endParaRPr lang="en-US" sz="2200" dirty="0">
              <a:latin typeface="微軟正黑體" panose="020B060403050404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統計功能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83280" y="804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大直工務部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77840" y="8046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樂群工務報修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備注</a:t>
            </a:r>
            <a:endParaRPr lang="en-US" sz="1100" dirty="0">
              <a:latin typeface="微軟正黑體" panose="020B060403050404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8686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Dashboard KPI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0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occ_year/occ_month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軟正黑體" panose="020B0604030504040204" pitchFamily="34" charset="-120"/>
              </a:rPr>
              <a:t>occurred_at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600" y="1572768"/>
            <a:ext cx="8686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近12月趨勢圖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0" y="1572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77840" y="15727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occ_year/occ_month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0960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軟正黑體" panose="020B0604030504040204" pitchFamily="34" charset="-120"/>
              </a:rPr>
              <a:t>occurred_at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8600" y="1956816"/>
            <a:ext cx="8686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74320" y="19568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4.1 報修統計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83280" y="1956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77840" y="19568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occ_year/occ_month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0960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軟正黑體" panose="020B0604030504040204" pitchFamily="34" charset="-120"/>
              </a:rPr>
              <a:t>occurred_at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2340864"/>
            <a:ext cx="8686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4320" y="2340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4.2 結案時間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83280" y="23408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completed - occurred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77840" y="2340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completed - occurred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80960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軟正黑體" panose="020B0604030504040204" pitchFamily="34" charset="-120"/>
              </a:rPr>
              <a:t>天數差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2724912"/>
            <a:ext cx="8686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4320" y="2724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4.3 報修類型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83280" y="2724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577840" y="27249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occ_year/occ_month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8096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軟正黑體" panose="020B0604030504040204" pitchFamily="34" charset="-120"/>
              </a:rPr>
              <a:t>occurred_at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8600" y="3108960"/>
            <a:ext cx="8686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432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4.4 客房報修表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83280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57784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occ_year/occ_month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8096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軟正黑體" panose="020B0604030504040204" pitchFamily="34" charset="-120"/>
              </a:rPr>
              <a:t>occurred_at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28600" y="3493008"/>
            <a:ext cx="8686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74320" y="3493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微軟正黑體" panose="020B0604030504040204" pitchFamily="34" charset="-120"/>
              </a:rPr>
              <a:t>金額統計（費用Tab）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383280" y="3493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577840" y="3493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completed_at（結案）/ occurred_at（未結）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0960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微軟正黑體" panose="020B0604030504040204" pitchFamily="34" charset="-120"/>
              </a:rPr>
              <a:t>⚡差異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28600" y="3877056"/>
            <a:ext cx="8686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74320" y="3877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微軟正黑體" panose="020B0604030504040204" pitchFamily="34" charset="-120"/>
              </a:rPr>
              <a:t>逾期警示清單</a:t>
            </a:r>
            <a:endParaRPr lang="en-US" sz="1050" dirty="0">
              <a:latin typeface="微軟正黑體" panose="020B060403050404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383280" y="3877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微軟正黑體" panose="020B0604030504040204" pitchFamily="34" charset="-120"/>
              </a:rPr>
              <a:t>now − 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577840" y="38770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微軟正黑體" panose="020B0604030504040204" pitchFamily="34" charset="-120"/>
              </a:rPr>
              <a:t>now − occurred_at</a:t>
            </a:r>
            <a:endParaRPr lang="en-US" sz="1000" dirty="0">
              <a:latin typeface="微軟正黑體" panose="020B060403050404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68096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微軟正黑體" panose="020B0604030504040204" pitchFamily="34" charset="-120"/>
              </a:rPr>
              <a:t>未完成案件</a:t>
            </a:r>
            <a:endParaRPr lang="en-US" sz="950" dirty="0">
              <a:latin typeface="微軟正黑體" panose="020B060403050404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28600" y="43388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A880F2"/>
                </a:solidFill>
                <a:latin typeface="微軟正黑體" panose="020B0604030504040204" pitchFamily="34" charset="-120"/>
              </a:rPr>
              <a:t>紫色 = 大直工務部      </a:t>
            </a:r>
            <a:r>
              <a:rPr lang="en-US" sz="1200" b="1" i="1" dirty="0">
                <a:solidFill>
                  <a:srgbClr val="0D9488"/>
                </a:solidFill>
                <a:latin typeface="微軟正黑體" panose="020B0604030504040204" pitchFamily="34" charset="-120"/>
              </a:rPr>
              <a:t>青色 = 樂群工務報修      </a:t>
            </a:r>
            <a:r>
              <a:rPr lang="en-US" sz="1200" b="1" i="1" dirty="0">
                <a:solidFill>
                  <a:srgbClr val="64748B"/>
                </a:solidFill>
                <a:latin typeface="微軟正黑體" panose="020B0604030504040204" pitchFamily="34" charset="-120"/>
              </a:rPr>
              <a:t>⚡ = 兩系統在此功能的時間邏輯不同</a:t>
            </a:r>
            <a:endParaRPr lang="en-US" sz="1200" b="1" dirty="0">
              <a:latin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</a:rPr>
              <a:t>⑥ 一張報修單的時間生命週期</a:t>
            </a:r>
            <a:endParaRPr lang="en-US" sz="2200" dirty="0">
              <a:latin typeface="微軟正黑體" panose="020B0604030504040204" pitchFamily="34" charset="-120"/>
            </a:endParaRP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68E29385-BB2D-4AD8-02EC-146CAD0BEC86}"/>
              </a:ext>
            </a:extLst>
          </p:cNvPr>
          <p:cNvGrpSpPr/>
          <p:nvPr/>
        </p:nvGrpSpPr>
        <p:grpSpPr>
          <a:xfrm>
            <a:off x="365760" y="1005840"/>
            <a:ext cx="1476000" cy="2743200"/>
            <a:chOff x="274320" y="1005840"/>
            <a:chExt cx="1476000" cy="2743200"/>
          </a:xfrm>
        </p:grpSpPr>
        <p:sp>
          <p:nvSpPr>
            <p:cNvPr id="4" name="Shape 2"/>
            <p:cNvSpPr/>
            <p:nvPr/>
          </p:nvSpPr>
          <p:spPr>
            <a:xfrm>
              <a:off x="274320" y="1463040"/>
              <a:ext cx="147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Ragic 填寫</a:t>
              </a:r>
              <a:endParaRPr lang="en-US" altLang="zh-TW" sz="1200">
                <a:latin typeface="微軟正黑體" panose="020B0604030504040204" pitchFamily="34" charset="-120"/>
              </a:endParaRPr>
            </a:p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報修日期/發生時間</a:t>
              </a:r>
              <a:endParaRPr lang="en-US" altLang="zh-TW" sz="1200">
                <a:latin typeface="微軟正黑體" panose="020B0604030504040204" pitchFamily="34" charset="-12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274320" y="1005840"/>
              <a:ext cx="1476000" cy="457200"/>
            </a:xfrm>
            <a:prstGeom prst="rect">
              <a:avLst/>
            </a:prstGeom>
            <a:solidFill>
              <a:srgbClr val="4BA8E8"/>
            </a:solidFill>
            <a:ln w="12700">
              <a:solidFill>
                <a:srgbClr val="4BA8E8"/>
              </a:solidFill>
              <a:prstDash val="solid"/>
            </a:ln>
          </p:spPr>
          <p:txBody>
            <a:bodyPr/>
            <a:lstStyle/>
            <a:p>
              <a:pPr algn="ctr"/>
              <a:endParaRPr lang="zh-TW" altLang="en-US">
                <a:latin typeface="微軟正黑體" panose="020B0604030504040204" pitchFamily="34" charset="-12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274320" y="1005840"/>
              <a:ext cx="147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微軟正黑體" panose="020B0604030504040204" pitchFamily="34" charset="-120"/>
                </a:rPr>
                <a:t>開單</a:t>
              </a:r>
              <a:endParaRPr lang="en-US" sz="1500" dirty="0">
                <a:latin typeface="微軟正黑體" panose="020B0604030504040204" pitchFamily="34" charset="-120"/>
              </a:endParaRP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0C94A936-53E9-121B-CEE0-3ABD0CDC4414}"/>
              </a:ext>
            </a:extLst>
          </p:cNvPr>
          <p:cNvGrpSpPr/>
          <p:nvPr/>
        </p:nvGrpSpPr>
        <p:grpSpPr>
          <a:xfrm>
            <a:off x="2647182" y="1005840"/>
            <a:ext cx="1476773" cy="2743200"/>
            <a:chOff x="2174630" y="1005840"/>
            <a:chExt cx="1476773" cy="2743200"/>
          </a:xfrm>
        </p:grpSpPr>
        <p:sp>
          <p:nvSpPr>
            <p:cNvPr id="8" name="Shape 6"/>
            <p:cNvSpPr/>
            <p:nvPr/>
          </p:nvSpPr>
          <p:spPr>
            <a:xfrm>
              <a:off x="2175403" y="1463040"/>
              <a:ext cx="147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pending_days</a:t>
              </a:r>
              <a:endParaRPr lang="en-US" altLang="zh-TW" sz="1200">
                <a:latin typeface="微軟正黑體" panose="020B0604030504040204" pitchFamily="34" charset="-120"/>
              </a:endParaRPr>
            </a:p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= 今天 − 報修日期</a:t>
              </a:r>
              <a:endParaRPr lang="en-US" altLang="zh-TW" sz="1200">
                <a:latin typeface="微軟正黑體" panose="020B0604030504040204" pitchFamily="34" charset="-120"/>
              </a:endParaRPr>
            </a:p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（每次同步更新）</a:t>
              </a:r>
              <a:endParaRPr lang="en-US" altLang="zh-TW" sz="1200">
                <a:latin typeface="微軟正黑體" panose="020B0604030504040204" pitchFamily="34" charset="-12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2174630" y="1005840"/>
              <a:ext cx="1476000" cy="45720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174630" y="1005840"/>
              <a:ext cx="147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微軟正黑體" panose="020B0604030504040204" pitchFamily="34" charset="-120"/>
                </a:rPr>
                <a:t>處理中</a:t>
              </a:r>
              <a:endParaRPr lang="en-US" sz="1500" dirty="0">
                <a:latin typeface="微軟正黑體" panose="020B0604030504040204" pitchFamily="34" charset="-120"/>
              </a:endParaRPr>
            </a:p>
          </p:txBody>
        </p: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C1237D78-2342-885E-E50B-97CA6DD94BBC}"/>
              </a:ext>
            </a:extLst>
          </p:cNvPr>
          <p:cNvGrpSpPr/>
          <p:nvPr/>
        </p:nvGrpSpPr>
        <p:grpSpPr>
          <a:xfrm>
            <a:off x="4929377" y="1005840"/>
            <a:ext cx="1476000" cy="2743200"/>
            <a:chOff x="4643510" y="1005840"/>
            <a:chExt cx="1476000" cy="2743200"/>
          </a:xfrm>
        </p:grpSpPr>
        <p:sp>
          <p:nvSpPr>
            <p:cNvPr id="12" name="Shape 10"/>
            <p:cNvSpPr/>
            <p:nvPr/>
          </p:nvSpPr>
          <p:spPr>
            <a:xfrm>
              <a:off x="4643510" y="1463040"/>
              <a:ext cx="147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Ragic 填寫</a:t>
              </a:r>
              <a:endParaRPr lang="en-US" altLang="zh-TW" sz="1200">
                <a:latin typeface="微軟正黑體" panose="020B0604030504040204" pitchFamily="34" charset="-120"/>
              </a:endParaRPr>
            </a:p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維修日期/</a:t>
              </a:r>
              <a:r>
                <a:rPr lang="en-US" altLang="zh-TW" sz="1200">
                  <a:solidFill>
                    <a:srgbClr val="EE0000"/>
                  </a:solidFill>
                  <a:latin typeface="微軟正黑體" panose="020B0604030504040204" pitchFamily="34" charset="-120"/>
                </a:rPr>
                <a:t> 完成時間</a:t>
              </a:r>
              <a:endParaRPr lang="en-US" altLang="zh-TW" sz="1200">
                <a:latin typeface="微軟正黑體" panose="020B0604030504040204" pitchFamily="34" charset="-12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643510" y="1005840"/>
              <a:ext cx="1476000" cy="4572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643510" y="1005840"/>
              <a:ext cx="147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altLang="en-US" sz="1500" b="1">
                  <a:solidFill>
                    <a:srgbClr val="FFFFFF"/>
                  </a:solidFill>
                  <a:latin typeface="微軟正黑體" panose="020B0604030504040204" pitchFamily="34" charset="-120"/>
                </a:rPr>
                <a:t>驗收</a:t>
              </a:r>
              <a:endParaRPr lang="en-US" sz="1500" dirty="0">
                <a:latin typeface="微軟正黑體" panose="020B0604030504040204" pitchFamily="34" charset="-120"/>
              </a:endParaRPr>
            </a:p>
          </p:txBody>
        </p: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04D4C60A-E7DD-2AB6-0A61-E8945C41651F}"/>
              </a:ext>
            </a:extLst>
          </p:cNvPr>
          <p:cNvGrpSpPr/>
          <p:nvPr/>
        </p:nvGrpSpPr>
        <p:grpSpPr>
          <a:xfrm>
            <a:off x="7210800" y="1005840"/>
            <a:ext cx="1476000" cy="2743200"/>
            <a:chOff x="7112390" y="1005840"/>
            <a:chExt cx="1476000" cy="2743200"/>
          </a:xfrm>
        </p:grpSpPr>
        <p:sp>
          <p:nvSpPr>
            <p:cNvPr id="16" name="Shape 14"/>
            <p:cNvSpPr/>
            <p:nvPr/>
          </p:nvSpPr>
          <p:spPr>
            <a:xfrm>
              <a:off x="7112390" y="1463040"/>
              <a:ext cx="147600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close_days</a:t>
              </a:r>
              <a:endParaRPr lang="en-US" altLang="zh-TW" sz="1200">
                <a:latin typeface="微軟正黑體" panose="020B0604030504040204" pitchFamily="34" charset="-120"/>
              </a:endParaRPr>
            </a:p>
            <a:p>
              <a:pPr algn="ctr"/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= </a:t>
              </a:r>
              <a:r>
                <a:rPr lang="en-US" altLang="zh-TW" sz="1200">
                  <a:solidFill>
                    <a:srgbClr val="EE0000"/>
                  </a:solidFill>
                  <a:latin typeface="微軟正黑體" panose="020B0604030504040204" pitchFamily="34" charset="-120"/>
                </a:rPr>
                <a:t>完成時間</a:t>
              </a:r>
              <a:r>
                <a:rPr lang="en-US" altLang="zh-TW" sz="1200">
                  <a:solidFill>
                    <a:srgbClr val="1E293B"/>
                  </a:solidFill>
                  <a:latin typeface="微軟正黑體" panose="020B0604030504040204" pitchFamily="34" charset="-120"/>
                </a:rPr>
                <a:t> − 報修日</a:t>
              </a:r>
              <a:endParaRPr lang="en-US" altLang="zh-TW" sz="1200">
                <a:latin typeface="微軟正黑體" panose="020B0604030504040204" pitchFamily="34" charset="-12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7112390" y="1005840"/>
              <a:ext cx="1476000" cy="45720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zh-TW" altLang="en-US">
                <a:latin typeface="微軟正黑體" panose="020B0604030504040204" pitchFamily="34" charset="-12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7112390" y="1005840"/>
              <a:ext cx="147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微軟正黑體" panose="020B0604030504040204" pitchFamily="34" charset="-120"/>
                </a:rPr>
                <a:t>統計歸屬</a:t>
              </a:r>
              <a:endParaRPr lang="en-US" sz="1500" dirty="0">
                <a:latin typeface="微軟正黑體" panose="020B0604030504040204" pitchFamily="34" charset="-120"/>
              </a:endParaRPr>
            </a:p>
          </p:txBody>
        </p:sp>
      </p:grpSp>
      <p:sp>
        <p:nvSpPr>
          <p:cNvPr id="26" name="Shape 24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微軟正黑體" panose="020B0604030504040204" pitchFamily="34" charset="-120"/>
              </a:rPr>
              <a:t>大直：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</a:rPr>
              <a:t>year/month 永遠 = 報修日期月份（opened_at 月份）
</a:t>
            </a:r>
            <a:r>
              <a:rPr lang="en-US" sz="1400" b="1" dirty="0">
                <a:solidFill>
                  <a:srgbClr val="0D9488"/>
                </a:solidFill>
                <a:latin typeface="微軟正黑體" panose="020B0604030504040204" pitchFamily="34" charset="-120"/>
              </a:rPr>
              <a:t>樂群：</a:t>
            </a:r>
            <a:r>
              <a:rPr lang="en-US" sz="1400" dirty="0">
                <a:solidFill>
                  <a:srgbClr val="1E293B"/>
                </a:solidFill>
                <a:latin typeface="微軟正黑體" panose="020B0604030504040204" pitchFamily="34" charset="-120"/>
              </a:rPr>
              <a:t>year/month = 結案月份（費用統計）；occ_year/occ_month = 報修月份（件數統計）</a:t>
            </a:r>
            <a:endParaRPr lang="en-US" sz="1400" dirty="0">
              <a:latin typeface="微軟正黑體" panose="020B0604030504040204" pitchFamily="34" charset="-120"/>
            </a:endParaRPr>
          </a:p>
        </p:txBody>
      </p: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81A45231-06E7-6D4A-8681-DFB9ED8BC8C3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1841760" y="2606040"/>
            <a:ext cx="80619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B91E8DF1-01D9-941A-99D6-63F46C360CD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4123955" y="2606040"/>
            <a:ext cx="8054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2168A5E2-480A-321A-9621-D363F57D2D57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6405377" y="2606040"/>
            <a:ext cx="8054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670</Words>
  <Application>Microsoft Office PowerPoint</Application>
  <PresentationFormat>如螢幕大小 (16:9)</PresentationFormat>
  <Paragraphs>122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時間欄位與計算邏輯說明</dc:title>
  <dc:subject>PptxGenJS Presentation</dc:subject>
  <dc:creator>PptxGenJS</dc:creator>
  <cp:lastModifiedBy>Samuel Huang</cp:lastModifiedBy>
  <cp:revision>1</cp:revision>
  <dcterms:created xsi:type="dcterms:W3CDTF">2026-04-22T13:30:16Z</dcterms:created>
  <dcterms:modified xsi:type="dcterms:W3CDTF">2026-04-23T09:04:27Z</dcterms:modified>
</cp:coreProperties>
</file>