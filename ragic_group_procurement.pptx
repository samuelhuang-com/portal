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0" y="0"/>
            <a:ext cx="109728" cy="5143500"/>
          </a:xfrm>
          <a:prstGeom prst="rect">
            <a:avLst/>
          </a:prstGeom>
          <a:solidFill>
            <a:srgbClr val="4BA8E8"/>
          </a:solidFill>
          <a:ln w="12700">
            <a:solidFill>
              <a:srgbClr val="4BA8E8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640080"/>
            <a:ext cx="1280160" cy="1280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21031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集團統購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274320" y="27432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BA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管理規劃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274320" y="3520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BAE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Procurement System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74320" y="46634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E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2026.05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931920" y="91440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採購效率再升級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3931920" y="16916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BA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集團統一採購架構討論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3931920" y="2286000"/>
            <a:ext cx="484632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931920" y="2560320"/>
            <a:ext cx="256032" cy="256032"/>
          </a:xfrm>
          <a:prstGeom prst="oval">
            <a:avLst/>
          </a:prstGeom>
          <a:solidFill>
            <a:srgbClr val="4BA8E8"/>
          </a:solidFill>
          <a:ln w="12700">
            <a:solidFill>
              <a:srgbClr val="4BA8E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931920" y="25603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279392" y="255117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現行痛點與統購目標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3931920" y="3035808"/>
            <a:ext cx="256032" cy="256032"/>
          </a:xfrm>
          <a:prstGeom prst="oval">
            <a:avLst/>
          </a:prstGeom>
          <a:solidFill>
            <a:srgbClr val="4BA8E8"/>
          </a:solidFill>
          <a:ln w="12700">
            <a:solidFill>
              <a:srgbClr val="4BA8E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931920" y="30358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279392" y="302666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整體採購流程設計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3931920" y="3511296"/>
            <a:ext cx="256032" cy="256032"/>
          </a:xfrm>
          <a:prstGeom prst="oval">
            <a:avLst/>
          </a:prstGeom>
          <a:solidFill>
            <a:srgbClr val="4BA8E8"/>
          </a:solidFill>
          <a:ln w="12700">
            <a:solidFill>
              <a:srgbClr val="4BA8E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931920" y="35112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279392" y="350215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三張核心表單架構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3931920" y="3986784"/>
            <a:ext cx="256032" cy="256032"/>
          </a:xfrm>
          <a:prstGeom prst="oval">
            <a:avLst/>
          </a:prstGeom>
          <a:solidFill>
            <a:srgbClr val="4BA8E8"/>
          </a:solidFill>
          <a:ln w="12700">
            <a:solidFill>
              <a:srgbClr val="4BA8E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931920" y="39867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279392" y="39776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分階段建置計劃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3931920" y="4462272"/>
            <a:ext cx="256032" cy="256032"/>
          </a:xfrm>
          <a:prstGeom prst="oval">
            <a:avLst/>
          </a:prstGeom>
          <a:solidFill>
            <a:srgbClr val="4BA8E8"/>
          </a:solidFill>
          <a:ln w="12700">
            <a:solidFill>
              <a:srgbClr val="4BA8E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931920" y="44622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4279392" y="445312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立即行動建議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為什麼需要統購？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498080" y="4572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A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現行痛點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2606040" cy="329184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143000"/>
            <a:ext cx="594360" cy="594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18745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各自為政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365760" y="226771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重複採購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31520" y="2578608"/>
            <a:ext cx="1874520" cy="27432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2670048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各部門獨立請購，相同品項分散下單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無法掌握集團整體採購量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200400" y="1005840"/>
            <a:ext cx="2606040" cy="3291840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143000"/>
            <a:ext cx="594360" cy="5943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200400" y="18745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缺乏透明度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3200400" y="226771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議價困難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3566160" y="2578608"/>
            <a:ext cx="1874520" cy="27432"/>
          </a:xfrm>
          <a:prstGeom prst="rect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337560" y="2670048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採購資訊分散，主管難以一覽全局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議價時缺乏量的籌碼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6035040" y="1005840"/>
            <a:ext cx="2606040" cy="3291840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1143000"/>
            <a:ext cx="594360" cy="5943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035040" y="18745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難以分析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6035040" y="226771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節省無從量化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6400800" y="2578608"/>
            <a:ext cx="1874520" cy="27432"/>
          </a:xfrm>
          <a:prstGeom prst="rect">
            <a:avLst/>
          </a:prstGeom>
          <a:solidFill>
            <a:srgbClr val="DDD6FE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6172200" y="2670048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無彙整機制，節省金額無法計算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每年重複付出相同成本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365760" y="4434840"/>
            <a:ext cx="8412480" cy="502920"/>
          </a:xfrm>
          <a:prstGeom prst="rect">
            <a:avLst/>
          </a:prstGeom>
          <a:solidFill>
            <a:srgbClr val="E8F4FD"/>
          </a:solidFill>
          <a:ln w="12700">
            <a:solidFill>
              <a:srgbClr val="4BA8E8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489704"/>
            <a:ext cx="320040" cy="32004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60120" y="446227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解方：建立集團統購機制 — 看得到、分得出、併得起來、追得回去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統購整體流程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0" y="457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A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採購流程設計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777240"/>
            <a:ext cx="914400" cy="914400"/>
          </a:xfrm>
          <a:prstGeom prst="oval">
            <a:avLst/>
          </a:prstGeom>
          <a:solidFill>
            <a:srgbClr val="E8F4FD"/>
          </a:solidFill>
          <a:ln w="19050">
            <a:solidFill>
              <a:srgbClr val="4BA8E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914400"/>
            <a:ext cx="640080" cy="6400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143000" y="640080"/>
            <a:ext cx="292608" cy="292608"/>
          </a:xfrm>
          <a:prstGeom prst="oval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43000" y="6400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74320" y="1783080"/>
            <a:ext cx="1188720" cy="685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74320" y="1783080"/>
            <a:ext cx="11887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各部門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提出請購單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274320" y="22402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填寫統購意願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1508760" y="1207008"/>
            <a:ext cx="164592" cy="54864"/>
          </a:xfrm>
          <a:prstGeom prst="rect">
            <a:avLst/>
          </a:prstGeom>
          <a:solidFill>
            <a:srgbClr val="4BA8E8"/>
          </a:solidFill>
          <a:ln w="12700">
            <a:solidFill>
              <a:srgbClr val="4BA8E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627632" y="116128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A8E8"/>
                </a:solidFill>
              </a:rPr>
              <a:t>▶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1847088" y="777240"/>
            <a:ext cx="914400" cy="914400"/>
          </a:xfrm>
          <a:prstGeom prst="oval">
            <a:avLst/>
          </a:prstGeom>
          <a:solidFill>
            <a:srgbClr val="E8F4FD"/>
          </a:solidFill>
          <a:ln w="19050">
            <a:solidFill>
              <a:srgbClr val="4BA8E8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4248" y="914400"/>
            <a:ext cx="640080" cy="64008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2578608" y="640080"/>
            <a:ext cx="292608" cy="292608"/>
          </a:xfrm>
          <a:prstGeom prst="oval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2578608" y="6400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1709928" y="1783080"/>
            <a:ext cx="1188720" cy="685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1709928" y="1783080"/>
            <a:ext cx="11887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採購人員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檢視品項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1709928" y="22402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判斷可統購項目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2944368" y="1207008"/>
            <a:ext cx="164592" cy="54864"/>
          </a:xfrm>
          <a:prstGeom prst="rect">
            <a:avLst/>
          </a:prstGeom>
          <a:solidFill>
            <a:srgbClr val="4BA8E8"/>
          </a:solidFill>
          <a:ln w="12700">
            <a:solidFill>
              <a:srgbClr val="4BA8E8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063240" y="116128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A8E8"/>
                </a:solidFill>
              </a:rPr>
              <a:t>▶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3282696" y="777240"/>
            <a:ext cx="914400" cy="914400"/>
          </a:xfrm>
          <a:prstGeom prst="oval">
            <a:avLst/>
          </a:prstGeom>
          <a:solidFill>
            <a:srgbClr val="E8F4FD"/>
          </a:solidFill>
          <a:ln w="19050">
            <a:solidFill>
              <a:srgbClr val="4BA8E8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9856" y="914400"/>
            <a:ext cx="640080" cy="640080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4014216" y="640080"/>
            <a:ext cx="292608" cy="292608"/>
          </a:xfrm>
          <a:prstGeom prst="oval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4014216" y="6400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27" name="Shape 22"/>
          <p:cNvSpPr/>
          <p:nvPr/>
        </p:nvSpPr>
        <p:spPr>
          <a:xfrm>
            <a:off x="3145536" y="1783080"/>
            <a:ext cx="1188720" cy="685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Text 23"/>
          <p:cNvSpPr/>
          <p:nvPr/>
        </p:nvSpPr>
        <p:spPr>
          <a:xfrm>
            <a:off x="3145536" y="1783080"/>
            <a:ext cx="11887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建立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統購批次</a:t>
            </a:r>
            <a:endParaRPr lang="en-US" sz="1050" dirty="0"/>
          </a:p>
        </p:txBody>
      </p:sp>
      <p:sp>
        <p:nvSpPr>
          <p:cNvPr id="29" name="Text 24"/>
          <p:cNvSpPr/>
          <p:nvPr/>
        </p:nvSpPr>
        <p:spPr>
          <a:xfrm>
            <a:off x="3145536" y="22402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按類別分批</a:t>
            </a:r>
            <a:endParaRPr lang="en-US" sz="900" dirty="0"/>
          </a:p>
        </p:txBody>
      </p:sp>
      <p:sp>
        <p:nvSpPr>
          <p:cNvPr id="30" name="Shape 25"/>
          <p:cNvSpPr/>
          <p:nvPr/>
        </p:nvSpPr>
        <p:spPr>
          <a:xfrm>
            <a:off x="4379976" y="1207008"/>
            <a:ext cx="164592" cy="54864"/>
          </a:xfrm>
          <a:prstGeom prst="rect">
            <a:avLst/>
          </a:prstGeom>
          <a:solidFill>
            <a:srgbClr val="4BA8E8"/>
          </a:solidFill>
          <a:ln w="12700">
            <a:solidFill>
              <a:srgbClr val="4BA8E8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4498848" y="116128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A8E8"/>
                </a:solidFill>
              </a:rPr>
              <a:t>▶</a:t>
            </a:r>
            <a:endParaRPr lang="en-US" sz="900" dirty="0"/>
          </a:p>
        </p:txBody>
      </p:sp>
      <p:sp>
        <p:nvSpPr>
          <p:cNvPr id="32" name="Shape 27"/>
          <p:cNvSpPr/>
          <p:nvPr/>
        </p:nvSpPr>
        <p:spPr>
          <a:xfrm>
            <a:off x="4718304" y="777240"/>
            <a:ext cx="914400" cy="914400"/>
          </a:xfrm>
          <a:prstGeom prst="oval">
            <a:avLst/>
          </a:prstGeom>
          <a:solidFill>
            <a:srgbClr val="E8F4FD"/>
          </a:solidFill>
          <a:ln w="19050">
            <a:solidFill>
              <a:srgbClr val="4BA8E8"/>
            </a:solidFill>
            <a:prstDash val="solid"/>
          </a:ln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5464" y="914400"/>
            <a:ext cx="640080" cy="640080"/>
          </a:xfrm>
          <a:prstGeom prst="rect">
            <a:avLst/>
          </a:prstGeom>
        </p:spPr>
      </p:pic>
      <p:sp>
        <p:nvSpPr>
          <p:cNvPr id="34" name="Shape 28"/>
          <p:cNvSpPr/>
          <p:nvPr/>
        </p:nvSpPr>
        <p:spPr>
          <a:xfrm>
            <a:off x="5449824" y="640080"/>
            <a:ext cx="292608" cy="292608"/>
          </a:xfrm>
          <a:prstGeom prst="oval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5449824" y="6400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36" name="Shape 30"/>
          <p:cNvSpPr/>
          <p:nvPr/>
        </p:nvSpPr>
        <p:spPr>
          <a:xfrm>
            <a:off x="4581144" y="1783080"/>
            <a:ext cx="1188720" cy="685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Text 31"/>
          <p:cNvSpPr/>
          <p:nvPr/>
        </p:nvSpPr>
        <p:spPr>
          <a:xfrm>
            <a:off x="4581144" y="1783080"/>
            <a:ext cx="11887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詢價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比價議價</a:t>
            </a:r>
            <a:endParaRPr lang="en-US" sz="1050" dirty="0"/>
          </a:p>
        </p:txBody>
      </p:sp>
      <p:sp>
        <p:nvSpPr>
          <p:cNvPr id="38" name="Text 32"/>
          <p:cNvSpPr/>
          <p:nvPr/>
        </p:nvSpPr>
        <p:spPr>
          <a:xfrm>
            <a:off x="4581144" y="22402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取得最優報價</a:t>
            </a:r>
            <a:endParaRPr lang="en-US" sz="900" dirty="0"/>
          </a:p>
        </p:txBody>
      </p:sp>
      <p:sp>
        <p:nvSpPr>
          <p:cNvPr id="39" name="Shape 33"/>
          <p:cNvSpPr/>
          <p:nvPr/>
        </p:nvSpPr>
        <p:spPr>
          <a:xfrm>
            <a:off x="5815584" y="1207008"/>
            <a:ext cx="164592" cy="54864"/>
          </a:xfrm>
          <a:prstGeom prst="rect">
            <a:avLst/>
          </a:prstGeom>
          <a:solidFill>
            <a:srgbClr val="4BA8E8"/>
          </a:solidFill>
          <a:ln w="12700">
            <a:solidFill>
              <a:srgbClr val="4BA8E8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5934456" y="116128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A8E8"/>
                </a:solidFill>
              </a:rPr>
              <a:t>▶</a:t>
            </a:r>
            <a:endParaRPr lang="en-US" sz="900" dirty="0"/>
          </a:p>
        </p:txBody>
      </p:sp>
      <p:sp>
        <p:nvSpPr>
          <p:cNvPr id="41" name="Shape 35"/>
          <p:cNvSpPr/>
          <p:nvPr/>
        </p:nvSpPr>
        <p:spPr>
          <a:xfrm>
            <a:off x="6153912" y="777240"/>
            <a:ext cx="914400" cy="914400"/>
          </a:xfrm>
          <a:prstGeom prst="oval">
            <a:avLst/>
          </a:prstGeom>
          <a:solidFill>
            <a:srgbClr val="E8F4FD"/>
          </a:solidFill>
          <a:ln w="19050">
            <a:solidFill>
              <a:srgbClr val="4BA8E8"/>
            </a:solidFill>
            <a:prstDash val="solid"/>
          </a:ln>
        </p:spPr>
      </p:sp>
      <p:pic>
        <p:nvPicPr>
          <p:cNvPr id="4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1072" y="914400"/>
            <a:ext cx="640080" cy="640080"/>
          </a:xfrm>
          <a:prstGeom prst="rect">
            <a:avLst/>
          </a:prstGeom>
        </p:spPr>
      </p:pic>
      <p:sp>
        <p:nvSpPr>
          <p:cNvPr id="43" name="Shape 36"/>
          <p:cNvSpPr/>
          <p:nvPr/>
        </p:nvSpPr>
        <p:spPr>
          <a:xfrm>
            <a:off x="6885432" y="640080"/>
            <a:ext cx="292608" cy="292608"/>
          </a:xfrm>
          <a:prstGeom prst="oval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44" name="Text 37"/>
          <p:cNvSpPr/>
          <p:nvPr/>
        </p:nvSpPr>
        <p:spPr>
          <a:xfrm>
            <a:off x="6885432" y="6400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45" name="Shape 38"/>
          <p:cNvSpPr/>
          <p:nvPr/>
        </p:nvSpPr>
        <p:spPr>
          <a:xfrm>
            <a:off x="6016752" y="1783080"/>
            <a:ext cx="1188720" cy="685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6" name="Text 39"/>
          <p:cNvSpPr/>
          <p:nvPr/>
        </p:nvSpPr>
        <p:spPr>
          <a:xfrm>
            <a:off x="6016752" y="1783080"/>
            <a:ext cx="11887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決定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供應商</a:t>
            </a:r>
            <a:endParaRPr lang="en-US" sz="1050" dirty="0"/>
          </a:p>
        </p:txBody>
      </p:sp>
      <p:sp>
        <p:nvSpPr>
          <p:cNvPr id="47" name="Text 40"/>
          <p:cNvSpPr/>
          <p:nvPr/>
        </p:nvSpPr>
        <p:spPr>
          <a:xfrm>
            <a:off x="6016752" y="22402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核准採購</a:t>
            </a:r>
            <a:endParaRPr lang="en-US" sz="900" dirty="0"/>
          </a:p>
        </p:txBody>
      </p:sp>
      <p:sp>
        <p:nvSpPr>
          <p:cNvPr id="48" name="Shape 41"/>
          <p:cNvSpPr/>
          <p:nvPr/>
        </p:nvSpPr>
        <p:spPr>
          <a:xfrm>
            <a:off x="7251192" y="1207008"/>
            <a:ext cx="164592" cy="54864"/>
          </a:xfrm>
          <a:prstGeom prst="rect">
            <a:avLst/>
          </a:prstGeom>
          <a:solidFill>
            <a:srgbClr val="4BA8E8"/>
          </a:solidFill>
          <a:ln w="12700">
            <a:solidFill>
              <a:srgbClr val="4BA8E8"/>
            </a:solidFill>
            <a:prstDash val="solid"/>
          </a:ln>
        </p:spPr>
      </p:sp>
      <p:sp>
        <p:nvSpPr>
          <p:cNvPr id="49" name="Text 42"/>
          <p:cNvSpPr/>
          <p:nvPr/>
        </p:nvSpPr>
        <p:spPr>
          <a:xfrm>
            <a:off x="7370064" y="116128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A8E8"/>
                </a:solidFill>
              </a:rPr>
              <a:t>▶</a:t>
            </a:r>
            <a:endParaRPr lang="en-US" sz="900" dirty="0"/>
          </a:p>
        </p:txBody>
      </p:sp>
      <p:sp>
        <p:nvSpPr>
          <p:cNvPr id="50" name="Shape 43"/>
          <p:cNvSpPr/>
          <p:nvPr/>
        </p:nvSpPr>
        <p:spPr>
          <a:xfrm>
            <a:off x="7589520" y="777240"/>
            <a:ext cx="914400" cy="914400"/>
          </a:xfrm>
          <a:prstGeom prst="oval">
            <a:avLst/>
          </a:prstGeom>
          <a:solidFill>
            <a:srgbClr val="E8F4FD"/>
          </a:solidFill>
          <a:ln w="19050">
            <a:solidFill>
              <a:srgbClr val="4BA8E8"/>
            </a:solidFill>
            <a:prstDash val="solid"/>
          </a:ln>
        </p:spPr>
      </p:sp>
      <p:pic>
        <p:nvPicPr>
          <p:cNvPr id="5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26680" y="914400"/>
            <a:ext cx="640080" cy="640080"/>
          </a:xfrm>
          <a:prstGeom prst="rect">
            <a:avLst/>
          </a:prstGeom>
        </p:spPr>
      </p:pic>
      <p:sp>
        <p:nvSpPr>
          <p:cNvPr id="52" name="Shape 44"/>
          <p:cNvSpPr/>
          <p:nvPr/>
        </p:nvSpPr>
        <p:spPr>
          <a:xfrm>
            <a:off x="8321040" y="640080"/>
            <a:ext cx="292608" cy="292608"/>
          </a:xfrm>
          <a:prstGeom prst="oval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53" name="Text 45"/>
          <p:cNvSpPr/>
          <p:nvPr/>
        </p:nvSpPr>
        <p:spPr>
          <a:xfrm>
            <a:off x="8321040" y="6400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54" name="Shape 46"/>
          <p:cNvSpPr/>
          <p:nvPr/>
        </p:nvSpPr>
        <p:spPr>
          <a:xfrm>
            <a:off x="7452360" y="1783080"/>
            <a:ext cx="1188720" cy="685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5" name="Text 47"/>
          <p:cNvSpPr/>
          <p:nvPr/>
        </p:nvSpPr>
        <p:spPr>
          <a:xfrm>
            <a:off x="7452360" y="1783080"/>
            <a:ext cx="11887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下單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通知各單位</a:t>
            </a:r>
            <a:endParaRPr lang="en-US" sz="1050" dirty="0"/>
          </a:p>
        </p:txBody>
      </p:sp>
      <p:sp>
        <p:nvSpPr>
          <p:cNvPr id="56" name="Text 48"/>
          <p:cNvSpPr/>
          <p:nvPr/>
        </p:nvSpPr>
        <p:spPr>
          <a:xfrm>
            <a:off x="7452360" y="22402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結案追蹤</a:t>
            </a:r>
            <a:endParaRPr lang="en-US" sz="900" dirty="0"/>
          </a:p>
        </p:txBody>
      </p:sp>
      <p:sp>
        <p:nvSpPr>
          <p:cNvPr id="57" name="Shape 49"/>
          <p:cNvSpPr/>
          <p:nvPr/>
        </p:nvSpPr>
        <p:spPr>
          <a:xfrm>
            <a:off x="365760" y="3291840"/>
            <a:ext cx="4023360" cy="1554480"/>
          </a:xfrm>
          <a:prstGeom prst="rect">
            <a:avLst/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58" name="Text 50"/>
          <p:cNvSpPr/>
          <p:nvPr/>
        </p:nvSpPr>
        <p:spPr>
          <a:xfrm>
            <a:off x="548640" y="3383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統購流程（正常路徑）</a:t>
            </a:r>
            <a:endParaRPr lang="en-US" sz="1200" dirty="0"/>
          </a:p>
        </p:txBody>
      </p:sp>
      <p:sp>
        <p:nvSpPr>
          <p:cNvPr id="59" name="Text 51"/>
          <p:cNvSpPr/>
          <p:nvPr/>
        </p:nvSpPr>
        <p:spPr>
          <a:xfrm>
            <a:off x="548640" y="3730752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每月固定截止日（1日、15日）統一收件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採購彙整需求 → 分批 → 議價 → 核准下單</a:t>
            </a:r>
            <a:endParaRPr lang="en-US" sz="1100" dirty="0"/>
          </a:p>
        </p:txBody>
      </p:sp>
      <p:sp>
        <p:nvSpPr>
          <p:cNvPr id="60" name="Shape 52"/>
          <p:cNvSpPr/>
          <p:nvPr/>
        </p:nvSpPr>
        <p:spPr>
          <a:xfrm>
            <a:off x="4754880" y="3291840"/>
            <a:ext cx="4023360" cy="1554480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61" name="Text 53"/>
          <p:cNvSpPr/>
          <p:nvPr/>
        </p:nvSpPr>
        <p:spPr>
          <a:xfrm>
            <a:off x="4937760" y="3383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急件路徑（獨立快速通道）</a:t>
            </a:r>
            <a:endParaRPr lang="en-US" sz="1200" dirty="0"/>
          </a:p>
        </p:txBody>
      </p:sp>
      <p:sp>
        <p:nvSpPr>
          <p:cNvPr id="62" name="Text 54"/>
          <p:cNvSpPr/>
          <p:nvPr/>
        </p:nvSpPr>
        <p:spPr>
          <a:xfrm>
            <a:off x="4937760" y="3730752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急件標記「立即採購」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不進統購池，直接走原採購單流程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最小可行架構：三張核心表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514600" cy="3566160"/>
          </a:xfrm>
          <a:prstGeom prst="rect">
            <a:avLst/>
          </a:prstGeom>
          <a:solidFill>
            <a:srgbClr val="E8F4FD"/>
          </a:solidFill>
          <a:ln w="12700">
            <a:solidFill>
              <a:srgbClr val="4BA8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1188720"/>
            <a:ext cx="594360" cy="59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19202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請購單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65760" y="232257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（現有表單擴充）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40080" y="2651760"/>
            <a:ext cx="1965960" cy="27432"/>
          </a:xfrm>
          <a:prstGeom prst="rect">
            <a:avLst/>
          </a:prstGeom>
          <a:solidFill>
            <a:srgbClr val="4BA8E8"/>
          </a:solidFill>
          <a:ln w="12700">
            <a:solidFill>
              <a:srgbClr val="4BA8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2761488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原請購流程不變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新增「統購意願」欄位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標記急件 / 一般 / 可等統購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383280" y="1005840"/>
            <a:ext cx="2514600" cy="3566160"/>
          </a:xfrm>
          <a:prstGeom prst="rect">
            <a:avLst/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188720"/>
            <a:ext cx="594360" cy="5943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83280" y="19202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統購需求池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383280" y="232257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（新增）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3657600" y="2651760"/>
            <a:ext cx="1965960" cy="274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520440" y="2761488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集中可合併採購品項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採購人員分類、判斷、分批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中介協調的核心樞紐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400800" y="1005840"/>
            <a:ext cx="2514600" cy="3566160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1188720"/>
            <a:ext cx="594360" cy="5943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00800" y="19202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統購批次主檔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00800" y="232257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（新增）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6675120" y="2651760"/>
            <a:ext cx="1965960" cy="27432"/>
          </a:xfrm>
          <a:prstGeom prst="rect">
            <a:avLst/>
          </a:prstGeom>
          <a:solidFill>
            <a:srgbClr val="86EFAC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6537960" y="2761488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管理每次統購案件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詢價、比價、核准、下單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附子表：品項明細 + 報價記錄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2834640" y="2468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BA8E8"/>
                </a:solidFill>
              </a:rPr>
              <a:t>→</a:t>
            </a:r>
            <a:endParaRPr lang="en-US" sz="2000" dirty="0"/>
          </a:p>
        </p:txBody>
      </p:sp>
      <p:sp>
        <p:nvSpPr>
          <p:cNvPr id="23" name="Text 18"/>
          <p:cNvSpPr/>
          <p:nvPr/>
        </p:nvSpPr>
        <p:spPr>
          <a:xfrm>
            <a:off x="2743200" y="28346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勾選納入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5852160" y="2468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BA8E8"/>
                </a:solidFill>
              </a:rPr>
              <a:t>→</a:t>
            </a:r>
            <a:endParaRPr lang="en-US" sz="2000" dirty="0"/>
          </a:p>
        </p:txBody>
      </p:sp>
      <p:sp>
        <p:nvSpPr>
          <p:cNvPr id="25" name="Text 20"/>
          <p:cNvSpPr/>
          <p:nvPr/>
        </p:nvSpPr>
        <p:spPr>
          <a:xfrm>
            <a:off x="5760720" y="28346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分批採購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365760" y="4709160"/>
            <a:ext cx="8412480" cy="292608"/>
          </a:xfrm>
          <a:prstGeom prst="rect">
            <a:avLst/>
          </a:prstGeom>
          <a:solidFill>
            <a:srgbClr val="E8F4FD"/>
          </a:solidFill>
          <a:ln w="6350">
            <a:solidFill>
              <a:srgbClr val="4BA8E8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502920" y="472744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第一階段不做自動轉單，先跑通人工流程，確認流程無誤後再考慮自動化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請購單調整（最小異動）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132320" y="4572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A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表單設計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475488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4183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原請購流程完全保留，只在現有表單上「新增欄位」，不改變任何既有欄位或流程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508760"/>
            <a:ext cx="8412480" cy="34747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508760"/>
            <a:ext cx="164592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欄位名稱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011680" y="1508760"/>
            <a:ext cx="228600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選項 / 用途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97680" y="1508760"/>
            <a:ext cx="320040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說明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98080" y="1508760"/>
            <a:ext cx="128016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必填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1856232"/>
            <a:ext cx="8412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856232"/>
            <a:ext cx="164592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是否納入統購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011680" y="1856232"/>
            <a:ext cx="22860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是 / 否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297680" y="1856232"/>
            <a:ext cx="32004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判斷此請購單是否進入統購評估池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498080" y="1856232"/>
            <a:ext cx="128016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2331720"/>
            <a:ext cx="8412480" cy="47548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331720"/>
            <a:ext cx="164592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需求急迫性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011680" y="2331720"/>
            <a:ext cx="22860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一般 / 急件 / 立即採購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297680" y="2331720"/>
            <a:ext cx="32004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急件標記後直接走原採購單，不等統購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498080" y="2331720"/>
            <a:ext cx="128016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65760" y="2807208"/>
            <a:ext cx="8412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2807208"/>
            <a:ext cx="164592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希望到貨日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011680" y="2807208"/>
            <a:ext cx="22860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日期選擇器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297680" y="2807208"/>
            <a:ext cx="32004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協助採購判斷是否能等待統購批次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498080" y="2807208"/>
            <a:ext cx="128016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65760" y="3282696"/>
            <a:ext cx="8412480" cy="47548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82696"/>
            <a:ext cx="164592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統購狀態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011680" y="3282696"/>
            <a:ext cx="22860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待判斷→建議統購→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已納入→不納入→已採購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297680" y="3282696"/>
            <a:ext cx="32004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由採購人員維護，申請人唯讀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498080" y="3282696"/>
            <a:ext cx="128016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系統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65760" y="3758184"/>
            <a:ext cx="8412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758184"/>
            <a:ext cx="164592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統購批次編號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2011680" y="3758184"/>
            <a:ext cx="22860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 Field → 統購批次主檔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297680" y="3758184"/>
            <a:ext cx="32004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填入後可追蹤所屬統購案件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7498080" y="3758184"/>
            <a:ext cx="128016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系統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365760" y="4233672"/>
            <a:ext cx="8412480" cy="47548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4233672"/>
            <a:ext cx="164592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統購備註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2011680" y="4233672"/>
            <a:ext cx="22860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文字欄位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297680" y="4233672"/>
            <a:ext cx="32004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採購或主管補充說明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7498080" y="4233672"/>
            <a:ext cx="128016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統購需求池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0" y="4572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A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最重要的中介表單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3840480" cy="1371600"/>
          </a:xfrm>
          <a:prstGeom prst="rect">
            <a:avLst/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0584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10058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需求池的角色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146304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把各部門請購單中「可能合併採購」的品項集中起來，讓採購人員一次看清楚、快速判斷分批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480560" y="9601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品項狀態流向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480560" y="1307592"/>
            <a:ext cx="713232" cy="32004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480560" y="1307592"/>
            <a:ext cx="713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未處理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166360" y="1307592"/>
            <a:ext cx="164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›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358384" y="1307592"/>
            <a:ext cx="713232" cy="320040"/>
          </a:xfrm>
          <a:prstGeom prst="rect">
            <a:avLst/>
          </a:prstGeom>
          <a:solidFill>
            <a:srgbClr val="4BA8E8"/>
          </a:solidFill>
          <a:ln w="12700">
            <a:solidFill>
              <a:srgbClr val="4BA8E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358384" y="1307592"/>
            <a:ext cx="713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已分批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044184" y="1307592"/>
            <a:ext cx="164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›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236208" y="1307592"/>
            <a:ext cx="713232" cy="3200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36208" y="1307592"/>
            <a:ext cx="713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詢價中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922008" y="1307592"/>
            <a:ext cx="164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›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114032" y="1307592"/>
            <a:ext cx="713232" cy="3200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114032" y="1307592"/>
            <a:ext cx="713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已採購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7799832" y="1307592"/>
            <a:ext cx="164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›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7991856" y="1307592"/>
            <a:ext cx="713232" cy="32004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991856" y="1307592"/>
            <a:ext cx="713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結案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365760" y="24231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關鍵欄位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365760" y="2843784"/>
            <a:ext cx="201168" cy="201168"/>
          </a:xfrm>
          <a:prstGeom prst="oval">
            <a:avLst/>
          </a:prstGeom>
          <a:solidFill>
            <a:srgbClr val="4BA8E8"/>
          </a:solidFill>
          <a:ln w="12700">
            <a:solidFill>
              <a:srgbClr val="4BA8E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0080" y="2788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需求編號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2423160" y="27889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系統自動編號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365760" y="3191256"/>
            <a:ext cx="201168" cy="201168"/>
          </a:xfrm>
          <a:prstGeom prst="oval">
            <a:avLst/>
          </a:prstGeom>
          <a:solidFill>
            <a:srgbClr val="4BA8E8"/>
          </a:solidFill>
          <a:ln w="12700">
            <a:solidFill>
              <a:srgbClr val="4BA8E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40080" y="31363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來源請購單號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2423160" y="313639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 → 請購單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365760" y="3538728"/>
            <a:ext cx="201168" cy="201168"/>
          </a:xfrm>
          <a:prstGeom prst="oval">
            <a:avLst/>
          </a:prstGeom>
          <a:solidFill>
            <a:srgbClr val="4BA8E8"/>
          </a:solidFill>
          <a:ln w="12700">
            <a:solidFill>
              <a:srgbClr val="4BA8E8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0080" y="348386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部門 / 申請人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2423160" y="348386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帶出原請購資訊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365760" y="3886200"/>
            <a:ext cx="201168" cy="201168"/>
          </a:xfrm>
          <a:prstGeom prst="oval">
            <a:avLst/>
          </a:prstGeom>
          <a:solidFill>
            <a:srgbClr val="4BA8E8"/>
          </a:solidFill>
          <a:ln w="12700">
            <a:solidFill>
              <a:srgbClr val="4BA8E8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40080" y="383133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品項類別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2423160" y="383133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下拉：修繕/耗材/資訊/文具/服務…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365760" y="4233672"/>
            <a:ext cx="201168" cy="201168"/>
          </a:xfrm>
          <a:prstGeom prst="oval">
            <a:avLst/>
          </a:prstGeom>
          <a:solidFill>
            <a:srgbClr val="4BA8E8"/>
          </a:solidFill>
          <a:ln w="12700">
            <a:solidFill>
              <a:srgbClr val="4BA8E8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40080" y="41788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品項名稱 + 規格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2423160" y="417880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要買什麼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365760" y="4581144"/>
            <a:ext cx="201168" cy="201168"/>
          </a:xfrm>
          <a:prstGeom prst="oval">
            <a:avLst/>
          </a:prstGeom>
          <a:solidFill>
            <a:srgbClr val="4BA8E8"/>
          </a:solidFill>
          <a:ln w="12700">
            <a:solidFill>
              <a:srgbClr val="4BA8E8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40080" y="4526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數量 + 單位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4663440" y="2843784"/>
            <a:ext cx="201168" cy="201168"/>
          </a:xfrm>
          <a:prstGeom prst="oval">
            <a:avLst/>
          </a:prstGeom>
          <a:solidFill>
            <a:srgbClr val="4BA8E8"/>
          </a:solidFill>
          <a:ln w="12700">
            <a:solidFill>
              <a:srgbClr val="4BA8E8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937760" y="2788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預估單價 / 金額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6720840" y="27889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原請購單價 × 數量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4663440" y="3191256"/>
            <a:ext cx="201168" cy="201168"/>
          </a:xfrm>
          <a:prstGeom prst="oval">
            <a:avLst/>
          </a:prstGeom>
          <a:solidFill>
            <a:srgbClr val="4BA8E8"/>
          </a:solidFill>
          <a:ln w="12700">
            <a:solidFill>
              <a:srgbClr val="4BA8E8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4937760" y="31363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可否等待統購</a:t>
            </a:r>
            <a:endParaRPr lang="en-US" sz="1100" dirty="0"/>
          </a:p>
        </p:txBody>
      </p:sp>
      <p:sp>
        <p:nvSpPr>
          <p:cNvPr id="47" name="Text 44"/>
          <p:cNvSpPr/>
          <p:nvPr/>
        </p:nvSpPr>
        <p:spPr>
          <a:xfrm>
            <a:off x="6720840" y="313639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是 / 否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4663440" y="3538728"/>
            <a:ext cx="201168" cy="201168"/>
          </a:xfrm>
          <a:prstGeom prst="oval">
            <a:avLst/>
          </a:prstGeom>
          <a:solidFill>
            <a:srgbClr val="4BA8E8"/>
          </a:solidFill>
          <a:ln w="12700">
            <a:solidFill>
              <a:srgbClr val="4BA8E8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4937760" y="348386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統購判斷</a:t>
            </a:r>
            <a:endParaRPr lang="en-US" sz="1100" dirty="0"/>
          </a:p>
        </p:txBody>
      </p:sp>
      <p:sp>
        <p:nvSpPr>
          <p:cNvPr id="50" name="Text 47"/>
          <p:cNvSpPr/>
          <p:nvPr/>
        </p:nvSpPr>
        <p:spPr>
          <a:xfrm>
            <a:off x="6720840" y="348386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待判斷 / 可統購 / 不統購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4663440" y="3886200"/>
            <a:ext cx="201168" cy="201168"/>
          </a:xfrm>
          <a:prstGeom prst="oval">
            <a:avLst/>
          </a:prstGeom>
          <a:solidFill>
            <a:srgbClr val="4BA8E8"/>
          </a:solidFill>
          <a:ln w="12700">
            <a:solidFill>
              <a:srgbClr val="4BA8E8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4937760" y="383133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統購批次編號</a:t>
            </a:r>
            <a:endParaRPr lang="en-US" sz="1100" dirty="0"/>
          </a:p>
        </p:txBody>
      </p:sp>
      <p:sp>
        <p:nvSpPr>
          <p:cNvPr id="53" name="Text 50"/>
          <p:cNvSpPr/>
          <p:nvPr/>
        </p:nvSpPr>
        <p:spPr>
          <a:xfrm>
            <a:off x="6720840" y="383133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對應統購批次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4663440" y="4233672"/>
            <a:ext cx="201168" cy="201168"/>
          </a:xfrm>
          <a:prstGeom prst="oval">
            <a:avLst/>
          </a:prstGeom>
          <a:solidFill>
            <a:srgbClr val="4BA8E8"/>
          </a:solidFill>
          <a:ln w="12700">
            <a:solidFill>
              <a:srgbClr val="4BA8E8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4937760" y="41788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處理狀態</a:t>
            </a:r>
            <a:endParaRPr lang="en-US" sz="1100" dirty="0"/>
          </a:p>
        </p:txBody>
      </p:sp>
      <p:sp>
        <p:nvSpPr>
          <p:cNvPr id="56" name="Text 53"/>
          <p:cNvSpPr/>
          <p:nvPr/>
        </p:nvSpPr>
        <p:spPr>
          <a:xfrm>
            <a:off x="6720840" y="417880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未處理→已分批→詢價中…</a:t>
            </a:r>
            <a:endParaRPr lang="en-US" sz="1000" dirty="0"/>
          </a:p>
        </p:txBody>
      </p:sp>
      <p:sp>
        <p:nvSpPr>
          <p:cNvPr id="57" name="Shape 54"/>
          <p:cNvSpPr/>
          <p:nvPr/>
        </p:nvSpPr>
        <p:spPr>
          <a:xfrm>
            <a:off x="4663440" y="4581144"/>
            <a:ext cx="201168" cy="201168"/>
          </a:xfrm>
          <a:prstGeom prst="oval">
            <a:avLst/>
          </a:prstGeom>
          <a:solidFill>
            <a:srgbClr val="4BA8E8"/>
          </a:solidFill>
          <a:ln w="12700">
            <a:solidFill>
              <a:srgbClr val="4BA8E8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4937760" y="4526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需求日期</a:t>
            </a:r>
            <a:endParaRPr lang="en-US" sz="1100" dirty="0"/>
          </a:p>
        </p:txBody>
      </p:sp>
      <p:sp>
        <p:nvSpPr>
          <p:cNvPr id="59" name="Text 56"/>
          <p:cNvSpPr/>
          <p:nvPr/>
        </p:nvSpPr>
        <p:spPr>
          <a:xfrm>
            <a:off x="6720840" y="45262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原請購日期</a:t>
            </a:r>
            <a:endParaRPr lang="en-US" sz="1000" dirty="0"/>
          </a:p>
        </p:txBody>
      </p:sp>
      <p:sp>
        <p:nvSpPr>
          <p:cNvPr id="60" name="Shape 57"/>
          <p:cNvSpPr/>
          <p:nvPr/>
        </p:nvSpPr>
        <p:spPr>
          <a:xfrm>
            <a:off x="4526280" y="2697480"/>
            <a:ext cx="27432" cy="21945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統購批次主檔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217920" y="457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A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管理每一次統購案件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594360"/>
          </a:xfrm>
          <a:prstGeom prst="rect">
            <a:avLst/>
          </a:prstGeom>
          <a:solidFill>
            <a:srgbClr val="E8F4FD"/>
          </a:solidFill>
          <a:ln w="12700">
            <a:solidFill>
              <a:srgbClr val="4BA8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8755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批次編號範例：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965960" y="1005840"/>
            <a:ext cx="2103120" cy="384048"/>
          </a:xfrm>
          <a:prstGeom prst="rect">
            <a:avLst/>
          </a:prstGeom>
          <a:solidFill>
            <a:srgbClr val="FFFFFF"/>
          </a:solidFill>
          <a:ln w="10160">
            <a:solidFill>
              <a:srgbClr val="4BA8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0" y="1005840"/>
            <a:ext cx="2011680" cy="3840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DP-202605-001  資訊耗材統購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343400" y="1005840"/>
            <a:ext cx="2103120" cy="384048"/>
          </a:xfrm>
          <a:prstGeom prst="rect">
            <a:avLst/>
          </a:prstGeom>
          <a:solidFill>
            <a:srgbClr val="FFFFFF"/>
          </a:solidFill>
          <a:ln w="10160">
            <a:solidFill>
              <a:srgbClr val="4BA8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0" y="1005840"/>
            <a:ext cx="2011680" cy="3840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DP-202605-002  修繕材料統購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720840" y="1005840"/>
            <a:ext cx="2103120" cy="384048"/>
          </a:xfrm>
          <a:prstGeom prst="rect">
            <a:avLst/>
          </a:prstGeom>
          <a:solidFill>
            <a:srgbClr val="FFFFFF"/>
          </a:solidFill>
          <a:ln w="10160">
            <a:solidFill>
              <a:srgbClr val="4BA8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66560" y="1005840"/>
            <a:ext cx="2011680" cy="3840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DP-202605-003  Adobe 授權統購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65760" y="16459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批次狀態流程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1993392"/>
            <a:ext cx="987552" cy="34747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1993392"/>
            <a:ext cx="987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草稿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298448" y="1993392"/>
            <a:ext cx="201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›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572768" y="1993392"/>
            <a:ext cx="987552" cy="347472"/>
          </a:xfrm>
          <a:prstGeom prst="rect">
            <a:avLst/>
          </a:prstGeom>
          <a:solidFill>
            <a:srgbClr val="4BA8E8"/>
          </a:solidFill>
          <a:ln w="12700">
            <a:solidFill>
              <a:srgbClr val="4BA8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572768" y="1993392"/>
            <a:ext cx="987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需求彙整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505456" y="1993392"/>
            <a:ext cx="201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›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79776" y="1993392"/>
            <a:ext cx="987552" cy="34747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79776" y="1993392"/>
            <a:ext cx="987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詢價中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712464" y="1993392"/>
            <a:ext cx="201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›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986784" y="1993392"/>
            <a:ext cx="987552" cy="3474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986784" y="1993392"/>
            <a:ext cx="987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議價中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919472" y="1993392"/>
            <a:ext cx="201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›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193792" y="1993392"/>
            <a:ext cx="987552" cy="34747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93792" y="1993392"/>
            <a:ext cx="987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待核准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126480" y="1993392"/>
            <a:ext cx="201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›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00800" y="1993392"/>
            <a:ext cx="987552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0" y="1993392"/>
            <a:ext cx="987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已下單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333488" y="1993392"/>
            <a:ext cx="201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›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607808" y="1993392"/>
            <a:ext cx="987552" cy="34747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07808" y="1993392"/>
            <a:ext cx="987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已結案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65760" y="251460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關鍵欄位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365760" y="2953512"/>
            <a:ext cx="182880" cy="182880"/>
          </a:xfrm>
          <a:prstGeom prst="oval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1792" y="28803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統購批次編號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468880" y="288036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DP-YYYYMM-序號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65760" y="3337560"/>
            <a:ext cx="182880" cy="182880"/>
          </a:xfrm>
          <a:prstGeom prst="oval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1792" y="326440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統購名稱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2468880" y="3264408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例：2026年5月資訊耗材統購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65760" y="3721608"/>
            <a:ext cx="182880" cy="182880"/>
          </a:xfrm>
          <a:prstGeom prst="oval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1792" y="364845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統購類別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2468880" y="364845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資訊/工務/文具/清潔/合約服務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65760" y="4105656"/>
            <a:ext cx="182880" cy="182880"/>
          </a:xfrm>
          <a:prstGeom prst="oval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1792" y="403250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負責採購 / 建立日期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65760" y="4489704"/>
            <a:ext cx="182880" cy="182880"/>
          </a:xfrm>
          <a:prstGeom prst="oval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1792" y="441655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涉及部門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2468880" y="4416552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多選彙整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663440" y="2953512"/>
            <a:ext cx="182880" cy="182880"/>
          </a:xfrm>
          <a:prstGeom prst="oval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19472" y="28803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預估總金額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766560" y="288036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需求池彙總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663440" y="3337560"/>
            <a:ext cx="182880" cy="182880"/>
          </a:xfrm>
          <a:prstGeom prst="oval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919472" y="326440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實際採購金額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766560" y="3264408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採購完成後填寫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663440" y="3721608"/>
            <a:ext cx="182880" cy="182880"/>
          </a:xfrm>
          <a:prstGeom prst="oval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919472" y="364845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節省金額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6766560" y="364845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預估 − 實際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4663440" y="4105656"/>
            <a:ext cx="182880" cy="182880"/>
          </a:xfrm>
          <a:prstGeom prst="oval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919472" y="403250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決議說明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6766560" y="4032504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為什麼統購、選哪家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4663440" y="4489704"/>
            <a:ext cx="182880" cy="182880"/>
          </a:xfrm>
          <a:prstGeom prst="oval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919472" y="441655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附件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6766560" y="4416552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報價單、比價表、合約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4526280" y="2788920"/>
            <a:ext cx="27432" cy="20116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65760" y="4754880"/>
            <a:ext cx="8412480" cy="256032"/>
          </a:xfrm>
          <a:prstGeom prst="rect">
            <a:avLst/>
          </a:prstGeom>
          <a:solidFill>
            <a:srgbClr val="FFFBEB"/>
          </a:solidFill>
          <a:ln w="6350">
            <a:solidFill>
              <a:srgbClr val="FDE68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02920" y="476402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 批次下包含兩個子表格：①品項明細（各部門需求彙整 + 議價後金額）  ②供應商報價紀錄（比價留底）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分三階段推進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2697480" cy="3977640"/>
          </a:xfrm>
          <a:prstGeom prst="rect">
            <a:avLst/>
          </a:prstGeom>
          <a:solidFill>
            <a:srgbClr val="E8F4FD"/>
          </a:solidFill>
          <a:ln w="12700">
            <a:solidFill>
              <a:srgbClr val="4BA8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17320" y="777240"/>
            <a:ext cx="594360" cy="594360"/>
          </a:xfrm>
          <a:prstGeom prst="oval">
            <a:avLst/>
          </a:prstGeom>
          <a:solidFill>
            <a:srgbClr val="4BA8E8"/>
          </a:solidFill>
          <a:ln w="12700">
            <a:solidFill>
              <a:srgbClr val="4BA8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758952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Phase 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150876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建置 + 試跑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005840" y="1920240"/>
            <a:ext cx="1417320" cy="256032"/>
          </a:xfrm>
          <a:prstGeom prst="rect">
            <a:avLst/>
          </a:prstGeom>
          <a:solidFill>
            <a:srgbClr val="4BA8E8"/>
          </a:solidFill>
          <a:ln w="12700">
            <a:solidFill>
              <a:srgbClr val="4BA8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92024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第 1–3 週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2304288"/>
            <a:ext cx="146304" cy="146304"/>
          </a:xfrm>
          <a:prstGeom prst="oval">
            <a:avLst/>
          </a:prstGeom>
          <a:solidFill>
            <a:srgbClr val="4BA8E8"/>
          </a:solidFill>
          <a:ln w="12700">
            <a:solidFill>
              <a:srgbClr val="4BA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2267712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建立品項類別主檔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651760"/>
            <a:ext cx="146304" cy="146304"/>
          </a:xfrm>
          <a:prstGeom prst="oval">
            <a:avLst/>
          </a:prstGeom>
          <a:solidFill>
            <a:srgbClr val="4BA8E8"/>
          </a:solidFill>
          <a:ln w="12700">
            <a:solidFill>
              <a:srgbClr val="4BA8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2615184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廠商主檔（基本資料）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2999232"/>
            <a:ext cx="146304" cy="146304"/>
          </a:xfrm>
          <a:prstGeom prst="oval">
            <a:avLst/>
          </a:prstGeom>
          <a:solidFill>
            <a:srgbClr val="4BA8E8"/>
          </a:solidFill>
          <a:ln w="12700">
            <a:solidFill>
              <a:srgbClr val="4BA8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2962656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請購單新增統購欄位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346704"/>
            <a:ext cx="146304" cy="146304"/>
          </a:xfrm>
          <a:prstGeom prst="oval">
            <a:avLst/>
          </a:prstGeom>
          <a:solidFill>
            <a:srgbClr val="4BA8E8"/>
          </a:solidFill>
          <a:ln w="12700">
            <a:solidFill>
              <a:srgbClr val="4BA8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3310128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建立統購需求池表單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3694176"/>
            <a:ext cx="146304" cy="146304"/>
          </a:xfrm>
          <a:prstGeom prst="oval">
            <a:avLst/>
          </a:prstGeom>
          <a:solidFill>
            <a:srgbClr val="4BA8E8"/>
          </a:solidFill>
          <a:ln w="12700">
            <a:solidFill>
              <a:srgbClr val="4BA8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3657600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建立統購批次主檔表單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4041648"/>
            <a:ext cx="146304" cy="146304"/>
          </a:xfrm>
          <a:prstGeom prst="oval">
            <a:avLst/>
          </a:prstGeom>
          <a:solidFill>
            <a:srgbClr val="4BA8E8"/>
          </a:solidFill>
          <a:ln w="12700">
            <a:solidFill>
              <a:srgbClr val="4BA8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" y="4005072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1–2 個部門試跑驗證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4507992"/>
            <a:ext cx="2697480" cy="347472"/>
          </a:xfrm>
          <a:prstGeom prst="rect">
            <a:avLst/>
          </a:prstGeom>
          <a:solidFill>
            <a:srgbClr val="4BA8E8"/>
          </a:solidFill>
          <a:ln w="12700">
            <a:solidFill>
              <a:srgbClr val="4BA8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507992"/>
            <a:ext cx="269748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讓流程可以跑通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91840" y="960120"/>
            <a:ext cx="2697480" cy="3977640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343400" y="777240"/>
            <a:ext cx="594360" cy="594360"/>
          </a:xfrm>
          <a:prstGeom prst="oval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97680" y="758952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Phase 2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291840" y="150876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優化 + 推廣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3931920" y="1920240"/>
            <a:ext cx="1417320" cy="2560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931920" y="192024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試跑一個月後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474720" y="2304288"/>
            <a:ext cx="146304" cy="146304"/>
          </a:xfrm>
          <a:prstGeom prst="oval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75888" y="2267712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根據回饋調整欄位設計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474720" y="2651760"/>
            <a:ext cx="146304" cy="146304"/>
          </a:xfrm>
          <a:prstGeom prst="oval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75888" y="2615184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建立三張核心報表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474720" y="2999232"/>
            <a:ext cx="146304" cy="146304"/>
          </a:xfrm>
          <a:prstGeom prst="oval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75888" y="2962656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全集團人員訓練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474720" y="3346704"/>
            <a:ext cx="146304" cy="146304"/>
          </a:xfrm>
          <a:prstGeom prst="oval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75888" y="3310128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確認批次節奏（每月1日/15日）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474720" y="3694176"/>
            <a:ext cx="146304" cy="146304"/>
          </a:xfrm>
          <a:prstGeom prst="oval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75888" y="3657600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制定急件判斷標準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474720" y="4041648"/>
            <a:ext cx="146304" cy="146304"/>
          </a:xfrm>
          <a:prstGeom prst="oval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75888" y="4005072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補充廠商報價紀錄流程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291840" y="4507992"/>
            <a:ext cx="269748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91840" y="4507992"/>
            <a:ext cx="269748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全集團採用，流程穩定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217920" y="960120"/>
            <a:ext cx="2697480" cy="3977640"/>
          </a:xfrm>
          <a:prstGeom prst="rect">
            <a:avLst/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7269480" y="777240"/>
            <a:ext cx="594360" cy="594360"/>
          </a:xfrm>
          <a:prstGeom prst="oval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223760" y="758952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Phase 3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217920" y="150876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進階整合</a:t>
            </a:r>
            <a:endParaRPr lang="en-US" sz="1500" dirty="0"/>
          </a:p>
        </p:txBody>
      </p:sp>
      <p:sp>
        <p:nvSpPr>
          <p:cNvPr id="48" name="Shape 46"/>
          <p:cNvSpPr/>
          <p:nvPr/>
        </p:nvSpPr>
        <p:spPr>
          <a:xfrm>
            <a:off x="6858000" y="1920240"/>
            <a:ext cx="1417320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58000" y="192024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流程穩定後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400800" y="2304288"/>
            <a:ext cx="146304" cy="146304"/>
          </a:xfrm>
          <a:prstGeom prst="oval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601968" y="2267712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自動轉採購單（Ragic 觸發）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400800" y="2651760"/>
            <a:ext cx="146304" cy="146304"/>
          </a:xfrm>
          <a:prstGeom prst="oval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601968" y="2615184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Portal Dashboard 統購視覺化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400800" y="2999232"/>
            <a:ext cx="146304" cy="146304"/>
          </a:xfrm>
          <a:prstGeom prst="oval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601968" y="2962656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節省金額自動計算呈現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400800" y="3346704"/>
            <a:ext cx="146304" cy="146304"/>
          </a:xfrm>
          <a:prstGeom prst="oval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601968" y="3310128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年度採購趨勢分析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6400800" y="3694176"/>
            <a:ext cx="146304" cy="146304"/>
          </a:xfrm>
          <a:prstGeom prst="oval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601968" y="3657600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供應商績效評比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6217920" y="4507992"/>
            <a:ext cx="269748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217920" y="4507992"/>
            <a:ext cx="269748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資料驅動採購決策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立即行動建議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132320" y="4572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A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713232"/>
          </a:xfrm>
          <a:prstGeom prst="rect">
            <a:avLst/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60120"/>
            <a:ext cx="502920" cy="7132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6012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1124712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10058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確定品項類別清單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463040" y="13441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先讓各部門主管確認品項分類（15–30類即可），統購篩選的基礎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675120" y="1124712"/>
            <a:ext cx="19659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720840" y="1124712"/>
            <a:ext cx="1874520" cy="3840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 採購 + 各部門主管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65760" y="1764792"/>
            <a:ext cx="8412480" cy="713232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65760" y="1764792"/>
            <a:ext cx="502920" cy="7132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65760" y="1764792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1929384"/>
            <a:ext cx="384048" cy="38404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463040" y="181051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確認統購批次節奏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1463040" y="21488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每月幾次截止？急件標準是什麼？先在管理層對齊，再設計系統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6675120" y="1929384"/>
            <a:ext cx="19659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720840" y="1929384"/>
            <a:ext cx="1874520" cy="3840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 採購主管 + 高階主管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365760" y="2569464"/>
            <a:ext cx="8412480" cy="713232"/>
          </a:xfrm>
          <a:prstGeom prst="rect">
            <a:avLst/>
          </a:prstGeom>
          <a:solidFill>
            <a:srgbClr val="E8F4FD"/>
          </a:solidFill>
          <a:ln w="12700">
            <a:solidFill>
              <a:srgbClr val="4BA8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365760" y="2569464"/>
            <a:ext cx="502920" cy="7132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365760" y="2569464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2734056"/>
            <a:ext cx="384048" cy="38404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463040" y="261518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 Ragic 建立三張表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1463040" y="295351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請購單新增欄位 + 統購需求池 + 統購批次主檔，依本規劃建置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6675120" y="2734056"/>
            <a:ext cx="19659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4BA8E8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6720840" y="2734056"/>
            <a:ext cx="1874520" cy="3840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 採購 / 系統管理員</a:t>
            </a:r>
            <a:endParaRPr lang="en-US" sz="950" dirty="0"/>
          </a:p>
        </p:txBody>
      </p:sp>
      <p:sp>
        <p:nvSpPr>
          <p:cNvPr id="29" name="Shape 24"/>
          <p:cNvSpPr/>
          <p:nvPr/>
        </p:nvSpPr>
        <p:spPr>
          <a:xfrm>
            <a:off x="365760" y="3374136"/>
            <a:ext cx="8412480" cy="713232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365760" y="3374136"/>
            <a:ext cx="502920" cy="71323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365760" y="3374136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3538728"/>
            <a:ext cx="384048" cy="38404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463040" y="3419856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選 1–2 部門試跑一個月</a:t>
            </a:r>
            <a:endParaRPr lang="en-US" sz="1300" dirty="0"/>
          </a:p>
        </p:txBody>
      </p:sp>
      <p:sp>
        <p:nvSpPr>
          <p:cNvPr id="34" name="Text 28"/>
          <p:cNvSpPr/>
          <p:nvPr/>
        </p:nvSpPr>
        <p:spPr>
          <a:xfrm>
            <a:off x="1463040" y="375818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用真實請購單跑完整流程，收集問題後調整，再全面推廣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6675120" y="3538728"/>
            <a:ext cx="19659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6720840" y="3538728"/>
            <a:ext cx="1874520" cy="3840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 採購 + 試跑部門</a:t>
            </a:r>
            <a:endParaRPr lang="en-US" sz="950" dirty="0"/>
          </a:p>
        </p:txBody>
      </p:sp>
      <p:sp>
        <p:nvSpPr>
          <p:cNvPr id="37" name="Shape 31"/>
          <p:cNvSpPr/>
          <p:nvPr/>
        </p:nvSpPr>
        <p:spPr>
          <a:xfrm>
            <a:off x="365760" y="4178808"/>
            <a:ext cx="8412480" cy="713232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2"/>
          <p:cNvSpPr/>
          <p:nvPr/>
        </p:nvSpPr>
        <p:spPr>
          <a:xfrm>
            <a:off x="365760" y="4178808"/>
            <a:ext cx="502920" cy="7132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365760" y="4178808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552" y="4343400"/>
            <a:ext cx="384048" cy="384048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1463040" y="422452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建立節省金額追蹤報表</a:t>
            </a:r>
            <a:endParaRPr lang="en-US" sz="1300" dirty="0"/>
          </a:p>
        </p:txBody>
      </p:sp>
      <p:sp>
        <p:nvSpPr>
          <p:cNvPr id="42" name="Text 35"/>
          <p:cNvSpPr/>
          <p:nvPr/>
        </p:nvSpPr>
        <p:spPr>
          <a:xfrm>
            <a:off x="1463040" y="456285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讓高階主管看到成效數字，確保統購制度持續獲得支持</a:t>
            </a:r>
            <a:endParaRPr lang="en-US" sz="1000" dirty="0"/>
          </a:p>
        </p:txBody>
      </p:sp>
      <p:sp>
        <p:nvSpPr>
          <p:cNvPr id="43" name="Shape 36"/>
          <p:cNvSpPr/>
          <p:nvPr/>
        </p:nvSpPr>
        <p:spPr>
          <a:xfrm>
            <a:off x="6675120" y="4343400"/>
            <a:ext cx="19659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44" name="Text 37"/>
          <p:cNvSpPr/>
          <p:nvPr/>
        </p:nvSpPr>
        <p:spPr>
          <a:xfrm>
            <a:off x="6720840" y="4343400"/>
            <a:ext cx="1874520" cy="3840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 採購主管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0" y="0"/>
            <a:ext cx="109728" cy="5143500"/>
          </a:xfrm>
          <a:prstGeom prst="rect">
            <a:avLst/>
          </a:prstGeom>
          <a:solidFill>
            <a:srgbClr val="4BA8E8"/>
          </a:solidFill>
          <a:ln w="12700">
            <a:solidFill>
              <a:srgbClr val="4BA8E8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731520"/>
            <a:ext cx="1554480" cy="1554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24688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結語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274320" y="29260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BAE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840480" y="731520"/>
            <a:ext cx="493776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3977640" y="77724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🔒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4462272" y="77724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原有請購 / 採購單流程完全保留，零破壞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840480" y="1554480"/>
            <a:ext cx="4937760" cy="658368"/>
          </a:xfrm>
          <a:prstGeom prst="rect">
            <a:avLst/>
          </a:prstGeom>
          <a:solidFill>
            <a:srgbClr val="E8F4FD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977640" y="160020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4462272" y="160020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只需新增三張表 + 幾個欄位，學習成本低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840480" y="2377440"/>
            <a:ext cx="493776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3977640" y="242316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4462272" y="242316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先做到「看得到、追得回去」，再談自動化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840480" y="3200400"/>
            <a:ext cx="4937760" cy="658368"/>
          </a:xfrm>
          <a:prstGeom prst="rect">
            <a:avLst/>
          </a:prstGeom>
          <a:solidFill>
            <a:srgbClr val="E8F4FD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3977640" y="324612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4462272" y="324612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急件有獨立出口，不會因統購而延誤緊急需求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3840480" y="4023360"/>
            <a:ext cx="493776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3977640" y="406908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📈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4462272" y="406908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節省金額可量化，讓管理層看到制度價值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集團統購管理 — 建置規劃</dc:title>
  <dc:subject>PptxGenJS Presentation</dc:subject>
  <dc:creator>Ragic Portal</dc:creator>
  <cp:lastModifiedBy>Ragic Portal</cp:lastModifiedBy>
  <cp:revision>1</cp:revision>
  <dcterms:created xsi:type="dcterms:W3CDTF">2026-05-06T06:12:51Z</dcterms:created>
  <dcterms:modified xsi:type="dcterms:W3CDTF">2026-05-06T06:12:51Z</dcterms:modified>
</cp:coreProperties>
</file>