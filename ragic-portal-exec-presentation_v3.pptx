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2" r:id="rId5"/>
    <p:sldId id="266" r:id="rId6"/>
    <p:sldId id="26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38F98-BA64-4216-A92E-4FDEDDE00BF9}" v="49" dt="2026-05-13T05:26:01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10" autoAdjust="0"/>
  </p:normalViewPr>
  <p:slideViewPr>
    <p:cSldViewPr snapToGrid="0" snapToObjects="1">
      <p:cViewPr varScale="1">
        <p:scale>
          <a:sx n="126" d="100"/>
          <a:sy n="126" d="100"/>
        </p:scale>
        <p:origin x="38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Huang" userId="3d14d3036a2a384b" providerId="LiveId" clId="{59E6B3E9-767B-4360-86A1-1FE5E3B4620C}"/>
    <pc:docChg chg="undo custSel addSld delSld modSld sldOrd">
      <pc:chgData name="Samuel Huang" userId="3d14d3036a2a384b" providerId="LiveId" clId="{59E6B3E9-767B-4360-86A1-1FE5E3B4620C}" dt="2026-05-13T09:46:22.072" v="255" actId="47"/>
      <pc:docMkLst>
        <pc:docMk/>
      </pc:docMkLst>
      <pc:sldChg chg="addSp delSp modSp mod">
        <pc:chgData name="Samuel Huang" userId="3d14d3036a2a384b" providerId="LiveId" clId="{59E6B3E9-767B-4360-86A1-1FE5E3B4620C}" dt="2026-05-13T05:26:15.467" v="254" actId="1076"/>
        <pc:sldMkLst>
          <pc:docMk/>
          <pc:sldMk cId="0" sldId="256"/>
        </pc:sldMkLst>
        <pc:spChg chg="mod">
          <ac:chgData name="Samuel Huang" userId="3d14d3036a2a384b" providerId="LiveId" clId="{59E6B3E9-767B-4360-86A1-1FE5E3B4620C}" dt="2026-05-07T23:26:08.233" v="13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5:36.587" v="2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8:41.065" v="24" actId="6549"/>
          <ac:spMkLst>
            <pc:docMk/>
            <pc:sldMk cId="0" sldId="256"/>
            <ac:spMk id="8" creationId="{00000000-0000-0000-0000-000000000000}"/>
          </ac:spMkLst>
        </pc:spChg>
        <pc:spChg chg="mod">
          <ac:chgData name="Samuel Huang" userId="3d14d3036a2a384b" providerId="LiveId" clId="{59E6B3E9-767B-4360-86A1-1FE5E3B4620C}" dt="2026-05-13T05:22:03.442" v="229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Samuel Huang" userId="3d14d3036a2a384b" providerId="LiveId" clId="{59E6B3E9-767B-4360-86A1-1FE5E3B4620C}" dt="2026-05-13T05:26:15.467" v="254" actId="1076"/>
          <ac:spMkLst>
            <pc:docMk/>
            <pc:sldMk cId="0" sldId="256"/>
            <ac:spMk id="10" creationId="{7E337924-9F8A-28D2-30D4-8826249116BD}"/>
          </ac:spMkLst>
        </pc:spChg>
      </pc:sldChg>
      <pc:sldChg chg="del mod modShow">
        <pc:chgData name="Samuel Huang" userId="3d14d3036a2a384b" providerId="LiveId" clId="{59E6B3E9-767B-4360-86A1-1FE5E3B4620C}" dt="2026-05-13T09:46:22.072" v="255" actId="47"/>
        <pc:sldMkLst>
          <pc:docMk/>
          <pc:sldMk cId="0" sldId="257"/>
        </pc:sldMkLst>
      </pc:sldChg>
      <pc:sldChg chg="addSp modSp mod ord">
        <pc:chgData name="Samuel Huang" userId="3d14d3036a2a384b" providerId="LiveId" clId="{59E6B3E9-767B-4360-86A1-1FE5E3B4620C}" dt="2026-05-08T06:18:10.882" v="162"/>
        <pc:sldMkLst>
          <pc:docMk/>
          <pc:sldMk cId="0" sldId="258"/>
        </pc:sldMkLst>
        <pc:spChg chg="mod">
          <ac:chgData name="Samuel Huang" userId="3d14d3036a2a384b" providerId="LiveId" clId="{59E6B3E9-767B-4360-86A1-1FE5E3B4620C}" dt="2026-05-08T06:18:10.882" v="162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0:51:20.187" v="132" actId="113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6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28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0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2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3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5:51.809" v="137" actId="164"/>
          <ac:spMkLst>
            <pc:docMk/>
            <pc:sldMk cId="0" sldId="258"/>
            <ac:spMk id="34" creationId="{00000000-0000-0000-0000-000000000000}"/>
          </ac:spMkLst>
        </pc:spChg>
        <pc:grpChg chg="mod">
          <ac:chgData name="Samuel Huang" userId="3d14d3036a2a384b" providerId="LiveId" clId="{59E6B3E9-767B-4360-86A1-1FE5E3B4620C}" dt="2026-05-08T01:46:01.696" v="138" actId="12788"/>
          <ac:grpSpMkLst>
            <pc:docMk/>
            <pc:sldMk cId="0" sldId="258"/>
            <ac:grpSpMk id="39" creationId="{6F7874DE-F661-1F42-788C-B62C6872BA7F}"/>
          </ac:grpSpMkLst>
        </pc:grpChg>
      </pc:sldChg>
      <pc:sldChg chg="del mod modShow">
        <pc:chgData name="Samuel Huang" userId="3d14d3036a2a384b" providerId="LiveId" clId="{59E6B3E9-767B-4360-86A1-1FE5E3B4620C}" dt="2026-05-13T09:46:22.072" v="255" actId="47"/>
        <pc:sldMkLst>
          <pc:docMk/>
          <pc:sldMk cId="0" sldId="259"/>
        </pc:sldMkLst>
      </pc:sldChg>
      <pc:sldChg chg="addSp modSp mod ord">
        <pc:chgData name="Samuel Huang" userId="3d14d3036a2a384b" providerId="LiveId" clId="{59E6B3E9-767B-4360-86A1-1FE5E3B4620C}" dt="2026-05-08T06:22:18.939" v="179"/>
        <pc:sldMkLst>
          <pc:docMk/>
          <pc:sldMk cId="0" sldId="260"/>
        </pc:sldMkLst>
        <pc:spChg chg="mod">
          <ac:chgData name="Samuel Huang" userId="3d14d3036a2a384b" providerId="LiveId" clId="{59E6B3E9-767B-4360-86A1-1FE5E3B4620C}" dt="2026-05-08T06:18:19.914" v="16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2:18.939" v="179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9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6:29.695" v="151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6:15.813" v="140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29" creationId="{00000000-0000-0000-0000-000000000000}"/>
          </ac:spMkLst>
        </pc:spChg>
        <pc:spChg chg="mod">
          <ac:chgData name="Samuel Huang" userId="3d14d3036a2a384b" providerId="LiveId" clId="{59E6B3E9-767B-4360-86A1-1FE5E3B4620C}" dt="2026-05-08T01:46:22.878" v="142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39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42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43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51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1:26.260" v="173" actId="164"/>
          <ac:spMkLst>
            <pc:docMk/>
            <pc:sldMk cId="0" sldId="260"/>
            <ac:spMk id="57" creationId="{00000000-0000-0000-0000-000000000000}"/>
          </ac:spMkLst>
        </pc:spChg>
        <pc:grpChg chg="mod">
          <ac:chgData name="Samuel Huang" userId="3d14d3036a2a384b" providerId="LiveId" clId="{59E6B3E9-767B-4360-86A1-1FE5E3B4620C}" dt="2026-05-08T06:21:30.102" v="174" actId="12788"/>
          <ac:grpSpMkLst>
            <pc:docMk/>
            <pc:sldMk cId="0" sldId="260"/>
            <ac:grpSpMk id="63" creationId="{3CD23B4B-299E-F684-3325-BB1922348743}"/>
          </ac:grpSpMkLst>
        </pc:grpChg>
      </pc:sldChg>
      <pc:sldChg chg="del mod modShow">
        <pc:chgData name="Samuel Huang" userId="3d14d3036a2a384b" providerId="LiveId" clId="{59E6B3E9-767B-4360-86A1-1FE5E3B4620C}" dt="2026-05-13T09:46:22.072" v="255" actId="47"/>
        <pc:sldMkLst>
          <pc:docMk/>
          <pc:sldMk cId="0" sldId="261"/>
        </pc:sldMkLst>
      </pc:sldChg>
      <pc:sldChg chg="modSp mod ord">
        <pc:chgData name="Samuel Huang" userId="3d14d3036a2a384b" providerId="LiveId" clId="{59E6B3E9-767B-4360-86A1-1FE5E3B4620C}" dt="2026-05-08T06:17:27.165" v="157" actId="403"/>
        <pc:sldMkLst>
          <pc:docMk/>
          <pc:sldMk cId="0" sldId="262"/>
        </pc:sldMkLst>
        <pc:spChg chg="mod">
          <ac:chgData name="Samuel Huang" userId="3d14d3036a2a384b" providerId="LiveId" clId="{59E6B3E9-767B-4360-86A1-1FE5E3B4620C}" dt="2026-05-08T06:15:42.475" v="154" actId="404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17:27.165" v="157" actId="403"/>
          <ac:spMkLst>
            <pc:docMk/>
            <pc:sldMk cId="0" sldId="262"/>
            <ac:spMk id="37" creationId="{00000000-0000-0000-0000-000000000000}"/>
          </ac:spMkLst>
        </pc:spChg>
      </pc:sldChg>
      <pc:sldChg chg="del mod modShow">
        <pc:chgData name="Samuel Huang" userId="3d14d3036a2a384b" providerId="LiveId" clId="{59E6B3E9-767B-4360-86A1-1FE5E3B4620C}" dt="2026-05-13T09:46:22.072" v="255" actId="47"/>
        <pc:sldMkLst>
          <pc:docMk/>
          <pc:sldMk cId="0" sldId="263"/>
        </pc:sldMkLst>
      </pc:sldChg>
      <pc:sldChg chg="del mod modShow">
        <pc:chgData name="Samuel Huang" userId="3d14d3036a2a384b" providerId="LiveId" clId="{59E6B3E9-767B-4360-86A1-1FE5E3B4620C}" dt="2026-05-13T09:46:22.072" v="255" actId="47"/>
        <pc:sldMkLst>
          <pc:docMk/>
          <pc:sldMk cId="0" sldId="264"/>
        </pc:sldMkLst>
      </pc:sldChg>
      <pc:sldChg chg="del mod modShow">
        <pc:chgData name="Samuel Huang" userId="3d14d3036a2a384b" providerId="LiveId" clId="{59E6B3E9-767B-4360-86A1-1FE5E3B4620C}" dt="2026-05-13T09:46:22.072" v="255" actId="47"/>
        <pc:sldMkLst>
          <pc:docMk/>
          <pc:sldMk cId="0" sldId="265"/>
        </pc:sldMkLst>
      </pc:sldChg>
      <pc:sldChg chg="addSp delSp modSp mod ord">
        <pc:chgData name="Samuel Huang" userId="3d14d3036a2a384b" providerId="LiveId" clId="{59E6B3E9-767B-4360-86A1-1FE5E3B4620C}" dt="2026-05-07T23:32:20.997" v="62" actId="22"/>
        <pc:sldMkLst>
          <pc:docMk/>
          <pc:sldMk cId="0" sldId="266"/>
        </pc:sldMkLst>
        <pc:spChg chg="mod">
          <ac:chgData name="Samuel Huang" userId="3d14d3036a2a384b" providerId="LiveId" clId="{59E6B3E9-767B-4360-86A1-1FE5E3B4620C}" dt="2026-05-07T23:30:40.209" v="54" actId="2711"/>
          <ac:spMkLst>
            <pc:docMk/>
            <pc:sldMk cId="0" sldId="266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07T23:29:27.964" v="40" actId="20577"/>
          <ac:spMkLst>
            <pc:docMk/>
            <pc:sldMk cId="0" sldId="266"/>
            <ac:spMk id="11" creationId="{00000000-0000-0000-0000-000000000000}"/>
          </ac:spMkLst>
        </pc:spChg>
      </pc:sldChg>
      <pc:sldChg chg="modSp add del mod ord modShow">
        <pc:chgData name="Samuel Huang" userId="3d14d3036a2a384b" providerId="LiveId" clId="{59E6B3E9-767B-4360-86A1-1FE5E3B4620C}" dt="2026-05-13T09:46:22.072" v="255" actId="47"/>
        <pc:sldMkLst>
          <pc:docMk/>
          <pc:sldMk cId="4268425022" sldId="267"/>
        </pc:sldMkLst>
      </pc:sldChg>
      <pc:sldChg chg="modSp add mod setBg modNotesTx">
        <pc:chgData name="Samuel Huang" userId="3d14d3036a2a384b" providerId="LiveId" clId="{59E6B3E9-767B-4360-86A1-1FE5E3B4620C}" dt="2026-05-12T03:38:01.625" v="227" actId="20577"/>
        <pc:sldMkLst>
          <pc:docMk/>
          <pc:sldMk cId="0" sldId="268"/>
        </pc:sldMkLst>
        <pc:spChg chg="mod">
          <ac:chgData name="Samuel Huang" userId="3d14d3036a2a384b" providerId="LiveId" clId="{59E6B3E9-767B-4360-86A1-1FE5E3B4620C}" dt="2026-05-08T06:18:32.529" v="172"/>
          <ac:spMkLst>
            <pc:docMk/>
            <pc:sldMk cId="0" sldId="268"/>
            <ac:spMk id="4" creationId="{00000000-0000-0000-0000-000000000000}"/>
          </ac:spMkLst>
        </pc:spChg>
        <pc:spChg chg="mod">
          <ac:chgData name="Samuel Huang" userId="3d14d3036a2a384b" providerId="LiveId" clId="{59E6B3E9-767B-4360-86A1-1FE5E3B4620C}" dt="2026-05-08T06:22:11.743" v="1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muel Huang" userId="3d14d3036a2a384b" providerId="LiveId" clId="{59E6B3E9-767B-4360-86A1-1FE5E3B4620C}" dt="2026-05-12T03:35:14.965" v="224" actId="5793"/>
          <ac:spMkLst>
            <pc:docMk/>
            <pc:sldMk cId="0" sldId="268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48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LEAN </a:t>
            </a:r>
            <a:r>
              <a:rPr lang="zh-TW" altLang="en-US"/>
              <a:t>管理不是單純節省成本，而是透過流程標準化、資料正確化與持續改善，讓組織用更少的浪費完成更多有價值的工作。</a:t>
            </a:r>
            <a:br>
              <a:rPr lang="zh-TW" altLang="en-US"/>
            </a:br>
            <a:r>
              <a:rPr lang="zh-TW" altLang="en-US"/>
              <a:t>對企業來說，</a:t>
            </a:r>
            <a:r>
              <a:rPr lang="en-US" altLang="zh-TW"/>
              <a:t>LEAN </a:t>
            </a:r>
            <a:r>
              <a:rPr lang="zh-TW" altLang="en-US"/>
              <a:t>的重點是讓問題被看見、流程被改善、數據能決策、工作能標準化。</a:t>
            </a:r>
            <a:br>
              <a:rPr lang="en-US" altLang="zh-TW"/>
            </a:br>
            <a:br>
              <a:rPr lang="en-US" altLang="zh-TW"/>
            </a:br>
            <a:r>
              <a:rPr lang="zh-TW" altLang="en-US" b="1"/>
              <a:t>簡單結論</a:t>
            </a:r>
          </a:p>
          <a:p>
            <a:r>
              <a:rPr lang="en-US" altLang="zh-TW" b="1"/>
              <a:t>LEAN </a:t>
            </a:r>
            <a:r>
              <a:rPr lang="zh-TW" altLang="en-US" b="1"/>
              <a:t>管理的重點有四個：</a:t>
            </a:r>
            <a:endParaRPr lang="zh-TW" altLang="en-US"/>
          </a:p>
          <a:p>
            <a:r>
              <a:rPr lang="zh-TW" altLang="en-US" b="1"/>
              <a:t>看見浪費</a:t>
            </a:r>
            <a:r>
              <a:rPr lang="zh-TW" altLang="en-US"/>
              <a:t> </a:t>
            </a:r>
          </a:p>
          <a:p>
            <a:r>
              <a:rPr lang="zh-TW" altLang="en-US" b="1"/>
              <a:t>改善流程</a:t>
            </a:r>
            <a:r>
              <a:rPr lang="zh-TW" altLang="en-US"/>
              <a:t> </a:t>
            </a:r>
          </a:p>
          <a:p>
            <a:r>
              <a:rPr lang="zh-TW" altLang="en-US" b="1"/>
              <a:t>標準化作業</a:t>
            </a:r>
            <a:r>
              <a:rPr lang="zh-TW" altLang="en-US"/>
              <a:t> </a:t>
            </a:r>
          </a:p>
          <a:p>
            <a:r>
              <a:rPr lang="zh-TW" altLang="en-US" b="1"/>
              <a:t>用數據持續優化</a:t>
            </a:r>
            <a:r>
              <a:rPr lang="zh-TW" altLang="en-US"/>
              <a:t> </a:t>
            </a:r>
          </a:p>
          <a:p>
            <a:r>
              <a:rPr lang="zh-TW" altLang="en-US"/>
              <a:t>套用在系統開發與營運管理上，就是：</a:t>
            </a:r>
          </a:p>
          <a:p>
            <a:r>
              <a:rPr lang="zh-TW" altLang="en-US" b="1"/>
              <a:t>把混亂的流程變清楚，把重複的工作自動化，把錯誤的資料修正，把主管需要的資訊即時呈現。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583680" y="3291840"/>
            <a:ext cx="2560320" cy="18516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7498080" y="3840480"/>
            <a:ext cx="1645920" cy="1303020"/>
          </a:xfrm>
          <a:prstGeom prst="rect">
            <a:avLst/>
          </a:prstGeom>
          <a:solidFill>
            <a:srgbClr val="4BA8E8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52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集團</a:t>
            </a:r>
            <a:r>
              <a:rPr lang="en-US" sz="52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Portal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4BA8E8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管理決策平台</a:t>
            </a:r>
            <a:endParaRPr lang="en-US" sz="3800" dirty="0">
              <a:latin typeface="華康明體 Std W9" panose="02020900000000000000" pitchFamily="18" charset="-120"/>
              <a:ea typeface="華康明體 Std W9" panose="02020900000000000000" pitchFamily="18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670048"/>
            <a:ext cx="5943600" cy="54864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7CC4F0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Calibri" pitchFamily="34" charset="-120"/>
              </a:rPr>
              <a:t>從資料彙整到管理決策的</a:t>
            </a:r>
            <a:r>
              <a:rPr lang="zh-TW" altLang="en-US" sz="2200">
                <a:solidFill>
                  <a:srgbClr val="7CC4F0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Calibri" pitchFamily="34" charset="-120"/>
              </a:rPr>
              <a:t>集團管理平台</a:t>
            </a:r>
            <a:endParaRPr lang="en-US" sz="2200" dirty="0">
              <a:solidFill>
                <a:srgbClr val="7CC4F0"/>
              </a:solidFill>
              <a:latin typeface="華康明體 Std W9" panose="02020900000000000000" pitchFamily="18" charset="-120"/>
              <a:ea typeface="華康明體 Std W9" panose="02020900000000000000" pitchFamily="18" charset="-120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v1.59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  飯店 </a:t>
            </a:r>
            <a:r>
              <a:rPr lang="en-US" sz="14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商場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｜  10+ 模組  ｜  30 分鐘自動同步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337924-9F8A-28D2-30D4-8826249116BD}"/>
              </a:ext>
            </a:extLst>
          </p:cNvPr>
          <p:cNvSpPr/>
          <p:nvPr/>
        </p:nvSpPr>
        <p:spPr>
          <a:xfrm>
            <a:off x="4863882" y="4663440"/>
            <a:ext cx="17197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TW" sz="20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Huang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系統核心價值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altLang="zh-TW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-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五大管理升級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300" b="1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集團</a:t>
            </a:r>
            <a:r>
              <a:rPr lang="en-US" sz="130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3 / 11</a:t>
            </a:r>
            <a:endParaRPr lang="en-US" sz="1100" dirty="0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6F7874DE-F661-1F42-788C-B62C6872BA7F}"/>
              </a:ext>
            </a:extLst>
          </p:cNvPr>
          <p:cNvGrpSpPr/>
          <p:nvPr/>
        </p:nvGrpSpPr>
        <p:grpSpPr>
          <a:xfrm>
            <a:off x="402336" y="1508760"/>
            <a:ext cx="8339328" cy="2267712"/>
            <a:chOff x="256032" y="1508760"/>
            <a:chExt cx="8339328" cy="2267712"/>
          </a:xfrm>
        </p:grpSpPr>
        <p:sp>
          <p:nvSpPr>
            <p:cNvPr id="9" name="Shape 7"/>
            <p:cNvSpPr/>
            <p:nvPr/>
          </p:nvSpPr>
          <p:spPr>
            <a:xfrm>
              <a:off x="256032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56032" y="1508760"/>
              <a:ext cx="1609344" cy="91440"/>
            </a:xfrm>
            <a:prstGeom prst="rect">
              <a:avLst/>
            </a:prstGeom>
            <a:solidFill>
              <a:srgbClr val="4BA8E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Shape 9"/>
            <p:cNvSpPr/>
            <p:nvPr/>
          </p:nvSpPr>
          <p:spPr>
            <a:xfrm>
              <a:off x="420624" y="1709928"/>
              <a:ext cx="493776" cy="493776"/>
            </a:xfrm>
            <a:prstGeom prst="ellipse">
              <a:avLst/>
            </a:prstGeom>
            <a:solidFill>
              <a:srgbClr val="4BA8E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20624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↑↑</a:t>
              </a:r>
              <a:endParaRPr lang="en-US" sz="1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7472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即時整合</a:t>
              </a:r>
              <a:endParaRPr lang="en-US" sz="15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47472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每 30 分鐘自動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從 Ragic 同步，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永遠是最新狀態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938528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Shape 14"/>
            <p:cNvSpPr/>
            <p:nvPr/>
          </p:nvSpPr>
          <p:spPr>
            <a:xfrm>
              <a:off x="1938528" y="1508760"/>
              <a:ext cx="1609344" cy="91440"/>
            </a:xfrm>
            <a:prstGeom prst="rect">
              <a:avLst/>
            </a:prstGeom>
            <a:solidFill>
              <a:srgbClr val="27AE60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Shape 15"/>
            <p:cNvSpPr/>
            <p:nvPr/>
          </p:nvSpPr>
          <p:spPr>
            <a:xfrm>
              <a:off x="2103120" y="1709928"/>
              <a:ext cx="493776" cy="493776"/>
            </a:xfrm>
            <a:prstGeom prst="ellipse">
              <a:avLst/>
            </a:prstGeom>
            <a:solidFill>
              <a:srgbClr val="27AE60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2103120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★</a:t>
              </a:r>
              <a:endParaRPr lang="en-US" sz="18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2029968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自動統計</a:t>
              </a:r>
              <a:endParaRPr lang="en-US" sz="15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029968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完成率、工時、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案件數自動計算，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不再人工加總</a:t>
              </a:r>
              <a:endParaRPr lang="en-US" sz="13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621024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Shape 20"/>
            <p:cNvSpPr/>
            <p:nvPr/>
          </p:nvSpPr>
          <p:spPr>
            <a:xfrm>
              <a:off x="3621024" y="1508760"/>
              <a:ext cx="1609344" cy="91440"/>
            </a:xfrm>
            <a:prstGeom prst="rect">
              <a:avLst/>
            </a:prstGeom>
            <a:solidFill>
              <a:srgbClr val="E67E22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785616" y="1709928"/>
              <a:ext cx="493776" cy="493776"/>
            </a:xfrm>
            <a:prstGeom prst="ellipse">
              <a:avLst/>
            </a:prstGeom>
            <a:solidFill>
              <a:srgbClr val="E67E22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3785616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◆</a:t>
              </a:r>
              <a:endParaRPr lang="en-US" sz="18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3712464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視覺呈現</a:t>
              </a:r>
              <a:endParaRPr lang="en-US" sz="15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3712464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KPI 卡片、圖表、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比較表，數字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一目了然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303520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5303520" y="1508760"/>
              <a:ext cx="1609344" cy="91440"/>
            </a:xfrm>
            <a:prstGeom prst="rect">
              <a:avLst/>
            </a:prstGeom>
            <a:solidFill>
              <a:srgbClr val="E74C3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5468112" y="1709928"/>
              <a:ext cx="493776" cy="493776"/>
            </a:xfrm>
            <a:prstGeom prst="ellipse">
              <a:avLst/>
            </a:prstGeom>
            <a:solidFill>
              <a:srgbClr val="E74C3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5468112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!</a:t>
              </a:r>
              <a:endParaRPr lang="en-US" sz="18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394960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主動預警</a:t>
              </a:r>
              <a:endParaRPr lang="en-US" sz="15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5394960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異常情況自動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標示紅色警示，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不靠感覺管理</a:t>
              </a:r>
              <a:endParaRPr lang="en-US" sz="13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6986016" y="1508760"/>
              <a:ext cx="1609344" cy="226771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6986016" y="1508760"/>
              <a:ext cx="1609344" cy="91440"/>
            </a:xfrm>
            <a:prstGeom prst="rect">
              <a:avLst/>
            </a:prstGeom>
            <a:solidFill>
              <a:srgbClr val="6D2E46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7150608" y="1709928"/>
              <a:ext cx="493776" cy="493776"/>
            </a:xfrm>
            <a:prstGeom prst="ellipse">
              <a:avLst/>
            </a:prstGeom>
            <a:solidFill>
              <a:srgbClr val="6D2E46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7150608" y="1709928"/>
              <a:ext cx="493776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=</a:t>
              </a:r>
              <a:endParaRPr lang="en-US" sz="18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077456" y="2258568"/>
              <a:ext cx="142646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B3A5C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標準化管理</a:t>
              </a:r>
              <a:endParaRPr lang="en-US" sz="15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7077456" y="2624328"/>
              <a:ext cx="1426464" cy="10607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所有場域統一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管理框架，決策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基準一致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已完成模組一覽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altLang="zh-TW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-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涵蓋集團三大管理場域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zh-TW" altLang="en-US" sz="1300" b="1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集團 </a:t>
            </a:r>
            <a:r>
              <a:rPr lang="en-US" sz="130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5 / 11</a:t>
            </a:r>
            <a:endParaRPr lang="en-US" sz="1100" dirty="0"/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3CD23B4B-299E-F684-3325-BB1922348743}"/>
              </a:ext>
            </a:extLst>
          </p:cNvPr>
          <p:cNvGrpSpPr/>
          <p:nvPr/>
        </p:nvGrpSpPr>
        <p:grpSpPr>
          <a:xfrm>
            <a:off x="155448" y="777240"/>
            <a:ext cx="8833104" cy="4005072"/>
            <a:chOff x="256032" y="777240"/>
            <a:chExt cx="8833104" cy="4005072"/>
          </a:xfrm>
        </p:grpSpPr>
        <p:sp>
          <p:nvSpPr>
            <p:cNvPr id="9" name="Shape 7"/>
            <p:cNvSpPr/>
            <p:nvPr/>
          </p:nvSpPr>
          <p:spPr>
            <a:xfrm>
              <a:off x="256032" y="777240"/>
              <a:ext cx="2834640" cy="4005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256032" y="777240"/>
              <a:ext cx="2834640" cy="530352"/>
            </a:xfrm>
            <a:prstGeom prst="rect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65760" y="777240"/>
              <a:ext cx="2615184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🏨  飯店管理</a:t>
              </a:r>
              <a:endParaRPr lang="en-US" sz="16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9184" y="134416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384048" y="149961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85216" y="13716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飯店管理 Dashboard</a:t>
              </a:r>
              <a:endParaRPr lang="en-US" sz="13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84048" y="204825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85216" y="192024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工務報修管理</a:t>
              </a:r>
              <a:endParaRPr lang="en-US" sz="13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29184" y="244144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384048" y="259689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585216" y="246888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飯店週期保養表</a:t>
              </a:r>
              <a:endParaRPr lang="en-US" sz="13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84048" y="314553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85216" y="301752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飯店每日巡檢</a:t>
              </a:r>
              <a:endParaRPr lang="en-US" sz="13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29184" y="353872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384048" y="369417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585216" y="356616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IHG 客房保養</a:t>
              </a:r>
              <a:endParaRPr lang="en-US" sz="13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84048" y="4242816"/>
              <a:ext cx="146304" cy="146304"/>
            </a:xfrm>
            <a:prstGeom prst="ellipse">
              <a:avLst/>
            </a:prstGeom>
            <a:solidFill>
              <a:srgbClr val="1B3A5C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585216" y="41148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保全巡檢（開發中）</a:t>
              </a:r>
              <a:endParaRPr lang="en-US" sz="13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255264" y="777240"/>
              <a:ext cx="2834640" cy="4005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Shape 26"/>
            <p:cNvSpPr/>
            <p:nvPr/>
          </p:nvSpPr>
          <p:spPr>
            <a:xfrm>
              <a:off x="3255264" y="777240"/>
              <a:ext cx="2834640" cy="530352"/>
            </a:xfrm>
            <a:prstGeom prst="rect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3364992" y="777240"/>
              <a:ext cx="2615184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🏬  商場管理</a:t>
              </a:r>
              <a:endParaRPr lang="en-US" sz="16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328416" y="134416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1" name="Shape 29"/>
            <p:cNvSpPr/>
            <p:nvPr/>
          </p:nvSpPr>
          <p:spPr>
            <a:xfrm>
              <a:off x="3383280" y="149961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3584448" y="13716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商場管理 Dashboard</a:t>
              </a:r>
              <a:endParaRPr lang="en-US" sz="13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383280" y="204825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3584448" y="192024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工務報修管理</a:t>
              </a:r>
              <a:endParaRPr lang="en-US" sz="130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3328416" y="244144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6" name="Shape 34"/>
            <p:cNvSpPr/>
            <p:nvPr/>
          </p:nvSpPr>
          <p:spPr>
            <a:xfrm>
              <a:off x="3383280" y="259689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3584448" y="246888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商場例行維護</a:t>
              </a:r>
              <a:endParaRPr lang="en-US" sz="13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3383280" y="314553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3584448" y="301752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全棟例行維護</a:t>
              </a:r>
              <a:endParaRPr lang="en-US" sz="13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328416" y="353872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Shape 39"/>
            <p:cNvSpPr/>
            <p:nvPr/>
          </p:nvSpPr>
          <p:spPr>
            <a:xfrm>
              <a:off x="3383280" y="369417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3584448" y="356616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商場工務巡檢</a:t>
              </a:r>
              <a:endParaRPr lang="en-US" sz="130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383280" y="4242816"/>
              <a:ext cx="146304" cy="146304"/>
            </a:xfrm>
            <a:prstGeom prst="ellipse">
              <a:avLst/>
            </a:prstGeom>
            <a:solidFill>
              <a:srgbClr val="28609B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 42"/>
            <p:cNvSpPr/>
            <p:nvPr/>
          </p:nvSpPr>
          <p:spPr>
            <a:xfrm>
              <a:off x="3584448" y="41148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整棟巡檢</a:t>
              </a:r>
              <a:endParaRPr lang="en-US" sz="130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6254496" y="777240"/>
              <a:ext cx="2834640" cy="400507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270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Shape 44"/>
            <p:cNvSpPr/>
            <p:nvPr/>
          </p:nvSpPr>
          <p:spPr>
            <a:xfrm>
              <a:off x="6254496" y="777240"/>
              <a:ext cx="2834640" cy="530352"/>
            </a:xfrm>
            <a:prstGeom prst="rect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364224" y="777240"/>
              <a:ext cx="2615184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 Black" pitchFamily="34" charset="-120"/>
                </a:rPr>
                <a:t>⚙️  管理工具</a:t>
              </a:r>
              <a:endParaRPr lang="en-US" sz="16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6327648" y="134416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6382512" y="149961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6583680" y="13716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集團決策駕駛艙</a:t>
              </a:r>
              <a:endParaRPr lang="en-US" sz="130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6382512" y="204825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Text 50"/>
            <p:cNvSpPr/>
            <p:nvPr/>
          </p:nvSpPr>
          <p:spPr>
            <a:xfrm>
              <a:off x="6583680" y="192024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集團工務 Dashboard</a:t>
              </a:r>
              <a:endParaRPr lang="en-US" sz="13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6327648" y="244144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6382512" y="259689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6583680" y="246888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超級行事曆（全模組）</a:t>
              </a:r>
              <a:endParaRPr lang="en-US" sz="13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6382512" y="314553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6583680" y="301752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選單管理（拖拉排序）</a:t>
              </a:r>
              <a:endParaRPr lang="en-US" sz="13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327648" y="3538728"/>
              <a:ext cx="2688336" cy="530352"/>
            </a:xfrm>
            <a:prstGeom prst="rect">
              <a:avLst/>
            </a:prstGeom>
            <a:solidFill>
              <a:srgbClr val="F0F4F8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" name="Shape 57"/>
            <p:cNvSpPr/>
            <p:nvPr/>
          </p:nvSpPr>
          <p:spPr>
            <a:xfrm>
              <a:off x="6382512" y="369417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0" name="Text 58"/>
            <p:cNvSpPr/>
            <p:nvPr/>
          </p:nvSpPr>
          <p:spPr>
            <a:xfrm>
              <a:off x="6583680" y="356616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角色與權限設定</a:t>
              </a:r>
              <a:endParaRPr lang="en-US" sz="13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6382512" y="4242816"/>
              <a:ext cx="146304" cy="146304"/>
            </a:xfrm>
            <a:prstGeom prst="ellipse">
              <a:avLst/>
            </a:prstGeom>
            <a:solidFill>
              <a:srgbClr val="5A3E8A"/>
            </a:solidFill>
            <a:ln/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6583680" y="4114800"/>
              <a:ext cx="23774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Ragic 表單對照查詢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7 / 11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2560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Decision Cockpit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異常主動浮現，管理不靠感覺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444752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75488" y="1572768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未完成件數 &gt;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需立即跟進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5394960" cy="594360"/>
          </a:xfrm>
          <a:prstGeom prst="rect">
            <a:avLst/>
          </a:prstGeom>
          <a:solidFill>
            <a:srgbClr val="162F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75488" y="2267712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176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完成率 &lt; 60%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68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嚴重落後需介入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75488" y="2962656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60120" y="28712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完成率 60%–80%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63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需密切監控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96265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7472" y="3529584"/>
            <a:ext cx="5394960" cy="594360"/>
          </a:xfrm>
          <a:prstGeom prst="rect">
            <a:avLst/>
          </a:prstGeom>
          <a:solidFill>
            <a:srgbClr val="162F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75488" y="3657600"/>
            <a:ext cx="292608" cy="2926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601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單一工項占比 &gt; 60%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8587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資源過度集中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4224528"/>
            <a:ext cx="5394960" cy="59436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75488" y="4352544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960120" y="4261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人員月工時 &gt; 80h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45537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人員負荷過重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435254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256032"/>
            <a:ext cx="2834640" cy="4617720"/>
          </a:xfrm>
          <a:prstGeom prst="rect">
            <a:avLst/>
          </a:prstGeom>
          <a:solidFill>
            <a:srgbClr val="1B3A5C"/>
          </a:solidFill>
          <a:ln/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144768" y="411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無異常時顯示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84848" y="1005840"/>
            <a:ext cx="1335024" cy="969264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784848" y="1005840"/>
            <a:ext cx="1335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OK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44768" y="199339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本月無異常警示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44768" y="2651760"/>
            <a:ext cx="2615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系統主動替主管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做判斷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不需要人工查找問題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44768" y="411480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從被動管理 → 主動管理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1F48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40080" y="2743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0" dirty="0">
                <a:solidFill>
                  <a:srgbClr val="4BA8E8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800" b="1">
                <a:solidFill>
                  <a:srgbClr val="FFFFFF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集團</a:t>
            </a:r>
            <a:r>
              <a:rPr lang="en-US" sz="28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Portal </a:t>
            </a:r>
            <a:r>
              <a:rPr lang="en-US" sz="2800" b="1" dirty="0">
                <a:solidFill>
                  <a:srgbClr val="FFFFFF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不只是資料查詢系統</a:t>
            </a:r>
            <a:r>
              <a:rPr lang="en-US" sz="2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609344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BA8E8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而是將日常作業資料轉化為</a:t>
            </a:r>
            <a:endParaRPr lang="en-US" sz="2800" dirty="0">
              <a:latin typeface="華康明體 Std W9" panose="02020900000000000000" pitchFamily="18" charset="-120"/>
              <a:ea typeface="華康明體 Std W9" panose="02020900000000000000" pitchFamily="18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華康明體 Std W9" panose="02020900000000000000" pitchFamily="18" charset="-120"/>
                <a:ea typeface="華康明體 Std W9" panose="02020900000000000000" pitchFamily="18" charset="-120"/>
                <a:cs typeface="Arial Black" pitchFamily="34" charset="-120"/>
              </a:rPr>
              <a:t>管理決策依據的平台。</a:t>
            </a:r>
            <a:endParaRPr lang="en-US" sz="2800" dirty="0">
              <a:latin typeface="華康明體 Std W9" panose="02020900000000000000" pitchFamily="18" charset="-120"/>
              <a:ea typeface="華康明體 Std W9" panose="02020900000000000000" pitchFamily="18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5029200" cy="45720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系統已完成，現在就可以使用。</a:t>
            </a:r>
            <a:endParaRPr lang="en-US" sz="1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歡迎提出希望新增的管理視角，我們將持續擴充。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4498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v1.57  ｜  10+ 模組  ｜  飯店 </a:t>
            </a:r>
            <a:r>
              <a:rPr lang="en-US" sz="12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商場  ｜  Portal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系統後續管理課題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altLang="zh-TW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-</a:t>
            </a:r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 </a:t>
            </a:r>
            <a:r>
              <a:rPr 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從建置走向治理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zh-TW" altLang="en-US" sz="1300" b="1">
                <a:solidFill>
                  <a:srgbClr val="7CC4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 pitchFamily="34" charset="-120"/>
              </a:rPr>
              <a:t>集團 </a:t>
            </a:r>
            <a:r>
              <a:rPr lang="en-US" sz="1300">
                <a:solidFill>
                  <a:srgbClr val="7C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0" y="5001768"/>
            <a:ext cx="2286000" cy="14173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</a:rPr>
              <a:t>11 / 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749808"/>
            <a:ext cx="4187952" cy="310896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56032" y="749808"/>
            <a:ext cx="128016" cy="310896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749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資料層課題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" y="1078992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1188720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657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1115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資料品質與正確性不足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" y="1371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資料若不準，Dashboard 再漂亮也無法支援決策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1691640"/>
            <a:ext cx="4187952" cy="548640"/>
          </a:xfrm>
          <a:prstGeom prst="rect">
            <a:avLst/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1801368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" y="17282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欄位定義與填寫標準不一致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1984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同一欄位在不同模組可能有不同解讀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304288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414016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6576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6384" y="2340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工項與檢查項目過多</a:t>
            </a:r>
            <a:r>
              <a:rPr lang="en-US" altLang="zh-TW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(</a:t>
            </a:r>
            <a:r>
              <a:rPr lang="en-US" altLang="zh-TW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LEAN –</a:t>
            </a:r>
            <a:r>
              <a:rPr lang="zh-TW" altLang="en-US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精實管理</a:t>
            </a:r>
            <a:r>
              <a:rPr lang="en-US" altLang="zh-TW" sz="1300" b="1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6384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第一線負擔高，需依重要性分類、分級、簡化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6032" y="2916936"/>
            <a:ext cx="4187952" cy="548640"/>
          </a:xfrm>
          <a:prstGeom prst="rect">
            <a:avLst/>
          </a:prstGeom>
          <a:solidFill>
            <a:srgbClr val="EEF4FB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3026664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6576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" y="2953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填寫責任需明確化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" y="3209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需定義填寫人、確認人與異常修正機制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187952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365760" y="3639312"/>
            <a:ext cx="329184" cy="329184"/>
          </a:xfrm>
          <a:prstGeom prst="ellipse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36576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6384" y="35661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工時與完成率計算規則不一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" y="3822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需建立一致標準，否則數據失真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0016" y="749808"/>
            <a:ext cx="4187952" cy="310896"/>
          </a:xfrm>
          <a:prstGeom prst="rect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4700016" y="749808"/>
            <a:ext cx="128016" cy="310896"/>
          </a:xfrm>
          <a:prstGeom prst="rect">
            <a:avLst/>
          </a:prstGeom>
          <a:solidFill>
            <a:srgbClr val="A07F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901184" y="749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管理層課題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00016" y="1078992"/>
            <a:ext cx="418795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4809744" y="1353312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809744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1188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異常資料缺少提醒機制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30368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系統應協助主管看見問題，而不只是列出資料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0016" y="2029968"/>
            <a:ext cx="4187952" cy="877824"/>
          </a:xfrm>
          <a:prstGeom prst="rect">
            <a:avLst/>
          </a:prstGeom>
          <a:solidFill>
            <a:srgbClr val="F3EE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4809744" y="2304288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809744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30368" y="213969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作業流程尚需標準化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30368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各模組應有一致的執行、回報、結案邏輯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00016" y="2980944"/>
            <a:ext cx="4187952" cy="87782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4809744" y="3255264"/>
            <a:ext cx="329184" cy="329184"/>
          </a:xfrm>
          <a:prstGeom prst="ellipse">
            <a:avLst/>
          </a:prstGeom>
          <a:solidFill>
            <a:srgbClr val="5A3E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4809744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8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230368" y="30906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3E8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Black" pitchFamily="34" charset="-120"/>
              </a:rPr>
              <a:t>系統治理機制需建立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30368" y="34381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從開發系統，進一步走向資料治理與管理治理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6032" y="4224528"/>
            <a:ext cx="8631936" cy="621792"/>
          </a:xfrm>
          <a:prstGeom prst="rect">
            <a:avLst/>
          </a:prstGeom>
          <a:solidFill>
            <a:srgbClr val="0D254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4"/>
          <p:cNvSpPr/>
          <p:nvPr/>
        </p:nvSpPr>
        <p:spPr>
          <a:xfrm>
            <a:off x="256032" y="4224528"/>
            <a:ext cx="164592" cy="621792"/>
          </a:xfrm>
          <a:prstGeom prst="rect">
            <a:avLst/>
          </a:prstGeom>
          <a:solidFill>
            <a:srgbClr val="4BA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530352" y="4224528"/>
            <a:ext cx="8302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系統建置完成只是第一步，真正的管理價值在於讓資料更正確、欄位更標準、流程更一致，並讓主管能夠快速看見問題與決策方向。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393</Words>
  <Application>Microsoft Office PowerPoint</Application>
  <PresentationFormat>如螢幕大小 (16:9)</PresentationFormat>
  <Paragraphs>133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華康明體 Std W9</vt:lpstr>
      <vt:lpstr>微軟正黑體</vt:lpstr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Ragic Portal 管理決策平台</dc:title>
  <dc:subject>高階主管簡報</dc:subject>
  <dc:creator>Ragic Portal</dc:creator>
  <cp:lastModifiedBy>Samuel Huang</cp:lastModifiedBy>
  <cp:revision>2</cp:revision>
  <dcterms:created xsi:type="dcterms:W3CDTF">2026-05-07T23:17:35Z</dcterms:created>
  <dcterms:modified xsi:type="dcterms:W3CDTF">2026-05-13T09:46:26Z</dcterms:modified>
</cp:coreProperties>
</file>