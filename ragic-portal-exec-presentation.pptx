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3291840"/>
            <a:ext cx="2560320" cy="1851660"/>
          </a:xfrm>
          <a:prstGeom prst="rect">
            <a:avLst/>
          </a:prstGeom>
          <a:solidFill>
            <a:srgbClr val="1F4872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840480"/>
            <a:ext cx="1645920" cy="1303020"/>
          </a:xfrm>
          <a:prstGeom prst="rect">
            <a:avLst/>
          </a:prstGeom>
          <a:solidFill>
            <a:srgbClr val="4BA8E8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822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Ragic Portal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4BA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管理決策平台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22960" y="2670048"/>
            <a:ext cx="5943600" cy="54864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34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從資料彙整到管理決策的一站式平台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v1.57  ｜  飯店 × 商場 × 保全  ｜  10+ 模組  ｜  30 分鐘自動同步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為什麼需要這套系統？——導入背景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Portal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001768"/>
            <a:ext cx="2286000" cy="141732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2 / 12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822960"/>
            <a:ext cx="3840480" cy="393192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22960"/>
            <a:ext cx="3840480" cy="47548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822960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 導入前的管理痛點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11480" y="14173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資料分散在 Ragic、Excel、人工彙整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" y="20116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管理者難以即時掌握整體狀況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26060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跨部門、跨場域缺乏統一視角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" y="32004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月報前需大量人工整理與加總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37947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主管詢問時無法即時提供數字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0" y="822960"/>
            <a:ext cx="3840480" cy="393192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0" y="822960"/>
            <a:ext cx="3840480" cy="47548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5102352" y="822960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導入後的管理樣貌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120640" y="14173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所有資料即時整合至 Portal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20640" y="20116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主管隨時開瀏覽器即可查看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20640" y="26060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飯店 × 商場統一管理視角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20640" y="32004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數字自動計算，月報一鍵呈現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120640" y="37947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異常主動警示，不再靠感覺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160520" y="24688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4BA8E8"/>
                </a:solidFill>
              </a:rPr>
              <a:t>➜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系統核心價值——五大管理升級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Portal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001768"/>
            <a:ext cx="2286000" cy="141732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3 / 12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508760"/>
            <a:ext cx="1609344" cy="22677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508760"/>
            <a:ext cx="1609344" cy="91440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11" name="Shape 9"/>
          <p:cNvSpPr/>
          <p:nvPr/>
        </p:nvSpPr>
        <p:spPr>
          <a:xfrm>
            <a:off x="420624" y="1709928"/>
            <a:ext cx="493776" cy="493776"/>
          </a:xfrm>
          <a:prstGeom prst="ellipse">
            <a:avLst/>
          </a:prstGeom>
          <a:solidFill>
            <a:srgbClr val="4BA8E8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" y="17099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↑↑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" y="225856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即時整合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" y="2624328"/>
            <a:ext cx="14264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30 分鐘自動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Ragic 同步，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永遠是最新狀態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938528" y="1508760"/>
            <a:ext cx="1609344" cy="22677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38528" y="1508760"/>
            <a:ext cx="1609344" cy="914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Shape 15"/>
          <p:cNvSpPr/>
          <p:nvPr/>
        </p:nvSpPr>
        <p:spPr>
          <a:xfrm>
            <a:off x="2103120" y="1709928"/>
            <a:ext cx="493776" cy="49377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2103120" y="17099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★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29968" y="225856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自動統計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029968" y="2624328"/>
            <a:ext cx="14264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完成率、工時、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案件數自動計算，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不再人工加總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21024" y="1508760"/>
            <a:ext cx="1609344" cy="22677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21024" y="1508760"/>
            <a:ext cx="1609344" cy="914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3" name="Shape 21"/>
          <p:cNvSpPr/>
          <p:nvPr/>
        </p:nvSpPr>
        <p:spPr>
          <a:xfrm>
            <a:off x="3785616" y="1709928"/>
            <a:ext cx="493776" cy="49377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3785616" y="17099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◆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712464" y="225856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視覺呈現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712464" y="2624328"/>
            <a:ext cx="14264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卡片、圖表、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比較表，數字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一目了然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303520" y="1508760"/>
            <a:ext cx="1609344" cy="22677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03520" y="1508760"/>
            <a:ext cx="1609344" cy="914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9" name="Shape 27"/>
          <p:cNvSpPr/>
          <p:nvPr/>
        </p:nvSpPr>
        <p:spPr>
          <a:xfrm>
            <a:off x="5468112" y="1709928"/>
            <a:ext cx="493776" cy="493776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0" name="Text 28"/>
          <p:cNvSpPr/>
          <p:nvPr/>
        </p:nvSpPr>
        <p:spPr>
          <a:xfrm>
            <a:off x="5468112" y="17099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94960" y="225856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主動預警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94960" y="2624328"/>
            <a:ext cx="14264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異常情況自動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標示紅色警示，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不靠感覺管理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986016" y="1508760"/>
            <a:ext cx="1609344" cy="22677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86016" y="1508760"/>
            <a:ext cx="1609344" cy="914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5" name="Shape 33"/>
          <p:cNvSpPr/>
          <p:nvPr/>
        </p:nvSpPr>
        <p:spPr>
          <a:xfrm>
            <a:off x="7150608" y="1709928"/>
            <a:ext cx="493776" cy="49377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6" name="Text 34"/>
          <p:cNvSpPr/>
          <p:nvPr/>
        </p:nvSpPr>
        <p:spPr>
          <a:xfrm>
            <a:off x="7150608" y="17099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=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077456" y="225856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標準化管理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077456" y="2624328"/>
            <a:ext cx="14264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所有場域統一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管理框架，決策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基準一致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系統架構——資料從哪裡來、主管在哪裡看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Portal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001768"/>
            <a:ext cx="2286000" cy="141732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4 / 12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5120640" cy="1133856"/>
          </a:xfrm>
          <a:prstGeom prst="rect">
            <a:avLst/>
          </a:prstGeom>
          <a:solidFill>
            <a:srgbClr val="28609B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547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資料來源層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9502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作業表單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354787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員工每天在 Ragic 執行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工務報修、保養、巡檢作業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資料在此產生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5120640" cy="1133856"/>
          </a:xfrm>
          <a:prstGeom prst="rect">
            <a:avLst/>
          </a:prstGeom>
          <a:solidFill>
            <a:srgbClr val="1F4872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2219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整合計算層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26243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同步引擎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222199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30 分鐘自動同步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跨模組資料整合計算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完成率、工時、異常自動算好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795528"/>
            <a:ext cx="5120640" cy="1133856"/>
          </a:xfrm>
          <a:prstGeom prst="rect">
            <a:avLst/>
          </a:prstGeom>
          <a:solidFill>
            <a:srgbClr val="4BA8E8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868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決策呈現層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12710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管理視角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26080" y="8686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卡片、比較表、異常警示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主管直接看結果，不碰原始資料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即時、直觀、可操作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68880" y="2743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C4F0"/>
                </a:solidFill>
              </a:rPr>
              <a:t>▲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468880" y="1417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C4F0"/>
                </a:solidFill>
              </a:rPr>
              <a:t>▲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00800" y="795528"/>
            <a:ext cx="2468880" cy="3813048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0" y="795528"/>
            <a:ext cx="2468880" cy="438912"/>
          </a:xfrm>
          <a:prstGeom prst="rect">
            <a:avLst/>
          </a:prstGeom>
          <a:solidFill>
            <a:srgbClr val="5A3E8A"/>
          </a:solidFill>
          <a:ln/>
        </p:spPr>
      </p:sp>
      <p:sp>
        <p:nvSpPr>
          <p:cNvPr id="25" name="Text 23"/>
          <p:cNvSpPr/>
          <p:nvPr/>
        </p:nvSpPr>
        <p:spPr>
          <a:xfrm>
            <a:off x="6473952" y="795528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■  權限分層管理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73952" y="1335024"/>
            <a:ext cx="2322576" cy="548640"/>
          </a:xfrm>
          <a:prstGeom prst="rect">
            <a:avLst/>
          </a:prstGeom>
          <a:solidFill>
            <a:srgbClr val="1F4872"/>
          </a:solidFill>
          <a:ln/>
        </p:spPr>
      </p:sp>
      <p:sp>
        <p:nvSpPr>
          <p:cNvPr id="27" name="Text 25"/>
          <p:cNvSpPr/>
          <p:nvPr/>
        </p:nvSpPr>
        <p:spPr>
          <a:xfrm>
            <a:off x="6510528" y="136245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董事長 / 總經理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10528" y="1609344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集團全覽 + 決策駕駛艙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73952" y="1956816"/>
            <a:ext cx="2322576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6510528" y="198424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飯店主管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10528" y="223113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飯店 Dashboard + 所有飯店模組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73952" y="2578608"/>
            <a:ext cx="2322576" cy="548640"/>
          </a:xfrm>
          <a:prstGeom prst="rect">
            <a:avLst/>
          </a:prstGeom>
          <a:solidFill>
            <a:srgbClr val="1F4872"/>
          </a:solidFill>
          <a:ln/>
        </p:spPr>
      </p:sp>
      <p:sp>
        <p:nvSpPr>
          <p:cNvPr id="33" name="Text 31"/>
          <p:cNvSpPr/>
          <p:nvPr/>
        </p:nvSpPr>
        <p:spPr>
          <a:xfrm>
            <a:off x="6510528" y="2606040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商場主管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10528" y="285292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商場 Dashboard + 商場模組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73952" y="3200400"/>
            <a:ext cx="2322576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6" name="Text 34"/>
          <p:cNvSpPr/>
          <p:nvPr/>
        </p:nvSpPr>
        <p:spPr>
          <a:xfrm>
            <a:off x="6510528" y="322783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部門主管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10528" y="3474720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對應職能模組瀏覽與操作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73952" y="3822192"/>
            <a:ext cx="2322576" cy="548640"/>
          </a:xfrm>
          <a:prstGeom prst="rect">
            <a:avLst/>
          </a:prstGeom>
          <a:solidFill>
            <a:srgbClr val="1F4872"/>
          </a:solidFill>
          <a:ln/>
        </p:spPr>
      </p:sp>
      <p:sp>
        <p:nvSpPr>
          <p:cNvPr id="39" name="Text 37"/>
          <p:cNvSpPr/>
          <p:nvPr/>
        </p:nvSpPr>
        <p:spPr>
          <a:xfrm>
            <a:off x="6510528" y="3849624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作業人員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10528" y="4096512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端執行，不進 Portal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已完成模組一覽——涵蓋集團三大管理場域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Portal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001768"/>
            <a:ext cx="2286000" cy="141732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5 / 12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777240"/>
            <a:ext cx="2834640" cy="4005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777240"/>
            <a:ext cx="2834640" cy="53035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777240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🏨  飯店管理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9184" y="1344168"/>
            <a:ext cx="2688336" cy="5303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" y="1499616"/>
            <a:ext cx="146304" cy="146304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" y="13716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飯店管理 Dashboard（整合 6 來源）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" y="2048256"/>
            <a:ext cx="146304" cy="146304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" y="1920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大直工務報修管理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9184" y="2441448"/>
            <a:ext cx="2688336" cy="5303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" y="2596896"/>
            <a:ext cx="146304" cy="146304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" y="24688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飯店週期保養表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4048" y="3145536"/>
            <a:ext cx="146304" cy="146304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" y="30175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飯店每日巡檢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" y="3538728"/>
            <a:ext cx="2688336" cy="5303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384048" y="3694176"/>
            <a:ext cx="146304" cy="146304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" y="35661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IHG 客房保養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84048" y="4242816"/>
            <a:ext cx="146304" cy="146304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585216" y="41148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保全巡檢（開發中）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55264" y="777240"/>
            <a:ext cx="2834640" cy="4005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55264" y="777240"/>
            <a:ext cx="2834640" cy="530352"/>
          </a:xfrm>
          <a:prstGeom prst="rect">
            <a:avLst/>
          </a:prstGeom>
          <a:solidFill>
            <a:srgbClr val="28609B"/>
          </a:solidFill>
          <a:ln/>
        </p:spPr>
      </p:sp>
      <p:sp>
        <p:nvSpPr>
          <p:cNvPr id="29" name="Text 27"/>
          <p:cNvSpPr/>
          <p:nvPr/>
        </p:nvSpPr>
        <p:spPr>
          <a:xfrm>
            <a:off x="3364992" y="777240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🏬  商場管理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328416" y="1344168"/>
            <a:ext cx="2688336" cy="5303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1" name="Shape 29"/>
          <p:cNvSpPr/>
          <p:nvPr/>
        </p:nvSpPr>
        <p:spPr>
          <a:xfrm>
            <a:off x="3383280" y="1499616"/>
            <a:ext cx="146304" cy="146304"/>
          </a:xfrm>
          <a:prstGeom prst="ellipse">
            <a:avLst/>
          </a:prstGeom>
          <a:solidFill>
            <a:srgbClr val="28609B"/>
          </a:solidFill>
          <a:ln/>
        </p:spPr>
      </p:sp>
      <p:sp>
        <p:nvSpPr>
          <p:cNvPr id="32" name="Text 30"/>
          <p:cNvSpPr/>
          <p:nvPr/>
        </p:nvSpPr>
        <p:spPr>
          <a:xfrm>
            <a:off x="3584448" y="13716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商場管理 Dashboard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383280" y="2048256"/>
            <a:ext cx="146304" cy="146304"/>
          </a:xfrm>
          <a:prstGeom prst="ellipse">
            <a:avLst/>
          </a:prstGeom>
          <a:solidFill>
            <a:srgbClr val="28609B"/>
          </a:solidFill>
          <a:ln/>
        </p:spPr>
      </p:sp>
      <p:sp>
        <p:nvSpPr>
          <p:cNvPr id="34" name="Text 32"/>
          <p:cNvSpPr/>
          <p:nvPr/>
        </p:nvSpPr>
        <p:spPr>
          <a:xfrm>
            <a:off x="3584448" y="1920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商場工務報修管理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328416" y="2441448"/>
            <a:ext cx="2688336" cy="5303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6" name="Shape 34"/>
          <p:cNvSpPr/>
          <p:nvPr/>
        </p:nvSpPr>
        <p:spPr>
          <a:xfrm>
            <a:off x="3383280" y="2596896"/>
            <a:ext cx="146304" cy="146304"/>
          </a:xfrm>
          <a:prstGeom prst="ellipse">
            <a:avLst/>
          </a:prstGeom>
          <a:solidFill>
            <a:srgbClr val="28609B"/>
          </a:solidFill>
          <a:ln/>
        </p:spPr>
      </p:sp>
      <p:sp>
        <p:nvSpPr>
          <p:cNvPr id="37" name="Text 35"/>
          <p:cNvSpPr/>
          <p:nvPr/>
        </p:nvSpPr>
        <p:spPr>
          <a:xfrm>
            <a:off x="3584448" y="24688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商場例行維護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383280" y="3145536"/>
            <a:ext cx="146304" cy="146304"/>
          </a:xfrm>
          <a:prstGeom prst="ellipse">
            <a:avLst/>
          </a:prstGeom>
          <a:solidFill>
            <a:srgbClr val="28609B"/>
          </a:solidFill>
          <a:ln/>
        </p:spPr>
      </p:sp>
      <p:sp>
        <p:nvSpPr>
          <p:cNvPr id="39" name="Text 37"/>
          <p:cNvSpPr/>
          <p:nvPr/>
        </p:nvSpPr>
        <p:spPr>
          <a:xfrm>
            <a:off x="3584448" y="30175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全棟例行維護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328416" y="3538728"/>
            <a:ext cx="2688336" cy="5303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1" name="Shape 39"/>
          <p:cNvSpPr/>
          <p:nvPr/>
        </p:nvSpPr>
        <p:spPr>
          <a:xfrm>
            <a:off x="3383280" y="3694176"/>
            <a:ext cx="146304" cy="146304"/>
          </a:xfrm>
          <a:prstGeom prst="ellipse">
            <a:avLst/>
          </a:prstGeom>
          <a:solidFill>
            <a:srgbClr val="28609B"/>
          </a:solidFill>
          <a:ln/>
        </p:spPr>
      </p:sp>
      <p:sp>
        <p:nvSpPr>
          <p:cNvPr id="42" name="Text 40"/>
          <p:cNvSpPr/>
          <p:nvPr/>
        </p:nvSpPr>
        <p:spPr>
          <a:xfrm>
            <a:off x="3584448" y="35661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商場工務巡檢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383280" y="4242816"/>
            <a:ext cx="146304" cy="146304"/>
          </a:xfrm>
          <a:prstGeom prst="ellipse">
            <a:avLst/>
          </a:prstGeom>
          <a:solidFill>
            <a:srgbClr val="28609B"/>
          </a:solidFill>
          <a:ln/>
        </p:spPr>
      </p:sp>
      <p:sp>
        <p:nvSpPr>
          <p:cNvPr id="44" name="Text 42"/>
          <p:cNvSpPr/>
          <p:nvPr/>
        </p:nvSpPr>
        <p:spPr>
          <a:xfrm>
            <a:off x="3584448" y="41148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整棟巡檢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254496" y="777240"/>
            <a:ext cx="2834640" cy="4005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54496" y="777240"/>
            <a:ext cx="2834640" cy="530352"/>
          </a:xfrm>
          <a:prstGeom prst="rect">
            <a:avLst/>
          </a:prstGeom>
          <a:solidFill>
            <a:srgbClr val="5A3E8A"/>
          </a:solidFill>
          <a:ln/>
        </p:spPr>
      </p:sp>
      <p:sp>
        <p:nvSpPr>
          <p:cNvPr id="47" name="Text 45"/>
          <p:cNvSpPr/>
          <p:nvPr/>
        </p:nvSpPr>
        <p:spPr>
          <a:xfrm>
            <a:off x="6364224" y="777240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 管理工具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27648" y="1344168"/>
            <a:ext cx="2688336" cy="5303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9" name="Shape 47"/>
          <p:cNvSpPr/>
          <p:nvPr/>
        </p:nvSpPr>
        <p:spPr>
          <a:xfrm>
            <a:off x="6382512" y="1499616"/>
            <a:ext cx="146304" cy="146304"/>
          </a:xfrm>
          <a:prstGeom prst="ellipse">
            <a:avLst/>
          </a:prstGeom>
          <a:solidFill>
            <a:srgbClr val="5A3E8A"/>
          </a:solidFill>
          <a:ln/>
        </p:spPr>
      </p:sp>
      <p:sp>
        <p:nvSpPr>
          <p:cNvPr id="50" name="Text 48"/>
          <p:cNvSpPr/>
          <p:nvPr/>
        </p:nvSpPr>
        <p:spPr>
          <a:xfrm>
            <a:off x="6583680" y="13716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集團決策駕駛艙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382512" y="2048256"/>
            <a:ext cx="146304" cy="146304"/>
          </a:xfrm>
          <a:prstGeom prst="ellipse">
            <a:avLst/>
          </a:prstGeom>
          <a:solidFill>
            <a:srgbClr val="5A3E8A"/>
          </a:solidFill>
          <a:ln/>
        </p:spPr>
      </p:sp>
      <p:sp>
        <p:nvSpPr>
          <p:cNvPr id="52" name="Text 50"/>
          <p:cNvSpPr/>
          <p:nvPr/>
        </p:nvSpPr>
        <p:spPr>
          <a:xfrm>
            <a:off x="6583680" y="1920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集團工務 Dashboard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327648" y="2441448"/>
            <a:ext cx="2688336" cy="5303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4" name="Shape 52"/>
          <p:cNvSpPr/>
          <p:nvPr/>
        </p:nvSpPr>
        <p:spPr>
          <a:xfrm>
            <a:off x="6382512" y="2596896"/>
            <a:ext cx="146304" cy="146304"/>
          </a:xfrm>
          <a:prstGeom prst="ellipse">
            <a:avLst/>
          </a:prstGeom>
          <a:solidFill>
            <a:srgbClr val="5A3E8A"/>
          </a:solidFill>
          <a:ln/>
        </p:spPr>
      </p:sp>
      <p:sp>
        <p:nvSpPr>
          <p:cNvPr id="55" name="Text 53"/>
          <p:cNvSpPr/>
          <p:nvPr/>
        </p:nvSpPr>
        <p:spPr>
          <a:xfrm>
            <a:off x="6583680" y="24688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超級行事曆（全模組）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382512" y="3145536"/>
            <a:ext cx="146304" cy="146304"/>
          </a:xfrm>
          <a:prstGeom prst="ellipse">
            <a:avLst/>
          </a:prstGeom>
          <a:solidFill>
            <a:srgbClr val="5A3E8A"/>
          </a:solidFill>
          <a:ln/>
        </p:spPr>
      </p:sp>
      <p:sp>
        <p:nvSpPr>
          <p:cNvPr id="57" name="Text 55"/>
          <p:cNvSpPr/>
          <p:nvPr/>
        </p:nvSpPr>
        <p:spPr>
          <a:xfrm>
            <a:off x="6583680" y="30175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選單管理（拖拉排序）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327648" y="3538728"/>
            <a:ext cx="2688336" cy="5303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9" name="Shape 57"/>
          <p:cNvSpPr/>
          <p:nvPr/>
        </p:nvSpPr>
        <p:spPr>
          <a:xfrm>
            <a:off x="6382512" y="3694176"/>
            <a:ext cx="146304" cy="146304"/>
          </a:xfrm>
          <a:prstGeom prst="ellipse">
            <a:avLst/>
          </a:prstGeom>
          <a:solidFill>
            <a:srgbClr val="5A3E8A"/>
          </a:solidFill>
          <a:ln/>
        </p:spPr>
      </p:sp>
      <p:sp>
        <p:nvSpPr>
          <p:cNvPr id="60" name="Text 58"/>
          <p:cNvSpPr/>
          <p:nvPr/>
        </p:nvSpPr>
        <p:spPr>
          <a:xfrm>
            <a:off x="6583680" y="35661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角色與權限設定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6382512" y="4242816"/>
            <a:ext cx="146304" cy="146304"/>
          </a:xfrm>
          <a:prstGeom prst="ellipse">
            <a:avLst/>
          </a:prstGeom>
          <a:solidFill>
            <a:srgbClr val="5A3E8A"/>
          </a:solidFill>
          <a:ln/>
        </p:spPr>
      </p:sp>
      <p:sp>
        <p:nvSpPr>
          <p:cNvPr id="62" name="Text 60"/>
          <p:cNvSpPr/>
          <p:nvPr/>
        </p:nvSpPr>
        <p:spPr>
          <a:xfrm>
            <a:off x="6583680" y="41148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表單對照查詢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強大之處——主管想看的全在這裡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Portal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001768"/>
            <a:ext cx="2286000" cy="141732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6 / 12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795528"/>
            <a:ext cx="2011680" cy="141732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" y="850392"/>
            <a:ext cx="1865376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29184" y="1617574"/>
            <a:ext cx="1901952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卡片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即時更新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04872" y="795528"/>
            <a:ext cx="2011680" cy="1417320"/>
          </a:xfrm>
          <a:prstGeom prst="rect">
            <a:avLst/>
          </a:prstGeom>
          <a:solidFill>
            <a:srgbClr val="4BA8E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78024" y="850392"/>
            <a:ext cx="1865376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2459736" y="1617574"/>
            <a:ext cx="1901952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飯店 vs 商場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比較維度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35424" y="795528"/>
            <a:ext cx="2011680" cy="1417320"/>
          </a:xfrm>
          <a:prstGeom prst="rect">
            <a:avLst/>
          </a:prstGeom>
          <a:solidFill>
            <a:srgbClr val="1F487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08576" y="850392"/>
            <a:ext cx="1865376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4590288" y="1617574"/>
            <a:ext cx="1901952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年度並排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趨勢比較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65976" y="795528"/>
            <a:ext cx="2011680" cy="141732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39128" y="850392"/>
            <a:ext cx="1865376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30m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720840" y="1617574"/>
            <a:ext cx="1901952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自動同步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頻率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2423160"/>
            <a:ext cx="2834640" cy="23225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423160"/>
            <a:ext cx="2834640" cy="4754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242316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📅  任意月份篩選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1480" y="2962656"/>
            <a:ext cx="2560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年份＋月份任意切換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歷史資料隨時回顧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不受限於當月視角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255264" y="2423160"/>
            <a:ext cx="2834640" cy="23225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55264" y="2423160"/>
            <a:ext cx="2834640" cy="475488"/>
          </a:xfrm>
          <a:prstGeom prst="rect">
            <a:avLst/>
          </a:prstGeom>
          <a:solidFill>
            <a:srgbClr val="28609B"/>
          </a:solidFill>
          <a:ln/>
        </p:spPr>
      </p:sp>
      <p:sp>
        <p:nvSpPr>
          <p:cNvPr id="27" name="Text 25"/>
          <p:cNvSpPr/>
          <p:nvPr/>
        </p:nvSpPr>
        <p:spPr>
          <a:xfrm>
            <a:off x="3364992" y="242316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📈  每日 × 每月累計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92424" y="2962656"/>
            <a:ext cx="2560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每日案件走勢一目了然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每月累計自動統計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三年同期並排比較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36208" y="2423160"/>
            <a:ext cx="2834640" cy="23225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36208" y="2423160"/>
            <a:ext cx="2834640" cy="475488"/>
          </a:xfrm>
          <a:prstGeom prst="rect">
            <a:avLst/>
          </a:prstGeom>
          <a:solidFill>
            <a:srgbClr val="5A3E8A"/>
          </a:solidFill>
          <a:ln/>
        </p:spPr>
      </p:sp>
      <p:sp>
        <p:nvSpPr>
          <p:cNvPr id="31" name="Text 29"/>
          <p:cNvSpPr/>
          <p:nvPr/>
        </p:nvSpPr>
        <p:spPr>
          <a:xfrm>
            <a:off x="6345936" y="242316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 人員效率分析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73368" y="2962656"/>
            <a:ext cx="2560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工時 / 案件數 / 均工時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負荷過重自動標紅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跨場域人員一覽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7 / 12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25603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決策駕駛艙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47472" y="868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異常主動浮現，管理不靠感覺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" y="1444752"/>
            <a:ext cx="5394960" cy="594360"/>
          </a:xfrm>
          <a:prstGeom prst="rect">
            <a:avLst/>
          </a:prstGeom>
          <a:solidFill>
            <a:srgbClr val="1F4872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" y="1572768"/>
            <a:ext cx="292608" cy="29260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未完成件數 &gt; 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7739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需立即跟進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15727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緊急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139696"/>
            <a:ext cx="5394960" cy="594360"/>
          </a:xfrm>
          <a:prstGeom prst="rect">
            <a:avLst/>
          </a:prstGeom>
          <a:solidFill>
            <a:srgbClr val="162F4A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" y="2267712"/>
            <a:ext cx="292608" cy="29260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1762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完成率 &lt; 60%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4688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嚴重落後需介入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22677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緊急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7472" y="2834640"/>
            <a:ext cx="5394960" cy="594360"/>
          </a:xfrm>
          <a:prstGeom prst="rect">
            <a:avLst/>
          </a:prstGeom>
          <a:solidFill>
            <a:srgbClr val="1F4872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" y="2962656"/>
            <a:ext cx="292608" cy="29260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28712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完成率 60%–80%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1638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需密切監控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296265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7472" y="3529584"/>
            <a:ext cx="5394960" cy="594360"/>
          </a:xfrm>
          <a:prstGeom prst="rect">
            <a:avLst/>
          </a:prstGeom>
          <a:solidFill>
            <a:srgbClr val="162F4A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" y="3657600"/>
            <a:ext cx="292608" cy="292608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單一工項占比 &gt; 60%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38587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資源過度集中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0" y="3657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警示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7472" y="4224528"/>
            <a:ext cx="5394960" cy="594360"/>
          </a:xfrm>
          <a:prstGeom prst="rect">
            <a:avLst/>
          </a:prstGeom>
          <a:solidFill>
            <a:srgbClr val="1F4872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" y="4352544"/>
            <a:ext cx="292608" cy="29260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42611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人員月工時 &gt; 80h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0120" y="45537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人員負荷過重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40480" y="435254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035040" y="256032"/>
            <a:ext cx="2834640" cy="461772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44768" y="41148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無異常時顯示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784848" y="1005840"/>
            <a:ext cx="1335024" cy="96926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4" name="Text 32"/>
          <p:cNvSpPr/>
          <p:nvPr/>
        </p:nvSpPr>
        <p:spPr>
          <a:xfrm>
            <a:off x="6784848" y="1005840"/>
            <a:ext cx="13350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OK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144768" y="1993392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本月無異常警示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144768" y="2651760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系統主動替主管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做判斷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不需要人工查找問題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44768" y="411480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A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從被動管理 → 主動管理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主管最在意的 7 個問題——系統直接回答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Portal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001768"/>
            <a:ext cx="2286000" cy="141732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8 / 12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841248"/>
            <a:ext cx="859536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41248"/>
            <a:ext cx="347472" cy="52120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841248"/>
            <a:ext cx="3474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" y="87782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這個月總案件多少？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87782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BA8E8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56048" y="877824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集團 KPI 卡「總案件數」即時顯示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1417320"/>
            <a:ext cx="8595360" cy="521208"/>
          </a:xfrm>
          <a:prstGeom prst="rect">
            <a:avLst/>
          </a:prstGeom>
          <a:solidFill>
            <a:srgbClr val="EEF4FB"/>
          </a:solidFill>
          <a:ln/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417320"/>
            <a:ext cx="347472" cy="52120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1417320"/>
            <a:ext cx="3474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4944" y="145389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哪個場域工作量最大？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1453896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BA8E8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56048" y="1453896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飯店 vs 商場比較表 + 案件占比卡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74320" y="1993392"/>
            <a:ext cx="859536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1993392"/>
            <a:ext cx="347472" cy="52120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1993392"/>
            <a:ext cx="3474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4944" y="20299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哪些工項最多？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0" y="202996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BA8E8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956048" y="2029968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工項類別 × 單位矩陣，占比自動標紅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74320" y="2569464"/>
            <a:ext cx="8595360" cy="521208"/>
          </a:xfrm>
          <a:prstGeom prst="rect">
            <a:avLst/>
          </a:prstGeom>
          <a:solidFill>
            <a:srgbClr val="EEF4FB"/>
          </a:solidFill>
          <a:ln/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569464"/>
            <a:ext cx="347472" cy="52120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2569464"/>
            <a:ext cx="3474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4944" y="26060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哪些人員負荷較重？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72000" y="260604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BA8E8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956048" y="2606040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人員效率分析表，≥3h/件自動標紅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274320" y="3145536"/>
            <a:ext cx="859536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145536"/>
            <a:ext cx="347472" cy="52120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3145536"/>
            <a:ext cx="3474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4944" y="31821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完成率如何？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72000" y="318211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BA8E8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956048" y="3182112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卡即時顯示；低於 80% 系統警示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274320" y="3721608"/>
            <a:ext cx="8595360" cy="521208"/>
          </a:xfrm>
          <a:prstGeom prst="rect">
            <a:avLst/>
          </a:prstGeom>
          <a:solidFill>
            <a:srgbClr val="EEF4FB"/>
          </a:solidFill>
          <a:ln/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721608"/>
            <a:ext cx="347472" cy="52120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3721608"/>
            <a:ext cx="3474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4944" y="375818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工時是否合理？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572000" y="375818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BA8E8"/>
                </a:solidFill>
              </a:rPr>
              <a:t>→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956048" y="3758184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每日/每月累計工時表 + 人員排名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274320" y="4297680"/>
            <a:ext cx="859536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74320" y="4297680"/>
            <a:ext cx="347472" cy="52120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297680"/>
            <a:ext cx="3474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94944" y="433425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飯店與商場差異在哪？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572000" y="4334256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BA8E8"/>
                </a:solidFill>
              </a:rPr>
              <a:t>→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4956048" y="4334256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維度並排比較表，一張表說清楚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導入效益——六個管理維度同步提升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Portal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001768"/>
            <a:ext cx="2286000" cy="141732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9 / 12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804672"/>
            <a:ext cx="2679192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04672"/>
            <a:ext cx="109728" cy="1810512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87552"/>
            <a:ext cx="566928" cy="566928"/>
          </a:xfrm>
          <a:prstGeom prst="ellipse">
            <a:avLst/>
          </a:prstGeom>
          <a:solidFill>
            <a:srgbClr val="4BA8E8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987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&gt;&gt;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" y="1609344"/>
            <a:ext cx="2386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BA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管理即時化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5488" y="1993392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隨時開瀏覽器即看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不再等月報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072384" y="804672"/>
            <a:ext cx="2679192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072384" y="804672"/>
            <a:ext cx="109728" cy="181051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Shape 15"/>
          <p:cNvSpPr/>
          <p:nvPr/>
        </p:nvSpPr>
        <p:spPr>
          <a:xfrm>
            <a:off x="3273552" y="987552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3273552" y="987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◎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73552" y="1609344"/>
            <a:ext cx="2386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數據透明化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273552" y="1993392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各場域、各人員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狀態完全可見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870448" y="804672"/>
            <a:ext cx="2679192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70448" y="804672"/>
            <a:ext cx="109728" cy="1810512"/>
          </a:xfrm>
          <a:prstGeom prst="rect">
            <a:avLst/>
          </a:prstGeom>
          <a:solidFill>
            <a:srgbClr val="28609B"/>
          </a:solidFill>
          <a:ln/>
        </p:spPr>
      </p:sp>
      <p:sp>
        <p:nvSpPr>
          <p:cNvPr id="23" name="Shape 21"/>
          <p:cNvSpPr/>
          <p:nvPr/>
        </p:nvSpPr>
        <p:spPr>
          <a:xfrm>
            <a:off x="6071616" y="987552"/>
            <a:ext cx="566928" cy="566928"/>
          </a:xfrm>
          <a:prstGeom prst="ellipse">
            <a:avLst/>
          </a:prstGeom>
          <a:solidFill>
            <a:srgbClr val="28609B"/>
          </a:solidFill>
          <a:ln/>
        </p:spPr>
      </p:sp>
      <p:sp>
        <p:nvSpPr>
          <p:cNvPr id="24" name="Text 22"/>
          <p:cNvSpPr/>
          <p:nvPr/>
        </p:nvSpPr>
        <p:spPr>
          <a:xfrm>
            <a:off x="6071616" y="987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=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71616" y="1609344"/>
            <a:ext cx="2386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8609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工作標準化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071616" y="1993392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統一報告格式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決策基準一致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2779776"/>
            <a:ext cx="2679192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779776"/>
            <a:ext cx="109728" cy="181051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" y="2962656"/>
            <a:ext cx="566928" cy="56692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" y="2962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★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5488" y="3584448"/>
            <a:ext cx="2386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減少人工彙整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75488" y="3968496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30 分鐘自動更新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節省大量整理時間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072384" y="2779776"/>
            <a:ext cx="2679192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072384" y="2779776"/>
            <a:ext cx="109728" cy="181051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5" name="Shape 33"/>
          <p:cNvSpPr/>
          <p:nvPr/>
        </p:nvSpPr>
        <p:spPr>
          <a:xfrm>
            <a:off x="3273552" y="2962656"/>
            <a:ext cx="566928" cy="56692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ext 34"/>
          <p:cNvSpPr/>
          <p:nvPr/>
        </p:nvSpPr>
        <p:spPr>
          <a:xfrm>
            <a:off x="3273552" y="2962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◆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273552" y="3584448"/>
            <a:ext cx="2386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強化跨部門管理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3273552" y="3968496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飯店與商場並排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一張表完成比較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70448" y="2779776"/>
            <a:ext cx="2679192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870448" y="2779776"/>
            <a:ext cx="109728" cy="1810512"/>
          </a:xfrm>
          <a:prstGeom prst="rect">
            <a:avLst/>
          </a:prstGeom>
          <a:solidFill>
            <a:srgbClr val="5A3E8A"/>
          </a:solidFill>
          <a:ln/>
        </p:spPr>
      </p:sp>
      <p:sp>
        <p:nvSpPr>
          <p:cNvPr id="41" name="Shape 39"/>
          <p:cNvSpPr/>
          <p:nvPr/>
        </p:nvSpPr>
        <p:spPr>
          <a:xfrm>
            <a:off x="6071616" y="2962656"/>
            <a:ext cx="566928" cy="566928"/>
          </a:xfrm>
          <a:prstGeom prst="ellipse">
            <a:avLst/>
          </a:prstGeom>
          <a:solidFill>
            <a:srgbClr val="5A3E8A"/>
          </a:solidFill>
          <a:ln/>
        </p:spPr>
      </p:sp>
      <p:sp>
        <p:nvSpPr>
          <p:cNvPr id="42" name="Text 40"/>
          <p:cNvSpPr/>
          <p:nvPr/>
        </p:nvSpPr>
        <p:spPr>
          <a:xfrm>
            <a:off x="6071616" y="2962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▶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071616" y="3584448"/>
            <a:ext cx="2386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A3E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支援例會與稽核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6071616" y="3968496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月報、稽核、臨時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詢問即時回應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未來擴充規劃——持續進化的管理平台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Portal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001768"/>
            <a:ext cx="2286000" cy="141732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10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系統架構已就緒，擴充只需接入新資料來源，不需重建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6032" y="1261872"/>
            <a:ext cx="2834640" cy="475488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261872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近期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6032" y="1828800"/>
            <a:ext cx="283464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1938528"/>
            <a:ext cx="512064" cy="512064"/>
          </a:xfrm>
          <a:prstGeom prst="ellipse">
            <a:avLst/>
          </a:prstGeom>
          <a:solidFill>
            <a:srgbClr val="4BA8E8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&gt;&gt;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1938528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BA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決策駕駛艙完整版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" y="2578608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 框架逐步填充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概覽/飯店/商場/人員/風險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6032" y="3401568"/>
            <a:ext cx="283464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511296"/>
            <a:ext cx="512064" cy="512064"/>
          </a:xfrm>
          <a:prstGeom prst="ellipse">
            <a:avLst/>
          </a:prstGeom>
          <a:solidFill>
            <a:srgbClr val="4BA8E8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3511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511296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BA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月報一鍵匯出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5760" y="4151376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直接從系統匯出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月報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55264" y="1261872"/>
            <a:ext cx="2834640" cy="47548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3364992" y="1261872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中期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255264" y="1828800"/>
            <a:ext cx="283464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1938528"/>
            <a:ext cx="512064" cy="51206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05072" y="1938528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摘要與異常提醒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364992" y="2578608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自動生成管理文字摘要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供主管快速閱讀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55264" y="3401568"/>
            <a:ext cx="283464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83280" y="3511296"/>
            <a:ext cx="512064" cy="51206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1" name="Text 29"/>
          <p:cNvSpPr/>
          <p:nvPr/>
        </p:nvSpPr>
        <p:spPr>
          <a:xfrm>
            <a:off x="3383280" y="3511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005072" y="3511296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更多 Ragic 模組整合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364992" y="4151376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預算管控、供應商管理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工程外包等持續接入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54496" y="1261872"/>
            <a:ext cx="2834640" cy="475488"/>
          </a:xfrm>
          <a:prstGeom prst="rect">
            <a:avLst/>
          </a:prstGeom>
          <a:solidFill>
            <a:srgbClr val="5A3E8A"/>
          </a:solidFill>
          <a:ln/>
        </p:spPr>
      </p:sp>
      <p:sp>
        <p:nvSpPr>
          <p:cNvPr id="35" name="Text 33"/>
          <p:cNvSpPr/>
          <p:nvPr/>
        </p:nvSpPr>
        <p:spPr>
          <a:xfrm>
            <a:off x="6364224" y="1261872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長期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254496" y="1828800"/>
            <a:ext cx="283464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82512" y="1938528"/>
            <a:ext cx="512064" cy="512064"/>
          </a:xfrm>
          <a:prstGeom prst="ellipse">
            <a:avLst/>
          </a:prstGeom>
          <a:solidFill>
            <a:srgbClr val="5A3E8A"/>
          </a:solidFill>
          <a:ln/>
        </p:spPr>
      </p:sp>
      <p:sp>
        <p:nvSpPr>
          <p:cNvPr id="38" name="Text 36"/>
          <p:cNvSpPr/>
          <p:nvPr/>
        </p:nvSpPr>
        <p:spPr>
          <a:xfrm>
            <a:off x="6382512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◎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004304" y="1938528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A3E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預警與趨勢分析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364224" y="2578608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工時成長趨勢預測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案件異常高峰提前示警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54496" y="3401568"/>
            <a:ext cx="283464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82512" y="3511296"/>
            <a:ext cx="512064" cy="512064"/>
          </a:xfrm>
          <a:prstGeom prst="ellipse">
            <a:avLst/>
          </a:prstGeom>
          <a:solidFill>
            <a:srgbClr val="5A3E8A"/>
          </a:solidFill>
          <a:ln/>
        </p:spPr>
      </p:sp>
      <p:sp>
        <p:nvSpPr>
          <p:cNvPr id="43" name="Text 41"/>
          <p:cNvSpPr/>
          <p:nvPr/>
        </p:nvSpPr>
        <p:spPr>
          <a:xfrm>
            <a:off x="6382512" y="3511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★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004304" y="3511296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A3E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工時合理性分析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364224" y="4151376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跨月/跨年效率基準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人力配置優化建議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系統後續管理課題——從建置走向治理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Portal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001768"/>
            <a:ext cx="2286000" cy="141732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11 / 12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749808"/>
            <a:ext cx="4187952" cy="31089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" y="749808"/>
            <a:ext cx="128016" cy="310896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7498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資料層課題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6032" y="1078992"/>
            <a:ext cx="4187952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188720"/>
            <a:ext cx="329184" cy="329184"/>
          </a:xfrm>
          <a:prstGeom prst="ellipse">
            <a:avLst/>
          </a:prstGeom>
          <a:solidFill>
            <a:srgbClr val="4BA8E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" y="11155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資料品質與正確性不足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6384" y="13716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資料若不準，Dashboard 再漂亮也無法支援決策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1691640"/>
            <a:ext cx="4187952" cy="548640"/>
          </a:xfrm>
          <a:prstGeom prst="rect">
            <a:avLst/>
          </a:prstGeom>
          <a:solidFill>
            <a:srgbClr val="EEF4FB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1801368"/>
            <a:ext cx="329184" cy="329184"/>
          </a:xfrm>
          <a:prstGeom prst="ellipse">
            <a:avLst/>
          </a:prstGeom>
          <a:solidFill>
            <a:srgbClr val="4BA8E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" y="17282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欄位定義與填寫標準不一致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6384" y="19842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同一欄位在不同模組可能有不同解讀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2304288"/>
            <a:ext cx="4187952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414016"/>
            <a:ext cx="329184" cy="329184"/>
          </a:xfrm>
          <a:prstGeom prst="ellipse">
            <a:avLst/>
          </a:prstGeom>
          <a:solidFill>
            <a:srgbClr val="4BA8E8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6384" y="23408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工項與檢查項目過多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6384" y="25968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第一線負擔高，需依重要性分類、分級、簡化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" y="2916936"/>
            <a:ext cx="4187952" cy="548640"/>
          </a:xfrm>
          <a:prstGeom prst="rect">
            <a:avLst/>
          </a:prstGeom>
          <a:solidFill>
            <a:srgbClr val="EEF4FB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026664"/>
            <a:ext cx="329184" cy="329184"/>
          </a:xfrm>
          <a:prstGeom prst="ellipse">
            <a:avLst/>
          </a:prstGeom>
          <a:solidFill>
            <a:srgbClr val="4BA8E8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026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6384" y="29535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填寫責任需明確化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86384" y="32095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需定義填寫人、確認人與異常修正機制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" y="3529584"/>
            <a:ext cx="4187952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639312"/>
            <a:ext cx="329184" cy="329184"/>
          </a:xfrm>
          <a:prstGeom prst="ellipse">
            <a:avLst/>
          </a:prstGeom>
          <a:solidFill>
            <a:srgbClr val="4BA8E8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86384" y="35661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工時與完成率計算規則不一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86384" y="38221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需建立一致標準，否則數據失真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0016" y="749808"/>
            <a:ext cx="4187952" cy="310896"/>
          </a:xfrm>
          <a:prstGeom prst="rect">
            <a:avLst/>
          </a:prstGeom>
          <a:solidFill>
            <a:srgbClr val="5A3E8A"/>
          </a:solidFill>
          <a:ln/>
        </p:spPr>
      </p:sp>
      <p:sp>
        <p:nvSpPr>
          <p:cNvPr id="38" name="Shape 36"/>
          <p:cNvSpPr/>
          <p:nvPr/>
        </p:nvSpPr>
        <p:spPr>
          <a:xfrm>
            <a:off x="4700016" y="749808"/>
            <a:ext cx="128016" cy="310896"/>
          </a:xfrm>
          <a:prstGeom prst="rect">
            <a:avLst/>
          </a:prstGeom>
          <a:solidFill>
            <a:srgbClr val="A07FD4"/>
          </a:solidFill>
          <a:ln/>
        </p:spPr>
      </p:sp>
      <p:sp>
        <p:nvSpPr>
          <p:cNvPr id="39" name="Text 37"/>
          <p:cNvSpPr/>
          <p:nvPr/>
        </p:nvSpPr>
        <p:spPr>
          <a:xfrm>
            <a:off x="4901184" y="7498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管理層課題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700016" y="1078992"/>
            <a:ext cx="4187952" cy="8778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9744" y="1353312"/>
            <a:ext cx="329184" cy="329184"/>
          </a:xfrm>
          <a:prstGeom prst="ellipse">
            <a:avLst/>
          </a:prstGeom>
          <a:solidFill>
            <a:srgbClr val="5A3E8A"/>
          </a:solidFill>
          <a:ln/>
        </p:spPr>
      </p:sp>
      <p:sp>
        <p:nvSpPr>
          <p:cNvPr id="42" name="Text 40"/>
          <p:cNvSpPr/>
          <p:nvPr/>
        </p:nvSpPr>
        <p:spPr>
          <a:xfrm>
            <a:off x="4809744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30368" y="11887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E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異常資料缺少提醒機制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30368" y="15361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系統應協助主管看見問題，而不只是列出資料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00016" y="2029968"/>
            <a:ext cx="4187952" cy="877824"/>
          </a:xfrm>
          <a:prstGeom prst="rect">
            <a:avLst/>
          </a:prstGeom>
          <a:solidFill>
            <a:srgbClr val="F3EEF9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09744" y="2304288"/>
            <a:ext cx="329184" cy="329184"/>
          </a:xfrm>
          <a:prstGeom prst="ellipse">
            <a:avLst/>
          </a:prstGeom>
          <a:solidFill>
            <a:srgbClr val="5A3E8A"/>
          </a:solidFill>
          <a:ln/>
        </p:spPr>
      </p:sp>
      <p:sp>
        <p:nvSpPr>
          <p:cNvPr id="47" name="Text 45"/>
          <p:cNvSpPr/>
          <p:nvPr/>
        </p:nvSpPr>
        <p:spPr>
          <a:xfrm>
            <a:off x="4809744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230368" y="213969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E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作業流程尚需標準化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230368" y="24871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各模組應有一致的執行、回報、結案邏輯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700016" y="2980944"/>
            <a:ext cx="4187952" cy="8778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09744" y="3255264"/>
            <a:ext cx="329184" cy="329184"/>
          </a:xfrm>
          <a:prstGeom prst="ellipse">
            <a:avLst/>
          </a:prstGeom>
          <a:solidFill>
            <a:srgbClr val="5A3E8A"/>
          </a:solidFill>
          <a:ln/>
        </p:spPr>
      </p:sp>
      <p:sp>
        <p:nvSpPr>
          <p:cNvPr id="52" name="Text 50"/>
          <p:cNvSpPr/>
          <p:nvPr/>
        </p:nvSpPr>
        <p:spPr>
          <a:xfrm>
            <a:off x="4809744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230368" y="30906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E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系統治理機制需建立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230368" y="34381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從開發系統，進一步走向資料治理與管理治理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56032" y="4224528"/>
            <a:ext cx="8631936" cy="621792"/>
          </a:xfrm>
          <a:prstGeom prst="rect">
            <a:avLst/>
          </a:prstGeom>
          <a:solidFill>
            <a:srgbClr val="0D2540"/>
          </a:solidFill>
          <a:ln/>
        </p:spPr>
      </p:sp>
      <p:sp>
        <p:nvSpPr>
          <p:cNvPr id="56" name="Shape 54"/>
          <p:cNvSpPr/>
          <p:nvPr/>
        </p:nvSpPr>
        <p:spPr>
          <a:xfrm>
            <a:off x="256032" y="4224528"/>
            <a:ext cx="164592" cy="621792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57" name="Text 55"/>
          <p:cNvSpPr/>
          <p:nvPr/>
        </p:nvSpPr>
        <p:spPr>
          <a:xfrm>
            <a:off x="530352" y="4224528"/>
            <a:ext cx="8302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系統建置完成只是第一步，真正的管理價值在於讓資料更正確、欄位更標準、流程更一致，並讓主管能夠快速看見問題與決策方向。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657600"/>
            <a:ext cx="2286000" cy="1485900"/>
          </a:xfrm>
          <a:prstGeom prst="rect">
            <a:avLst/>
          </a:prstGeom>
          <a:solidFill>
            <a:srgbClr val="1F487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0" dirty="0">
                <a:solidFill>
                  <a:srgbClr val="4BA8E8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Ragic Portal 不只是資料查詢系統，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1609344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BA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而是將日常作業資料轉化為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217627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管理決策依據的平台。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77240" y="2926080"/>
            <a:ext cx="5029200" cy="45720"/>
          </a:xfrm>
          <a:prstGeom prst="rect">
            <a:avLst/>
          </a:prstGeom>
          <a:solidFill>
            <a:srgbClr val="4BA8E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906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系統已完成，現在就可以使用。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4747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歡迎提出希望新增的管理視角，我們將持續擴充。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449884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v1.57  ｜  10+ 模組  ｜  飯店 × 商場 × 保全  ｜  Ragic Portal ©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Ragic Portal 管理決策平台</dc:title>
  <dc:subject>高階主管簡報</dc:subject>
  <dc:creator>Ragic Portal</dc:creator>
  <cp:lastModifiedBy>Ragic Portal</cp:lastModifiedBy>
  <cp:revision>1</cp:revision>
  <dcterms:created xsi:type="dcterms:W3CDTF">2026-05-08T00:01:34Z</dcterms:created>
  <dcterms:modified xsi:type="dcterms:W3CDTF">2026-05-08T00:01:34Z</dcterms:modified>
</cp:coreProperties>
</file>