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141FA-82BD-4BAB-B2DA-E6B8E03C18D3}" v="1" dt="2026-04-29T06:23:34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01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modSld">
      <pc:chgData name="Samuel Huang" userId="3d14d3036a2a384b" providerId="LiveId" clId="{59E6B3E9-767B-4360-86A1-1FE5E3B4620C}" dt="2026-04-29T06:23:34.707" v="0"/>
      <pc:docMkLst>
        <pc:docMk/>
      </pc:docMkLst>
      <pc:sldChg chg="modSp">
        <pc:chgData name="Samuel Huang" userId="3d14d3036a2a384b" providerId="LiveId" clId="{59E6B3E9-767B-4360-86A1-1FE5E3B4620C}" dt="2026-04-29T06:23:34.707" v="0"/>
        <pc:sldMkLst>
          <pc:docMk/>
          <pc:sldMk cId="0" sldId="256"/>
        </pc:sldMkLst>
        <pc:spChg chg="mod">
          <ac:chgData name="Samuel Huang" userId="3d14d3036a2a384b" providerId="LiveId" clId="{59E6B3E9-767B-4360-86A1-1FE5E3B4620C}" dt="2026-04-29T06:23:34.707" v="0"/>
          <ac:spMkLst>
            <pc:docMk/>
            <pc:sldMk cId="0" sldId="256"/>
            <ac:spMk id="28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4-29T06:23:34.707" v="0"/>
        <pc:sldMkLst>
          <pc:docMk/>
          <pc:sldMk cId="0" sldId="260"/>
        </pc:sldMkLst>
        <pc:spChg chg="mod">
          <ac:chgData name="Samuel Huang" userId="3d14d3036a2a384b" providerId="LiveId" clId="{59E6B3E9-767B-4360-86A1-1FE5E3B4620C}" dt="2026-04-29T06:23:34.707" v="0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4-29T06:23:34.707" v="0"/>
          <ac:spMkLst>
            <pc:docMk/>
            <pc:sldMk cId="0" sldId="260"/>
            <ac:spMk id="8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4-29T06:23:34.707" v="0"/>
        <pc:sldMkLst>
          <pc:docMk/>
          <pc:sldMk cId="0" sldId="261"/>
        </pc:sldMkLst>
        <pc:spChg chg="mod">
          <ac:chgData name="Samuel Huang" userId="3d14d3036a2a384b" providerId="LiveId" clId="{59E6B3E9-767B-4360-86A1-1FE5E3B4620C}" dt="2026-04-29T06:23:34.707" v="0"/>
          <ac:spMkLst>
            <pc:docMk/>
            <pc:sldMk cId="0" sldId="261"/>
            <ac:spMk id="9" creationId="{00000000-0000-0000-0000-000000000000}"/>
          </ac:spMkLst>
        </pc:spChg>
        <pc:spChg chg="mod">
          <ac:chgData name="Samuel Huang" userId="3d14d3036a2a384b" providerId="LiveId" clId="{59E6B3E9-767B-4360-86A1-1FE5E3B4620C}" dt="2026-04-29T06:23:34.707" v="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amuel Huang" userId="3d14d3036a2a384b" providerId="LiveId" clId="{59E6B3E9-767B-4360-86A1-1FE5E3B4620C}" dt="2026-04-29T06:23:34.707" v="0"/>
          <ac:spMkLst>
            <pc:docMk/>
            <pc:sldMk cId="0" sldId="261"/>
            <ac:spMk id="16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4-29T06:23:34.707" v="0"/>
        <pc:sldMkLst>
          <pc:docMk/>
          <pc:sldMk cId="0" sldId="263"/>
        </pc:sldMkLst>
        <pc:spChg chg="mod">
          <ac:chgData name="Samuel Huang" userId="3d14d3036a2a384b" providerId="LiveId" clId="{59E6B3E9-767B-4360-86A1-1FE5E3B4620C}" dt="2026-04-29T06:23:34.707" v="0"/>
          <ac:spMkLst>
            <pc:docMk/>
            <pc:sldMk cId="0" sldId="263"/>
            <ac:spMk id="4" creationId="{00000000-0000-0000-0000-000000000000}"/>
          </ac:spMkLst>
        </pc:spChg>
      </pc:sldChg>
      <pc:sldChg chg="modSp">
        <pc:chgData name="Samuel Huang" userId="3d14d3036a2a384b" providerId="LiveId" clId="{59E6B3E9-767B-4360-86A1-1FE5E3B4620C}" dt="2026-04-29T06:23:34.707" v="0"/>
        <pc:sldMkLst>
          <pc:docMk/>
          <pc:sldMk cId="0" sldId="265"/>
        </pc:sldMkLst>
        <pc:spChg chg="mod">
          <ac:chgData name="Samuel Huang" userId="3d14d3036a2a384b" providerId="LiveId" clId="{59E6B3E9-767B-4360-86A1-1FE5E3B4620C}" dt="2026-04-29T06:23:34.707" v="0"/>
          <ac:spMkLst>
            <pc:docMk/>
            <pc:sldMk cId="0" sldId="265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12801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報修規則</a:t>
            </a:r>
            <a:endParaRPr lang="en-US" sz="3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計算說明文件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BA8E8"/>
                </a:solidFill>
              </a:rPr>
              <a:t>Repair Calculation Rules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3337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D4"/>
                </a:solidFill>
              </a:rPr>
              <a:t>2026-04-29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777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A8E8"/>
                </a:solidFill>
              </a:rPr>
              <a:t>章節索引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1261872"/>
            <a:ext cx="274320" cy="274320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93192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0" y="1261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欄位對照表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0" y="1737360"/>
            <a:ext cx="274320" cy="274320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931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狀態判定邏輯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2212848"/>
            <a:ext cx="274320" cy="274320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93192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97680" y="2212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時間計算規則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2688336"/>
            <a:ext cx="274320" cy="274320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93192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四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7680" y="26883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件數計算公式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3163824"/>
            <a:ext cx="274320" cy="274320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93192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五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97680" y="3163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金額計算公式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31920" y="3639312"/>
            <a:ext cx="274320" cy="274320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93192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六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97680" y="36393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扣款專櫃規則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31920" y="4114800"/>
            <a:ext cx="274320" cy="274320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9319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七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97680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</a:rPr>
              <a:t>各</a:t>
            </a:r>
            <a:r>
              <a:rPr lang="zh-TW" altLang="en-US" sz="1200">
                <a:solidFill>
                  <a:srgbClr val="FFFFFF"/>
                </a:solidFill>
              </a:rPr>
              <a:t>計算基準</a:t>
            </a:r>
            <a:r>
              <a:rPr lang="en-US" sz="1200">
                <a:solidFill>
                  <a:srgbClr val="FFFFFF"/>
                </a:solidFill>
              </a:rPr>
              <a:t>對比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2880" y="475488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D"/>
                </a:solidFill>
              </a:rPr>
              <a:t>適用模組：樂群工務報修（LuqunRepair）│ 大直工務報修（DazhiRepair）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一、欄位對照表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A8E8"/>
                </a:solidFill>
              </a:rPr>
              <a:t>Ragic 原始欄位 ↔ 程式欄位（英文）↔ 中文名稱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51560"/>
          <a:ext cx="8778240" cy="3840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中文名稱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英文欄位名（DB）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Ragic 原始欄位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報修編號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工單號碼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唯一識別碼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報修內容描述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報修人姓名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reporter_name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報修人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報修類型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repair_type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報修類型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程式自動標準化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發生樓層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發生樓層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原始字串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發生時間（報修時間）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occurred_at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報修時間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datetime，必填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花費工時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work_hours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花費工時 / 工務處理天數×24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單位：hr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處理狀況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處理狀況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完成判定唯一依據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委外費用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outsource_fee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委外費用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金額（元）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維修費用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maintenance_fee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維修費用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金額（元）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費用合計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total_fee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—（衍生）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委外 + 維修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結案時間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completed_at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結案時間 / 結案日期 / 驗收日期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備援順序取值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扣款費用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deduction_fee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扣款費用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金額（元）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扣款專櫃名稱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deduction_counter_name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扣款專櫃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"多櫃"需另行解析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二、衍生欄位 &amp; 狀態判定邏輯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A8E8"/>
                </a:solidFill>
              </a:rPr>
              <a:t>完成判定以 status 為唯一依據，completed_at 僅供結案天數計算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411480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92608" y="1024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衍生計算欄位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344168"/>
            <a:ext cx="3913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</a:rPr>
              <a:t>total_fee</a:t>
            </a:r>
            <a:r>
              <a:rPr lang="en-US" sz="900" dirty="0">
                <a:solidFill>
                  <a:srgbClr val="333333"/>
                </a:solidFill>
              </a:rPr>
              <a:t> = outsource_fee + maintenance_fee
</a:t>
            </a:r>
            <a:r>
              <a:rPr lang="en-US" sz="900" b="1" dirty="0">
                <a:solidFill>
                  <a:srgbClr val="1B3A5C"/>
                </a:solidFill>
              </a:rPr>
              <a:t>close_days</a:t>
            </a:r>
            <a:r>
              <a:rPr lang="en-US" sz="900" dirty="0">
                <a:solidFill>
                  <a:srgbClr val="333333"/>
                </a:solidFill>
              </a:rPr>
              <a:t> = (completed_at − occurred_at) ÷ 86400 秒
</a:t>
            </a:r>
            <a:r>
              <a:rPr lang="en-US" sz="900" b="1" dirty="0">
                <a:solidFill>
                  <a:srgbClr val="1B3A5C"/>
                </a:solidFill>
              </a:rPr>
              <a:t>stat_month</a:t>
            </a:r>
            <a:r>
              <a:rPr lang="en-US" sz="900" dirty="0">
                <a:solidFill>
                  <a:srgbClr val="333333"/>
                </a:solidFill>
              </a:rPr>
              <a:t> = 已完成 → completed_at.month
         否則 → occurred_at.month
</a:t>
            </a:r>
            <a:r>
              <a:rPr lang="en-US" sz="900" b="1" dirty="0">
                <a:solidFill>
                  <a:srgbClr val="1B3A5C"/>
                </a:solidFill>
              </a:rPr>
              <a:t>occ_month</a:t>
            </a:r>
            <a:r>
              <a:rPr lang="en-US" sz="900" dirty="0">
                <a:solidFill>
                  <a:srgbClr val="333333"/>
                </a:solidFill>
              </a:rPr>
              <a:t> = 永遠 = occurred_at.month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4480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448056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90288" y="1024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完成狀態（COMPLETED_STATUSES）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90288" y="1344168"/>
            <a:ext cx="4279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已辦驗 │ 已驗收 │ 已結案 │ 結案
完修 │ 已完成 │ 完成
</a:t>
            </a:r>
            <a:r>
              <a:rPr lang="en-US" sz="900" b="1" dirty="0">
                <a:solidFill>
                  <a:srgbClr val="FF4D4F"/>
                </a:solidFill>
              </a:rPr>
              <a:t>排除狀態：</a:t>
            </a:r>
            <a:r>
              <a:rPr lang="en-US" sz="900" dirty="0">
                <a:solidFill>
                  <a:srgbClr val="333333"/>
                </a:solidFill>
              </a:rPr>
              <a:t>取消
</a:t>
            </a:r>
            <a:r>
              <a:rPr lang="en-US" sz="900" b="1" dirty="0">
                <a:solidFill>
                  <a:srgbClr val="FA8C16"/>
                </a:solidFill>
              </a:rPr>
              <a:t>⚠ completed_at ≠ 完成判定依據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926080"/>
            <a:ext cx="8778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82880" y="2926080"/>
            <a:ext cx="8778240" cy="292608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92608" y="2944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三類互斥分類（合計 = 本月相關案件總數）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52C4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2743200" cy="32004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200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已完成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657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is_completed(status)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∈ COMPLETED_STATUSES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2918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AD1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3246120" y="3291840"/>
            <a:ext cx="2743200" cy="320040"/>
          </a:xfrm>
          <a:prstGeom prst="rect">
            <a:avLst/>
          </a:prstGeom>
          <a:solidFill>
            <a:srgbClr val="FAAD14"/>
          </a:solidFill>
          <a:ln w="12700">
            <a:solidFill>
              <a:srgbClr val="FAAD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24612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待辦驗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657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status == "待辦驗"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尚未驗收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291840"/>
            <a:ext cx="27432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172200" y="3291840"/>
            <a:ext cx="2743200" cy="320040"/>
          </a:xfrm>
          <a:prstGeom prst="rect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未完成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657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total − 已完成 − 待辦驗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（非完成、非待辦驗、非排除）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97180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+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897880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+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三、時間計算規則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A8E8"/>
                </a:solidFill>
              </a:rPr>
              <a:t>stat_month 決定案件月份歸屬；occ_month 僅用於 4.1 報修統計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30352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92608" y="10241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統計月份（stat_month）決策規則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344168"/>
            <a:ext cx="51023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BA8E8"/>
                </a:solidFill>
              </a:rPr>
              <a:t>IF  </a:t>
            </a:r>
            <a:r>
              <a:rPr lang="en-US" sz="900" dirty="0">
                <a:solidFill>
                  <a:srgbClr val="333333"/>
                </a:solidFill>
              </a:rPr>
              <a:t>is_completed(status)  AND  completed_at ≠ None
</a:t>
            </a:r>
            <a:r>
              <a:rPr lang="en-US" sz="900" b="1" dirty="0">
                <a:solidFill>
                  <a:srgbClr val="52C41A"/>
                </a:solidFill>
              </a:rPr>
              <a:t>    stat_year  = completed_at.year
    stat_month = completed_at.month    ← 結案月份
</a:t>
            </a:r>
            <a:r>
              <a:rPr lang="en-US" sz="900" b="1" dirty="0">
                <a:solidFill>
                  <a:srgbClr val="4BA8E8"/>
                </a:solidFill>
              </a:rPr>
              <a:t>ELSE
</a:t>
            </a:r>
            <a:r>
              <a:rPr lang="en-US" sz="900" b="1" dirty="0">
                <a:solidFill>
                  <a:srgbClr val="FA8C16"/>
                </a:solidFill>
              </a:rPr>
              <a:t>    stat_year  = occurred_at.year
    stat_month = occurred_at.month     ← 報修月份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0" y="1005840"/>
            <a:ext cx="32918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669280" y="1005840"/>
            <a:ext cx="329184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779008" y="1024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結案天數（close_days）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79008" y="1344168"/>
            <a:ext cx="30906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</a:rPr>
              <a:t>條件：
</a:t>
            </a:r>
            <a:r>
              <a:rPr lang="en-US" sz="900" dirty="0">
                <a:solidFill>
                  <a:srgbClr val="333333"/>
                </a:solidFill>
              </a:rPr>
              <a:t>is_completed  AND
occ_at ≠ None  AND
comp_at ≠ None
</a:t>
            </a:r>
            <a:r>
              <a:rPr lang="en-US" sz="900" b="1" dirty="0">
                <a:solidFill>
                  <a:srgbClr val="1B3A5C"/>
                </a:solidFill>
              </a:rPr>
              <a:t>公式：
</a:t>
            </a:r>
            <a:r>
              <a:rPr lang="en-US" sz="900" dirty="0">
                <a:solidFill>
                  <a:srgbClr val="333333"/>
                </a:solidFill>
              </a:rPr>
              <a:t>(completed_at − occurred_at)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÷ 86400 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3401568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82880" y="3401568"/>
            <a:ext cx="5303520" cy="292608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92608" y="341985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結案速度分級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15087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52C4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0040" y="37673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C41A"/>
                </a:solidFill>
              </a:rPr>
              <a:t>速結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160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≤ 7 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3749040"/>
            <a:ext cx="15087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4B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011680" y="37673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BA8E8"/>
                </a:solidFill>
              </a:rPr>
              <a:t>一般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11680" y="4160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8 ~ 30 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3749040"/>
            <a:ext cx="15087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4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703320" y="37673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D4F"/>
                </a:solidFill>
              </a:rPr>
              <a:t>長尾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03320" y="4160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&gt; 30 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3401568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5669280" y="3401568"/>
            <a:ext cx="329184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77900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樂群 vs 大直 差異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79008" y="3739896"/>
            <a:ext cx="3090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</a:rPr>
              <a:t>樂群：</a:t>
            </a:r>
            <a:r>
              <a:rPr lang="en-US" sz="900" dirty="0">
                <a:solidFill>
                  <a:srgbClr val="333333"/>
                </a:solidFill>
              </a:rPr>
              <a:t>__init__ 已正確計算
c.year / c.month 直接讀取
</a:t>
            </a:r>
            <a:r>
              <a:rPr lang="en-US" sz="900" b="1" dirty="0">
                <a:solidFill>
                  <a:srgbClr val="4BA8E8"/>
                </a:solidFill>
              </a:rPr>
              <a:t>大直：</a:t>
            </a:r>
            <a:r>
              <a:rPr lang="en-US" sz="900" dirty="0">
                <a:solidFill>
                  <a:srgbClr val="333333"/>
                </a:solidFill>
              </a:rPr>
              <a:t>c.year/month = occurred_at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需先判斷 is_completed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再讀 completed_at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四、件數計算公式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A8E8"/>
                </a:solidFill>
              </a:rPr>
              <a:t>Dashboard KPI 與 </a:t>
            </a:r>
            <a:r>
              <a:rPr lang="en-US" sz="1000" i="1">
                <a:solidFill>
                  <a:srgbClr val="4BA8E8"/>
                </a:solidFill>
              </a:rPr>
              <a:t>4.1 報修統計使用不同月份</a:t>
            </a:r>
            <a:r>
              <a:rPr lang="zh-TW" altLang="en-US" sz="1000" i="1">
                <a:solidFill>
                  <a:srgbClr val="4BA8E8"/>
                </a:solidFill>
              </a:rPr>
              <a:t>計算基準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877824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92608" y="10241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Dashboard 本月相關案件</a:t>
            </a:r>
            <a:r>
              <a:rPr lang="zh-TW" altLang="en-US" sz="1000" b="1">
                <a:solidFill>
                  <a:srgbClr val="FFFFFF"/>
                </a:solidFill>
              </a:rPr>
              <a:t>計算基準</a:t>
            </a:r>
            <a:r>
              <a:rPr lang="en-US" sz="1000" b="1">
                <a:solidFill>
                  <a:srgbClr val="FFFFFF"/>
                </a:solidFill>
              </a:rPr>
              <a:t>（</a:t>
            </a:r>
            <a:r>
              <a:rPr lang="en-US" sz="1000" b="1" dirty="0">
                <a:solidFill>
                  <a:srgbClr val="FFFFFF"/>
                </a:solidFill>
              </a:rPr>
              <a:t>this_month_cases）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344168"/>
            <a:ext cx="8577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</a:rPr>
              <a:t>本月相關案件</a:t>
            </a:r>
            <a:r>
              <a:rPr lang="en-US" sz="900" dirty="0">
                <a:solidFill>
                  <a:srgbClr val="555555"/>
                </a:solidFill>
              </a:rPr>
              <a:t>  =  </a:t>
            </a:r>
            <a:r>
              <a:rPr lang="en-US" sz="900" b="1" dirty="0">
                <a:solidFill>
                  <a:srgbClr val="FA8C16"/>
                </a:solidFill>
              </a:rPr>
              <a:t>上期累計未結</a:t>
            </a:r>
            <a:r>
              <a:rPr lang="en-US" sz="900" dirty="0">
                <a:solidFill>
                  <a:srgbClr val="555555"/>
                </a:solidFill>
              </a:rPr>
              <a:t>（occurred_at ≤ 前月底  AND  NOT is_completed）  +  </a:t>
            </a:r>
            <a:r>
              <a:rPr lang="en-US" sz="900" b="1" dirty="0">
                <a:solidFill>
                  <a:srgbClr val="52C41A"/>
                </a:solidFill>
              </a:rPr>
              <a:t>本期新增報修</a:t>
            </a:r>
            <a:r>
              <a:rPr lang="en-US" sz="900" dirty="0">
                <a:solidFill>
                  <a:srgbClr val="555555"/>
                </a:solidFill>
              </a:rPr>
              <a:t>（occ_year==year  AND  occ_month==month）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331720"/>
          <a:ext cx="877824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名稱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英文 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計算公式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本月相關案件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len(this_month_cases)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已完成件數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where is_completed(status)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待辦驗件數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pending_verify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where status == "待辦驗"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未完成件數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− completed − pending_verify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平均結案天數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avg_close_days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mean(close_days) where is_completed AND close_days ≠ 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客房報修件數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room_cases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where is_room_case == 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花費工時合計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total_work_hours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sum(work_hours)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182880" y="4572000"/>
            <a:ext cx="87782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320040" y="4608576"/>
            <a:ext cx="8503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5C"/>
                </a:solidFill>
              </a:rPr>
              <a:t>4.1 報修統計 Tab：永遠以 occ_month（occurred_at.month）為月份依據，不受 stat_month 影響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五、金額計算公式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A8E8"/>
                </a:solidFill>
              </a:rPr>
              <a:t>當月用 fee_month_cases；YTD 用 ytd_cases（stat_month ≤ 選定月）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4023360" cy="292608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92608" y="1024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當月金額（fee_month_cases）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344168"/>
            <a:ext cx="38221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900" b="1">
                <a:solidFill>
                  <a:srgbClr val="1B3A5C"/>
                </a:solidFill>
              </a:rPr>
              <a:t>計算基準</a:t>
            </a:r>
            <a:r>
              <a:rPr lang="en-US" sz="900" b="1">
                <a:solidFill>
                  <a:srgbClr val="1B3A5C"/>
                </a:solidFill>
              </a:rPr>
              <a:t>：</a:t>
            </a:r>
            <a:r>
              <a:rPr lang="en-US" sz="900" dirty="0">
                <a:solidFill>
                  <a:srgbClr val="555555"/>
                </a:solidFill>
              </a:rPr>
              <a:t>stat_month == 選定月
</a:t>
            </a:r>
            <a:r>
              <a:rPr lang="en-US" sz="900" b="1" dirty="0">
                <a:solidFill>
                  <a:srgbClr val="4BA8E8"/>
                </a:solidFill>
              </a:rPr>
              <a:t>委外費用   </a:t>
            </a:r>
            <a:r>
              <a:rPr lang="en-US" sz="900" dirty="0">
                <a:solidFill>
                  <a:srgbClr val="333333"/>
                </a:solidFill>
              </a:rPr>
              <a:t>sum(outsource_fee)
</a:t>
            </a:r>
            <a:r>
              <a:rPr lang="en-US" sz="900" b="1" dirty="0">
                <a:solidFill>
                  <a:srgbClr val="4BA8E8"/>
                </a:solidFill>
              </a:rPr>
              <a:t>維修費用   </a:t>
            </a:r>
            <a:r>
              <a:rPr lang="en-US" sz="900" dirty="0">
                <a:solidFill>
                  <a:srgbClr val="333333"/>
                </a:solidFill>
              </a:rPr>
              <a:t>sum(maintenance_fee)
</a:t>
            </a:r>
            <a:r>
              <a:rPr lang="en-US" sz="900" b="1" dirty="0">
                <a:solidFill>
                  <a:srgbClr val="FF4D4F"/>
                </a:solidFill>
              </a:rPr>
              <a:t>扣款費用   </a:t>
            </a:r>
            <a:r>
              <a:rPr lang="en-US" sz="900" dirty="0">
                <a:solidFill>
                  <a:srgbClr val="333333"/>
                </a:solidFill>
              </a:rPr>
              <a:t>sum(deduction_fee)
</a:t>
            </a:r>
            <a:r>
              <a:rPr lang="en-US" sz="900" b="1" dirty="0">
                <a:solidFill>
                  <a:srgbClr val="1B3A5C"/>
                </a:solidFill>
              </a:rPr>
              <a:t>當月小計   </a:t>
            </a:r>
            <a:r>
              <a:rPr lang="en-US" sz="900" dirty="0">
                <a:solidFill>
                  <a:srgbClr val="333333"/>
                </a:solidFill>
              </a:rPr>
              <a:t>委外 + 維修 + 扣款費用
</a:t>
            </a:r>
            <a:r>
              <a:rPr lang="en-US" sz="900" b="1" dirty="0">
                <a:solidFill>
                  <a:srgbClr val="FA8C16"/>
                </a:solidFill>
              </a:rPr>
              <a:t>扣款專櫃家數</a:t>
            </a:r>
            <a:r>
              <a:rPr lang="en-US" sz="900" dirty="0">
                <a:solidFill>
                  <a:srgbClr val="333333"/>
                </a:solidFill>
              </a:rPr>
              <a:t> 唯一店名數（已完成）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44805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4480560" cy="292608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90288" y="1024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YTD 累計費用（ytd_cases）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90288" y="1344168"/>
            <a:ext cx="4279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900" b="1">
                <a:solidFill>
                  <a:srgbClr val="1B3A5C"/>
                </a:solidFill>
              </a:rPr>
              <a:t>計算基準</a:t>
            </a:r>
            <a:r>
              <a:rPr lang="en-US" sz="900" b="1">
                <a:solidFill>
                  <a:srgbClr val="1B3A5C"/>
                </a:solidFill>
              </a:rPr>
              <a:t>：</a:t>
            </a:r>
            <a:r>
              <a:rPr lang="en-US" sz="900" dirty="0">
                <a:solidFill>
                  <a:srgbClr val="555555"/>
                </a:solidFill>
              </a:rPr>
              <a:t>stat_year==year  AND  stat_month ≤ 選定月
（全年：全年度）
</a:t>
            </a:r>
            <a:r>
              <a:rPr lang="en-US" sz="900" b="1" dirty="0">
                <a:solidFill>
                  <a:srgbClr val="4BA8E8"/>
                </a:solidFill>
              </a:rPr>
              <a:t>委外+維修  </a:t>
            </a:r>
            <a:r>
              <a:rPr lang="en-US" sz="900" dirty="0">
                <a:solidFill>
                  <a:srgbClr val="333333"/>
                </a:solidFill>
              </a:rPr>
              <a:t>annual_fee
</a:t>
            </a:r>
            <a:r>
              <a:rPr lang="en-US" sz="900" b="1" dirty="0">
                <a:solidFill>
                  <a:srgbClr val="FF4D4F"/>
                </a:solidFill>
              </a:rPr>
              <a:t>扣款費用   </a:t>
            </a:r>
            <a:r>
              <a:rPr lang="en-US" sz="900" dirty="0">
                <a:solidFill>
                  <a:srgbClr val="333333"/>
                </a:solidFill>
              </a:rPr>
              <a:t>annual_deduction_fee
</a:t>
            </a:r>
            <a:r>
              <a:rPr lang="en-US" sz="900" b="1" dirty="0">
                <a:solidFill>
                  <a:srgbClr val="FA8C16"/>
                </a:solidFill>
              </a:rPr>
              <a:t>扣款專櫃家數</a:t>
            </a:r>
            <a:r>
              <a:rPr lang="en-US" sz="900" dirty="0">
                <a:solidFill>
                  <a:srgbClr val="333333"/>
                </a:solidFill>
              </a:rPr>
              <a:t> annual_deduction_counter
                </a:t>
            </a:r>
            <a:r>
              <a:rPr lang="en-US" sz="900" dirty="0">
                <a:solidFill>
                  <a:srgbClr val="64748B"/>
                </a:solidFill>
              </a:rPr>
              <a:t>跨月去重，已完成案件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3337560"/>
            <a:ext cx="8778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82880" y="3337560"/>
            <a:ext cx="877824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92608" y="33558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金額統計 Tab — 12 個月交叉表（</a:t>
            </a:r>
            <a:r>
              <a:rPr lang="en-US" sz="1000" b="1">
                <a:solidFill>
                  <a:srgbClr val="FFFFFF"/>
                </a:solidFill>
              </a:rPr>
              <a:t>每月獨立計算，</a:t>
            </a:r>
            <a:r>
              <a:rPr lang="zh-TW" altLang="en-US" sz="1000" b="1">
                <a:solidFill>
                  <a:srgbClr val="FFFFFF"/>
                </a:solidFill>
              </a:rPr>
              <a:t>計算基準</a:t>
            </a:r>
            <a:r>
              <a:rPr lang="en-US" sz="1000" b="1">
                <a:solidFill>
                  <a:srgbClr val="FFFFFF"/>
                </a:solidFill>
              </a:rPr>
              <a:t>同 </a:t>
            </a:r>
            <a:r>
              <a:rPr lang="en-US" sz="1000" b="1" dirty="0">
                <a:solidFill>
                  <a:srgbClr val="FFFFFF"/>
                </a:solidFill>
              </a:rPr>
              <a:t>fee_month_cases）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4B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0040" y="3721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A8E8"/>
                </a:solidFill>
              </a:rPr>
              <a:t>委外費用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0873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</a:rPr>
              <a:t>sum(outsource_fee)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39112" y="37033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52C4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039112" y="3721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C41A"/>
                </a:solidFill>
              </a:rPr>
              <a:t>維修費用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84832" y="40873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</a:rPr>
              <a:t>sum(maintenance_fee)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58184" y="37033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4D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758184" y="3721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D4F"/>
                </a:solidFill>
              </a:rPr>
              <a:t>扣款費用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03904" y="40873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</a:rPr>
              <a:t>sum(deduction_fee)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77256" y="37033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477256" y="3721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8C16"/>
                </a:solidFill>
              </a:rPr>
              <a:t>扣款專櫃家數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22976" y="40873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</a:rPr>
              <a:t>唯一店名數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</a:rPr>
              <a:t>（is_completed 必要）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196328" y="37033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22ED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196328" y="37216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2ED1"/>
                </a:solidFill>
              </a:rPr>
              <a:t>月份小計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42048" y="408736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</a:rPr>
              <a:t>委外+維修+扣款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</a:rPr>
              <a:t>（家數不計入）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六、扣款專櫃計算規則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A8E8"/>
                </a:solidFill>
              </a:rPr>
              <a:t>三個必要條件 + is_completed gate 防止跨月污染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4206240" cy="292608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92608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計入條件（三個必要條件同時滿足）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292608" cy="292608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①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4944" y="14173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2C41A"/>
                </a:solidFill>
              </a:rPr>
              <a:t>is_completed(status)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4944" y="16002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status ∈ COMPLETED_STATUSES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947672"/>
            <a:ext cx="292608" cy="292608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2004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②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4944" y="19476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D4F"/>
                </a:solidFill>
              </a:rPr>
              <a:t>deduction_fee &gt; 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4944" y="21305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有扣款金額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478024"/>
            <a:ext cx="292608" cy="292608"/>
          </a:xfrm>
          <a:prstGeom prst="ellipse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0040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③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4944" y="24780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A8E8"/>
                </a:solidFill>
              </a:rPr>
              <a:t>deduction_counter_name ≠ ''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4944" y="26609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有填寫專櫃名稱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389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4389120" cy="292608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681728" y="1024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多櫃（"多櫃"）解析邏輯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1344168"/>
            <a:ext cx="41879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A8C16"/>
                </a:solidFill>
              </a:rPr>
              <a:t>IF deduction_counter_name == "多櫃"
</a:t>
            </a:r>
            <a:r>
              <a:rPr lang="en-US" sz="900" dirty="0">
                <a:solidFill>
                  <a:srgbClr val="333333"/>
                </a:solidFill>
              </a:rPr>
              <a:t>   從 finance_note 按行解析
   格式："店名 金額" → 去掉結尾數字
   → counter_stores list
</a:t>
            </a:r>
            <a:r>
              <a:rPr lang="en-US" sz="900" b="1" dirty="0">
                <a:solidFill>
                  <a:srgbClr val="4BA8E8"/>
                </a:solidFill>
              </a:rPr>
              <a:t>ELSE
</a:t>
            </a:r>
            <a:r>
              <a:rPr lang="en-US" sz="900" dirty="0">
                <a:solidFill>
                  <a:srgbClr val="333333"/>
                </a:solidFill>
              </a:rPr>
              <a:t>   counter_stores = [deduction_counter_name]
</a:t>
            </a:r>
            <a:r>
              <a:rPr lang="en-US" sz="900" b="1" dirty="0">
                <a:solidFill>
                  <a:srgbClr val="64748B"/>
                </a:solidFill>
              </a:rPr>
              <a:t>備援：</a:t>
            </a:r>
            <a:r>
              <a:rPr lang="en-US" sz="900" dirty="0">
                <a:solidFill>
                  <a:srgbClr val="64748B"/>
                </a:solidFill>
              </a:rPr>
              <a:t>finance_note 為空 → ["多櫃"]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3200400"/>
            <a:ext cx="8778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82880" y="3200400"/>
            <a:ext cx="877824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292608" y="32186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唯一家數計算方式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566160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4BA8E8"/>
                </a:solidFill>
              </a:rPr>
              <a:t>當月家數：</a:t>
            </a:r>
            <a:r>
              <a:rPr lang="en-US" sz="950" dirty="0">
                <a:solidFill>
                  <a:srgbClr val="333333"/>
                </a:solidFill>
              </a:rPr>
              <a:t>unique_stores = set()；對 fee_month_cases 中符合三條件的案件 → update(counter_stores)
</a:t>
            </a:r>
            <a:r>
              <a:rPr lang="en-US" sz="950" b="1" dirty="0">
                <a:solidFill>
                  <a:srgbClr val="FA8C16"/>
                </a:solidFill>
              </a:rPr>
              <a:t>YTD 家數：</a:t>
            </a:r>
            <a:r>
              <a:rPr lang="en-US" sz="950" dirty="0">
                <a:solidFill>
                  <a:srgbClr val="333333"/>
                </a:solidFill>
              </a:rPr>
              <a:t>同上，但來源改為 ytd_cases（stat_month ≤ 選定月）→ 跨月去重
</a:t>
            </a:r>
            <a:r>
              <a:rPr lang="en-US" sz="950" b="1" dirty="0">
                <a:solidFill>
                  <a:srgbClr val="FF4D4F"/>
                </a:solidFill>
              </a:rPr>
              <a:t>⚠ 注意：</a:t>
            </a:r>
            <a:r>
              <a:rPr lang="en-US" sz="950" dirty="0">
                <a:solidFill>
                  <a:srgbClr val="FF4D4F"/>
                </a:solidFill>
              </a:rPr>
              <a:t>YTD 唯一家數 ≠ 各月家數直接加總（同一家店跨月只算一次）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4736592"/>
            <a:ext cx="8778240" cy="274320"/>
          </a:xfrm>
          <a:prstGeom prst="rect">
            <a:avLst/>
          </a:prstGeom>
          <a:solidFill>
            <a:srgbClr val="FFF7E6"/>
          </a:solidFill>
          <a:ln w="12700">
            <a:solidFill>
              <a:srgbClr val="FA8C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20040" y="475488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A8C16"/>
                </a:solidFill>
              </a:rPr>
              <a:t>is_completed gate 的必要性：待辦驗案件 c.month = occurred_at.month，若不加限制，其 completed_at（可能為未來月份）會污染當月/YTD 的扣款統計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七</a:t>
            </a:r>
            <a:r>
              <a:rPr lang="en-US" sz="2200" b="1">
                <a:solidFill>
                  <a:srgbClr val="FFFFFF"/>
                </a:solidFill>
              </a:rPr>
              <a:t>、各</a:t>
            </a:r>
            <a:r>
              <a:rPr lang="zh-TW" altLang="en-US" sz="2200" b="1">
                <a:solidFill>
                  <a:srgbClr val="FFFFFF"/>
                </a:solidFill>
              </a:rPr>
              <a:t>計算基準</a:t>
            </a:r>
            <a:r>
              <a:rPr lang="en-US" sz="2200" b="1">
                <a:solidFill>
                  <a:srgbClr val="FFFFFF"/>
                </a:solidFill>
              </a:rPr>
              <a:t>對比總表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A8E8"/>
                </a:solidFill>
              </a:rPr>
              <a:t>不同統計視角使用不同月份分桶依據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32186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統計維度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月份分桶依據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案件範圍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完成判定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本月相關案件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occ_month（報修月）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上期未結 + 本期新增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is_completed(status)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費用（當月）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stat_month（完工/報修月）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stat_month == 選定月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費用（YTD）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stat_month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stat_month ≤ 選定月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扣款專櫃（YTD）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stat_month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stat_month ≤ 選定月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is_completed 必要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金額統計 Tab（逐月）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stat_month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stat_month ==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扣款專櫃欄：is_completed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報修統計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occ_month（報修月）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occ_month == 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is_completed(status)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結案時間 Tab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completed_at.month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is_completed AND completed_at in (y,m)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is_completed(status)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4645152"/>
            <a:ext cx="8778240" cy="347472"/>
          </a:xfrm>
          <a:prstGeom prst="rect">
            <a:avLst/>
          </a:prstGeom>
          <a:solidFill>
            <a:srgbClr val="FFF7E6"/>
          </a:solidFill>
          <a:ln w="12700">
            <a:solidFill>
              <a:srgbClr val="FA8C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320040" y="46634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A8C16"/>
                </a:solidFill>
              </a:rPr>
              <a:t>★ 扣款專櫃計數一律需加 is_completed(status) gate，確保案件的 c.month = completed_at.month，ytd 過濾才能精確排除超出期間的案件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八、資料流程 &amp; 邊界條件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A8E8"/>
                </a:solidFill>
              </a:rPr>
              <a:t>從 Ragic API 到各統計函式的完整路徑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468880" cy="11887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Ragic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fetch_all_cases()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stale-while-revalidate cache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0" y="16916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063240" y="15727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1097280"/>
            <a:ext cx="2468880" cy="11887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108960" y="1115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RepairCase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__init__()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清洗 / 標準化 / 衍生欄位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stat_month / close_days / counter_stores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16916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897880" y="15727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2468880" cy="118872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943600" y="1115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compute_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1600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this_month_cases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fee_month_cases / ytd_cases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分支統計函式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B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A8E8"/>
                </a:solidFill>
              </a:rPr>
              <a:t>4.1 報修統計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044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compute_repair_stats()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50592" y="2743200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C4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450592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2C41A"/>
                </a:solidFill>
              </a:rPr>
              <a:t>4.2 結案時間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50592" y="3044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compute_closing_time()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26864" y="2743200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22ED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626864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22ED1"/>
                </a:solidFill>
              </a:rPr>
              <a:t>4.3 報修類型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26864" y="3044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compute_type_stats()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03136" y="2743200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803136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8C16"/>
                </a:solidFill>
              </a:rPr>
              <a:t>金額統計 Tab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03136" y="3044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compute_fee_stats()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3566160"/>
            <a:ext cx="8778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182880" y="3566160"/>
            <a:ext cx="8778240" cy="292608"/>
          </a:xfrm>
          <a:prstGeom prst="rect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292608" y="35844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特殊情況 &amp; 邊界條件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3913632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</a:rPr>
              <a:t>completed_at 為空但 status 已完成 → stat_month = None，不計入任何月份 bucket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</a:rPr>
              <a:t>occurred_at 為空 → 排除 close_days 計算；occ_year/occ_month = None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</a:rPr>
              <a:t>status = 取消（EXCLUDED）→ is_excluded_flag = True，所有統計函式前先過濾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</a:rPr>
              <a:t>大直模組無 deduction_counter 欄位，扣款專櫃邏輯僅適用於樂群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</a:rPr>
              <a:t>多櫃且財務備註為空 → counter_stores = ["多櫃"]（當作一家店）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版本記錄 &amp; 重要修正歷程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749808"/>
          </a:xfrm>
          <a:prstGeom prst="rect">
            <a:avLst/>
          </a:prstGeom>
          <a:solidFill>
            <a:srgbClr val="0F2A45"/>
          </a:solidFill>
          <a:ln w="1905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11480" y="13075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A8E8"/>
                </a:solidFill>
              </a:rPr>
              <a:t>v1.39.46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3075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D"/>
                </a:solidFill>
              </a:rPr>
              <a:t>2026-04-29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DE8"/>
                </a:solidFill>
              </a:rPr>
              <a:t>扣款專櫃計算修正：當月改用 fee_month_cases；YTD 加 is_completed gate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130552"/>
            <a:ext cx="8595360" cy="749808"/>
          </a:xfrm>
          <a:prstGeom prst="rect">
            <a:avLst/>
          </a:prstGeom>
          <a:solidFill>
            <a:srgbClr val="0F2A45"/>
          </a:solidFill>
          <a:ln w="1905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A8E8"/>
                </a:solidFill>
              </a:rPr>
              <a:t>v1.39.44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1579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D"/>
                </a:solidFill>
              </a:rPr>
              <a:t>2026-04-29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47802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DE8"/>
                </a:solidFill>
              </a:rPr>
              <a:t>Dashboard KPI 三類互斥（已完成/待辦驗/未完成）+ is_completed_flag 以 status 為唯一依據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980944"/>
            <a:ext cx="8595360" cy="749808"/>
          </a:xfrm>
          <a:prstGeom prst="rect">
            <a:avLst/>
          </a:prstGeom>
          <a:solidFill>
            <a:srgbClr val="0F2A45"/>
          </a:solidFill>
          <a:ln w="1905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1480" y="30083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A8E8"/>
                </a:solidFill>
              </a:rPr>
              <a:t>v1.39.43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0083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D"/>
                </a:solidFill>
              </a:rPr>
              <a:t>2026-04-29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32841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ECDE8"/>
                </a:solidFill>
              </a:rPr>
              <a:t>Dashboard 本月相關案件</a:t>
            </a:r>
            <a:r>
              <a:rPr lang="zh-TW" altLang="en-US" sz="900">
                <a:solidFill>
                  <a:srgbClr val="AECDE8"/>
                </a:solidFill>
              </a:rPr>
              <a:t>計算基準</a:t>
            </a:r>
            <a:r>
              <a:rPr lang="en-US" sz="900">
                <a:solidFill>
                  <a:srgbClr val="AECDE8"/>
                </a:solidFill>
              </a:rPr>
              <a:t>改為 </a:t>
            </a:r>
            <a:r>
              <a:rPr lang="en-US" sz="900" dirty="0">
                <a:solidFill>
                  <a:srgbClr val="AECDE8"/>
                </a:solidFill>
              </a:rPr>
              <a:t>上期未結 + 本期新增報修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831336"/>
            <a:ext cx="8595360" cy="749808"/>
          </a:xfrm>
          <a:prstGeom prst="rect">
            <a:avLst/>
          </a:prstGeom>
          <a:solidFill>
            <a:srgbClr val="0F2A45"/>
          </a:solidFill>
          <a:ln w="1905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11480" y="3858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A8E8"/>
                </a:solidFill>
              </a:rPr>
              <a:t>v1.39.42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38587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BD"/>
                </a:solidFill>
              </a:rPr>
              <a:t>2026-04-28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1788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DE8"/>
                </a:solidFill>
              </a:rPr>
              <a:t>費用 KPI 改為 YTD 累計（1月~M月），前端加動態 ytdLabel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1443</Words>
  <Application>Microsoft Office PowerPoint</Application>
  <PresentationFormat>如螢幕大小 (16:9)</PresentationFormat>
  <Paragraphs>270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報修規則計算說明文件</dc:title>
  <dc:subject>PptxGenJS Presentation</dc:subject>
  <dc:creator>PptxGenJS</dc:creator>
  <cp:lastModifiedBy>Samuel Huang</cp:lastModifiedBy>
  <cp:revision>1</cp:revision>
  <dcterms:created xsi:type="dcterms:W3CDTF">2026-04-29T06:17:27Z</dcterms:created>
  <dcterms:modified xsi:type="dcterms:W3CDTF">2026-04-29T06:23:45Z</dcterms:modified>
</cp:coreProperties>
</file>