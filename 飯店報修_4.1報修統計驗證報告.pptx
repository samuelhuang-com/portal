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9A9140-7F11-405B-9944-30D98C31658F}" v="17" dt="2026-05-03T02:39:26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5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undo custSel modSld">
      <pc:chgData name="Samuel Huang" userId="3d14d3036a2a384b" providerId="LiveId" clId="{59E6B3E9-767B-4360-86A1-1FE5E3B4620C}" dt="2026-05-03T02:45:07.885" v="88" actId="478"/>
      <pc:docMkLst>
        <pc:docMk/>
      </pc:docMkLst>
      <pc:sldChg chg="modSp mod">
        <pc:chgData name="Samuel Huang" userId="3d14d3036a2a384b" providerId="LiveId" clId="{59E6B3E9-767B-4360-86A1-1FE5E3B4620C}" dt="2026-05-03T02:38:35.829" v="79" actId="6549"/>
        <pc:sldMkLst>
          <pc:docMk/>
          <pc:sldMk cId="0" sldId="256"/>
        </pc:sldMkLst>
        <pc:spChg chg="mod">
          <ac:chgData name="Samuel Huang" userId="3d14d3036a2a384b" providerId="LiveId" clId="{59E6B3E9-767B-4360-86A1-1FE5E3B4620C}" dt="2026-05-03T02:38:35.829" v="79" actId="6549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03T02:36:45.378" v="30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03T02:38:19.248" v="73" actId="20577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Samuel Huang" userId="3d14d3036a2a384b" providerId="LiveId" clId="{59E6B3E9-767B-4360-86A1-1FE5E3B4620C}" dt="2026-05-03T02:45:07.885" v="88" actId="478"/>
        <pc:sldMkLst>
          <pc:docMk/>
          <pc:sldMk cId="0" sldId="257"/>
        </pc:sldMkLst>
        <pc:spChg chg="del">
          <ac:chgData name="Samuel Huang" userId="3d14d3036a2a384b" providerId="LiveId" clId="{59E6B3E9-767B-4360-86A1-1FE5E3B4620C}" dt="2026-05-03T02:44:55.465" v="82" actId="478"/>
          <ac:spMkLst>
            <pc:docMk/>
            <pc:sldMk cId="0" sldId="257"/>
            <ac:spMk id="64" creationId="{00000000-0000-0000-0000-000000000000}"/>
          </ac:spMkLst>
        </pc:spChg>
        <pc:spChg chg="del mod">
          <ac:chgData name="Samuel Huang" userId="3d14d3036a2a384b" providerId="LiveId" clId="{59E6B3E9-767B-4360-86A1-1FE5E3B4620C}" dt="2026-05-03T02:45:01.169" v="84" actId="478"/>
          <ac:spMkLst>
            <pc:docMk/>
            <pc:sldMk cId="0" sldId="257"/>
            <ac:spMk id="65" creationId="{00000000-0000-0000-0000-000000000000}"/>
          </ac:spMkLst>
        </pc:spChg>
        <pc:spChg chg="del">
          <ac:chgData name="Samuel Huang" userId="3d14d3036a2a384b" providerId="LiveId" clId="{59E6B3E9-767B-4360-86A1-1FE5E3B4620C}" dt="2026-05-03T02:44:50.841" v="81" actId="478"/>
          <ac:spMkLst>
            <pc:docMk/>
            <pc:sldMk cId="0" sldId="257"/>
            <ac:spMk id="66" creationId="{00000000-0000-0000-0000-000000000000}"/>
          </ac:spMkLst>
        </pc:spChg>
        <pc:spChg chg="del">
          <ac:chgData name="Samuel Huang" userId="3d14d3036a2a384b" providerId="LiveId" clId="{59E6B3E9-767B-4360-86A1-1FE5E3B4620C}" dt="2026-05-03T02:44:58.294" v="83" actId="478"/>
          <ac:spMkLst>
            <pc:docMk/>
            <pc:sldMk cId="0" sldId="257"/>
            <ac:spMk id="67" creationId="{00000000-0000-0000-0000-000000000000}"/>
          </ac:spMkLst>
        </pc:spChg>
        <pc:spChg chg="del">
          <ac:chgData name="Samuel Huang" userId="3d14d3036a2a384b" providerId="LiveId" clId="{59E6B3E9-767B-4360-86A1-1FE5E3B4620C}" dt="2026-05-03T02:45:03.065" v="85" actId="478"/>
          <ac:spMkLst>
            <pc:docMk/>
            <pc:sldMk cId="0" sldId="257"/>
            <ac:spMk id="68" creationId="{00000000-0000-0000-0000-000000000000}"/>
          </ac:spMkLst>
        </pc:spChg>
        <pc:spChg chg="del">
          <ac:chgData name="Samuel Huang" userId="3d14d3036a2a384b" providerId="LiveId" clId="{59E6B3E9-767B-4360-86A1-1FE5E3B4620C}" dt="2026-05-03T02:45:05.031" v="86" actId="478"/>
          <ac:spMkLst>
            <pc:docMk/>
            <pc:sldMk cId="0" sldId="257"/>
            <ac:spMk id="69" creationId="{00000000-0000-0000-0000-000000000000}"/>
          </ac:spMkLst>
        </pc:spChg>
        <pc:spChg chg="del">
          <ac:chgData name="Samuel Huang" userId="3d14d3036a2a384b" providerId="LiveId" clId="{59E6B3E9-767B-4360-86A1-1FE5E3B4620C}" dt="2026-05-03T02:45:07.885" v="88" actId="478"/>
          <ac:spMkLst>
            <pc:docMk/>
            <pc:sldMk cId="0" sldId="257"/>
            <ac:spMk id="70" creationId="{00000000-0000-0000-0000-000000000000}"/>
          </ac:spMkLst>
        </pc:spChg>
        <pc:spChg chg="del">
          <ac:chgData name="Samuel Huang" userId="3d14d3036a2a384b" providerId="LiveId" clId="{59E6B3E9-767B-4360-86A1-1FE5E3B4620C}" dt="2026-05-03T02:45:06.054" v="87" actId="478"/>
          <ac:spMkLst>
            <pc:docMk/>
            <pc:sldMk cId="0" sldId="257"/>
            <ac:spMk id="7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zh-TW" altLang="en-US" sz="1300" b="0" i="0" u="none" strike="noStrike">
                <a:solidFill>
                  <a:srgbClr val="1B3A5C"/>
                </a:solidFill>
                <a:latin typeface="微軟正黑體" panose="020B0604030504040204" pitchFamily="34" charset="-120"/>
              </a:rPr>
              <a:t>本月報修 </a:t>
            </a:r>
            <a:r>
              <a:rPr lang="en-US" altLang="zh-TW" sz="1300" b="0" i="0" u="none" strike="noStrike">
                <a:solidFill>
                  <a:srgbClr val="1B3A5C"/>
                </a:solidFill>
                <a:latin typeface="微軟正黑體" panose="020B0604030504040204" pitchFamily="34" charset="-120"/>
              </a:rPr>
              <a:t>vs </a:t>
            </a:r>
            <a:r>
              <a:rPr lang="zh-TW" altLang="en-US" sz="1300" b="0" i="0" u="none" strike="noStrike">
                <a:solidFill>
                  <a:srgbClr val="1B3A5C"/>
                </a:solidFill>
                <a:latin typeface="微軟正黑體" panose="020B0604030504040204" pitchFamily="34" charset="-120"/>
              </a:rPr>
              <a:t>完成件數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⑤本月報修件數</c:v>
                </c:pt>
              </c:strCache>
            </c:strRef>
          </c:tx>
          <c:spPr>
            <a:solidFill>
              <a:srgbClr val="4BA8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285</c:v>
                </c:pt>
                <c:pt idx="1">
                  <c:v>336</c:v>
                </c:pt>
                <c:pt idx="2">
                  <c:v>227</c:v>
                </c:pt>
                <c:pt idx="3">
                  <c:v>206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85-4FD3-928D-0699270A37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⑥本月完成件數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240</c:v>
                </c:pt>
                <c:pt idx="1">
                  <c:v>203</c:v>
                </c:pt>
                <c:pt idx="2">
                  <c:v>180</c:v>
                </c:pt>
                <c:pt idx="3">
                  <c:v>117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85-4FD3-928D-0699270A37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zh-TW" altLang="en-US" sz="1300" b="0" i="0" u="none" strike="noStrike">
                <a:solidFill>
                  <a:srgbClr val="1B3A5C"/>
                </a:solidFill>
                <a:latin typeface="微軟正黑體" panose="020B0604030504040204" pitchFamily="34" charset="-120"/>
              </a:rPr>
              <a:t>完成率趨勢（</a:t>
            </a:r>
            <a:r>
              <a:rPr lang="en-US" altLang="zh-TW" sz="1300" b="0" i="0" u="none" strike="noStrike">
                <a:solidFill>
                  <a:srgbClr val="1B3A5C"/>
                </a:solidFill>
                <a:latin typeface="微軟正黑體" panose="020B0604030504040204" pitchFamily="34" charset="-120"/>
              </a:rPr>
              <a:t>%</a:t>
            </a:r>
            <a:r>
              <a:rPr lang="zh-TW" altLang="en-US" sz="1300" b="0" i="0" u="none" strike="noStrike">
                <a:solidFill>
                  <a:srgbClr val="1B3A5C"/>
                </a:solidFill>
                <a:latin typeface="微軟正黑體" panose="020B0604030504040204" pitchFamily="34" charset="-120"/>
              </a:rPr>
              <a:t>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⑧本月完成率(%)</c:v>
                </c:pt>
              </c:strCache>
            </c:strRef>
          </c:tx>
          <c:spPr>
            <a:ln w="3175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84.2</c:v>
                </c:pt>
                <c:pt idx="1">
                  <c:v>60.4</c:v>
                </c:pt>
                <c:pt idx="2">
                  <c:v>79.3</c:v>
                </c:pt>
                <c:pt idx="3">
                  <c:v>56.8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5B-4FCD-A175-53A8158085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④累計完成率(%)</c:v>
                </c:pt>
              </c:strCache>
            </c:strRef>
          </c:tx>
          <c:spPr>
            <a:ln w="31750" cap="flat">
              <a:solidFill>
                <a:srgbClr val="1B3A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A5C"/>
              </a:solidFill>
              <a:ln w="9525" cap="flat">
                <a:solidFill>
                  <a:srgbClr val="1B3A5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95.6</c:v>
                </c:pt>
                <c:pt idx="1">
                  <c:v>90.9</c:v>
                </c:pt>
                <c:pt idx="2">
                  <c:v>91.1</c:v>
                </c:pt>
                <c:pt idx="3">
                  <c:v>88.3</c:v>
                </c:pt>
                <c:pt idx="4">
                  <c:v>87.8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5B-4FCD-A175-53A8158085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806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12.ragic.com/soutlet001/lequn-public-works/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411480" cy="5070348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飯店報修</a:t>
            </a:r>
            <a:endParaRPr lang="en-US" sz="3800" dirty="0"/>
          </a:p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報修統計驗證報告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8C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Ragic Export 資料 vs </a:t>
            </a:r>
            <a:r>
              <a:rPr lang="en-US" sz="1400">
                <a:solidFill>
                  <a:srgbClr val="8AA8C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Portal </a:t>
            </a:r>
            <a:r>
              <a:rPr lang="zh-TW" altLang="en-US" sz="1400">
                <a:solidFill>
                  <a:srgbClr val="8AA8C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飯店報修</a:t>
            </a:r>
            <a:r>
              <a:rPr lang="en-US" altLang="zh-TW" sz="1400">
                <a:solidFill>
                  <a:srgbClr val="8AA8C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(</a:t>
            </a:r>
            <a:r>
              <a:rPr lang="en-US" sz="1400">
                <a:solidFill>
                  <a:srgbClr val="8AA8C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dazhi-repair/dashboard</a:t>
            </a:r>
            <a:r>
              <a:rPr lang="en-US" altLang="zh-TW" sz="1400">
                <a:solidFill>
                  <a:srgbClr val="8AA8C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)</a:t>
            </a:r>
            <a:r>
              <a:rPr lang="en-US" sz="1400">
                <a:solidFill>
                  <a:srgbClr val="8AA8C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 計算邏輯完整比對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6858000" cy="1097280"/>
          </a:xfrm>
          <a:prstGeom prst="rect">
            <a:avLst/>
          </a:prstGeom>
          <a:solidFill>
            <a:srgbClr val="1D4470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A8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資料來源：</a:t>
            </a: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飯店報修_20260503_v1_source.xlsx（2423 </a:t>
            </a:r>
            <a:r>
              <a:rPr lang="en-US" sz="1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筆）</a:t>
            </a:r>
            <a:r>
              <a:rPr lang="zh-TW" altLang="en-US" sz="1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 </a:t>
            </a:r>
            <a:r>
              <a:rPr lang="en-US" altLang="zh-TW" sz="1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-</a:t>
            </a:r>
            <a:r>
              <a:rPr lang="zh-TW" altLang="en-US" sz="1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 </a:t>
            </a:r>
            <a:r>
              <a:rPr lang="en-US" altLang="zh-TW"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Ragic</a:t>
            </a:r>
            <a:r>
              <a:rPr lang="zh-TW" altLang="en-US"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TW"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Export </a:t>
            </a:r>
            <a:r>
              <a:rPr lang="zh-TW" altLang="en-US" sz="1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資料</a:t>
            </a:r>
            <a:endParaRPr lang="en-US" sz="1200" dirty="0"/>
          </a:p>
          <a:p>
            <a:pPr marL="0" indent="0">
              <a:buNone/>
            </a:pPr>
            <a:r>
              <a:rPr lang="en-US" sz="1200" b="1">
                <a:solidFill>
                  <a:srgbClr val="4BA8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統計年度：</a:t>
            </a:r>
            <a:r>
              <a:rPr lang="en-US" sz="1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2026 </a:t>
            </a: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年 1 月 ~ 5 </a:t>
            </a:r>
            <a:r>
              <a:rPr lang="en-US" sz="1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月</a:t>
            </a:r>
            <a:r>
              <a:rPr lang="en-US" sz="1200" b="1">
                <a:solidFill>
                  <a:srgbClr val="4BA8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   </a:t>
            </a:r>
          </a:p>
          <a:p>
            <a:pPr marL="0" indent="0">
              <a:buNone/>
            </a:pPr>
            <a:r>
              <a:rPr lang="en-US" sz="1200" b="1">
                <a:solidFill>
                  <a:srgbClr val="4BA8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稽核日期：</a:t>
            </a:r>
            <a:r>
              <a:rPr lang="en-US" sz="1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2026-05-03</a:t>
            </a:r>
            <a:r>
              <a:rPr lang="zh-TW" altLang="en-US" sz="1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 </a:t>
            </a:r>
            <a:r>
              <a:rPr lang="en-US" altLang="zh-TW" sz="1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10:00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一、資料概況 與 欄位對應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2,423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原始資料總筆數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7772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450592" y="822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取消（排除）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7772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26864" y="822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2,383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有效統計筆數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7772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803136" y="822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BA8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538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已辦驗（完成）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084832"/>
            <a:ext cx="82296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74320" y="20848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類型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2084832"/>
            <a:ext cx="155448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097280" y="20848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Ragic Export 欄位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2084832"/>
            <a:ext cx="192024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651760" y="20848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程式變數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084832"/>
            <a:ext cx="347472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0" y="20848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說明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432304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10896" y="2432304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🟢 必用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97280" y="2432304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1133856" y="243230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報修日期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51760" y="2432304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2688336" y="243230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occurred_at / occ_month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432304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608576" y="2432304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報修月份分組（4.1 統計主依據）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779776"/>
            <a:ext cx="822960" cy="34747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10896" y="277977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🟢 必用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97280" y="2779776"/>
            <a:ext cx="1554480" cy="34747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1133856" y="277977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完工時間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51760" y="2779776"/>
            <a:ext cx="1920240" cy="34747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2688336" y="277977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completed_at（主）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2779776"/>
            <a:ext cx="3474720" cy="34747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4608576" y="2779776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結案月份判定（alias 首位）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127248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310896" y="312724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🟢 必用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97280" y="3127248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1133856" y="312724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處理狀態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51760" y="3127248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2688336" y="31272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status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3127248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4608576" y="3127248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完成判定唯一依據（alias 涵蓋「狀態」欄）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474720"/>
            <a:ext cx="822960" cy="34747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310896" y="347472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🟡 注意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97280" y="3474720"/>
            <a:ext cx="1554480" cy="34747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1133856" y="347472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結案時間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51760" y="3474720"/>
            <a:ext cx="1920240" cy="34747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2688336" y="34747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- (全空 2423筆)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0" y="3474720"/>
            <a:ext cx="3474720" cy="34747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4608576" y="3474720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Export 全空；程式 alias 備援，實際不影響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3822192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310896" y="382219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🟡 注意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97280" y="3822192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7"/>
          <p:cNvSpPr/>
          <p:nvPr/>
        </p:nvSpPr>
        <p:spPr>
          <a:xfrm>
            <a:off x="1133856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進度（當月完成/N）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651760" y="3822192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/>
          <p:nvPr/>
        </p:nvSpPr>
        <p:spPr>
          <a:xfrm>
            <a:off x="2688336" y="382219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- (程式不使用)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0" y="3822192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1"/>
          <p:cNvSpPr/>
          <p:nvPr/>
        </p:nvSpPr>
        <p:spPr>
          <a:xfrm>
            <a:off x="4608576" y="3822192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Ragic 自動公式欄；程式以「處理狀態」為準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二、狀態判定邏輯（COMPLETED_STATUSES）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834640" cy="416052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83464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47472" y="7589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✅ 已完成（計入完成）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結案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已辦驗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75488" y="2148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已驗收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56032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75488" y="2560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已結案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97180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75488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完修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75488" y="33832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已完成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79476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75488" y="3794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完成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389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status ∈ COMPLETED_STATUSES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Export中：結案1555筆、已辦驗538筆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749808"/>
            <a:ext cx="2834640" cy="4160520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246120" y="749808"/>
            <a:ext cx="283464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319272" y="7589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⏳ 未完成（計入未完成）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83280" y="132588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447288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待修中（168）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173736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3447288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待料中（60）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14884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447288" y="2148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委外處理（33）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256032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3447288" y="2560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待辦驗（22）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297180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3447288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辦驗未通過（5）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383280" y="338328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3447288" y="33832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待確認（1）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379476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3447288" y="3794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進行中（1）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37560" y="4389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status ∉ COMPLETED_STATUSES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且非取消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749808"/>
            <a:ext cx="2834640" cy="4160520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6217920" y="749808"/>
            <a:ext cx="283464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6291072" y="7589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🚫 排除（不計入統計）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55080" y="1325880"/>
            <a:ext cx="25420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6419088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取消（40筆）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09360" y="4389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status ∈ EXCLUDED_STATUSES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明細總表仍保留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三、時間計算規則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4160520"/>
          </a:xfrm>
          <a:prstGeom prst="rect">
            <a:avLst/>
          </a:prstGeom>
          <a:solidFill>
            <a:srgbClr val="E8F4FF"/>
          </a:solidFill>
          <a:ln w="12700">
            <a:solidFill>
              <a:srgbClr val="4B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51960" cy="43891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47472" y="75895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📅 報修月份（occurred_at）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977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欄位：</a:t>
            </a: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報修日期
</a:t>
            </a: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用途：</a:t>
            </a: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4.1 報修統計「本月報修項目數 ⑤」月份歸屬
</a:t>
            </a: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規則：</a:t>
            </a: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永遠以報修日期決定月份
不受完工/結案日期影響
</a:t>
            </a:r>
            <a:r>
              <a:rPr lang="en-US" sz="1200" b="1" dirty="0">
                <a:solidFill>
                  <a:srgbClr val="0066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變數：</a:t>
            </a:r>
            <a:r>
              <a:rPr lang="en-US" sz="1200" dirty="0">
                <a:solidFill>
                  <a:srgbClr val="0066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occ_year / occ_month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749808"/>
            <a:ext cx="4251960" cy="4160520"/>
          </a:xfrm>
          <a:prstGeom prst="rect">
            <a:avLst/>
          </a:prstGeom>
          <a:solidFill>
            <a:srgbClr val="E8FFF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25196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82312" y="75895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🏁 結案月份（completed_at）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977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欄位優先：</a:t>
            </a: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完工時間 &gt; 維修日期 &gt; 結案時間
</a:t>
            </a: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用途：</a:t>
            </a: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判斷「是否本月結案」（②⑥ 的篩選條件）
</a:t>
            </a: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規則：</a:t>
            </a: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_completed_in(c, year, month)
= status 已完成
  AND completed_at.year == year
  AND completed_at.month == month
</a:t>
            </a:r>
            <a:r>
              <a:rPr lang="en-US" sz="1200" b="1" dirty="0">
                <a:solidFill>
                  <a:srgbClr val="E74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⚠ Export：</a:t>
            </a:r>
            <a:r>
              <a:rPr lang="en-US" sz="1200" dirty="0">
                <a:solidFill>
                  <a:srgbClr val="E74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「結案時間」欄全空，完工時間有效使用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四、8 大計算指標公式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4279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457200" cy="10241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8096" y="804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上月累計未完成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1133856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 occ_date ≤ 上月底  AND  NOT completed_by(上月底) 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18304" y="749808"/>
            <a:ext cx="4279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18304" y="749808"/>
            <a:ext cx="457200" cy="10241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718304" y="749808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30368" y="804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7E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上月完成，本月結案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30368" y="1133856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 ①中  AND  completed_in(本月) 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828800"/>
            <a:ext cx="4279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56032" y="1828800"/>
            <a:ext cx="457200" cy="10241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56032" y="1828800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8096" y="18836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44A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上月計完成數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8096" y="221284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− ②　（上月遺留中，本月後仍未結案的件數）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18304" y="1828800"/>
            <a:ext cx="4279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718304" y="1828800"/>
            <a:ext cx="457200" cy="10241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718304" y="1828800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30368" y="18836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累計完成率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30368" y="221284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cum_done ÷ cum_total × 100　 cum_done = completed_by(本月底)；cum_total = occ ≤ 本月底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907792"/>
            <a:ext cx="4279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256032" y="2907792"/>
            <a:ext cx="457200" cy="10241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256032" y="2907792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8096" y="29626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本月報修項目數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68096" y="3291840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 occ_year == 年  AND  occ_month == 月 )　不限狀態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18304" y="2907792"/>
            <a:ext cx="4279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718304" y="2907792"/>
            <a:ext cx="457200" cy="10241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718304" y="2907792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⑥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30368" y="29626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本月報修完成數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30368" y="3291840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 ⑤中  AND  completed_in(本月)  AND  is_completed 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986784"/>
            <a:ext cx="4279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256032" y="3986784"/>
            <a:ext cx="457200" cy="1024128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256032" y="3986784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⑦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68096" y="40416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4C4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本月完成數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68096" y="4370832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 − ⑥　（本月報修中未在本月完成的件數）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18304" y="3986784"/>
            <a:ext cx="42793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4718304" y="3986784"/>
            <a:ext cx="457200" cy="102412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4718304" y="3986784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⑧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30368" y="40416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4D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本月完成率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30368" y="4370832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⑥ ÷ ⑤ × 100　（⑤ = 0 時顯示 —）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五、Excel 稽核計算結果總表（2026 年 1–5 月）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57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28600" y="7132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201168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31520" y="7132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指標名稱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713232"/>
            <a:ext cx="1234440" cy="43891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697480" y="71323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713232"/>
            <a:ext cx="1234440" cy="43891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931920" y="71323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66360" y="713232"/>
            <a:ext cx="1234440" cy="43891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71323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3月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713232"/>
            <a:ext cx="1234440" cy="43891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00800" y="71323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4月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713232"/>
            <a:ext cx="1234440" cy="43891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635240" y="71323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5月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" y="1152144"/>
            <a:ext cx="457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28600" y="11521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115214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31520" y="1152144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上月累計未完成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97480" y="1152144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697480" y="115214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41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31920" y="1152144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931920" y="115214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71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66360" y="1152144"/>
            <a:ext cx="1234440" cy="438912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166360" y="115214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176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1152144"/>
            <a:ext cx="1234440" cy="438912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400800" y="115214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192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635240" y="1152144"/>
            <a:ext cx="1234440" cy="438912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635240" y="115214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277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28600" y="1591056"/>
            <a:ext cx="457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228600" y="1591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" y="1591056"/>
            <a:ext cx="201168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731520" y="1591056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上月完成，本月結案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697480" y="1591056"/>
            <a:ext cx="123444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2697480" y="159105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931920" y="1591056"/>
            <a:ext cx="123444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3931920" y="159105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28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66360" y="1591056"/>
            <a:ext cx="123444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5166360" y="159105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31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0" y="1591056"/>
            <a:ext cx="1234440" cy="438912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6400800" y="159105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635240" y="1591056"/>
            <a:ext cx="123444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7635240" y="159105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28600" y="2029968"/>
            <a:ext cx="457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228600" y="20299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③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5800" y="202996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731520" y="202996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上月計完成數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697480" y="2029968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2697480" y="20299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26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931920" y="2029968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3931920" y="20299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43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166360" y="2029968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5166360" y="20299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145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0" y="2029968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6400800" y="20299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188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635240" y="2029968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7"/>
          <p:cNvSpPr/>
          <p:nvPr/>
        </p:nvSpPr>
        <p:spPr>
          <a:xfrm>
            <a:off x="7635240" y="20299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277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228600" y="2468880"/>
            <a:ext cx="457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/>
          <p:nvPr/>
        </p:nvSpPr>
        <p:spPr>
          <a:xfrm>
            <a:off x="228600" y="24688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④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85800" y="2468880"/>
            <a:ext cx="201168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1"/>
          <p:cNvSpPr/>
          <p:nvPr/>
        </p:nvSpPr>
        <p:spPr>
          <a:xfrm>
            <a:off x="731520" y="246888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累計完成率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2697480" y="2468880"/>
            <a:ext cx="123444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3"/>
          <p:cNvSpPr/>
          <p:nvPr/>
        </p:nvSpPr>
        <p:spPr>
          <a:xfrm>
            <a:off x="2697480" y="24688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95.6%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931920" y="2468880"/>
            <a:ext cx="123444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5"/>
          <p:cNvSpPr/>
          <p:nvPr/>
        </p:nvSpPr>
        <p:spPr>
          <a:xfrm>
            <a:off x="3931920" y="24688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90.9%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166360" y="2468880"/>
            <a:ext cx="123444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7"/>
          <p:cNvSpPr/>
          <p:nvPr/>
        </p:nvSpPr>
        <p:spPr>
          <a:xfrm>
            <a:off x="5166360" y="24688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91.1%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400800" y="2468880"/>
            <a:ext cx="123444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69"/>
          <p:cNvSpPr/>
          <p:nvPr/>
        </p:nvSpPr>
        <p:spPr>
          <a:xfrm>
            <a:off x="6400800" y="24688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88.3%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7635240" y="2468880"/>
            <a:ext cx="123444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Text 71"/>
          <p:cNvSpPr/>
          <p:nvPr/>
        </p:nvSpPr>
        <p:spPr>
          <a:xfrm>
            <a:off x="7635240" y="24688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87.8%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228600" y="2907792"/>
            <a:ext cx="457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Text 73"/>
          <p:cNvSpPr/>
          <p:nvPr/>
        </p:nvSpPr>
        <p:spPr>
          <a:xfrm>
            <a:off x="228600" y="29077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⑤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85800" y="2907792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Text 75"/>
          <p:cNvSpPr/>
          <p:nvPr/>
        </p:nvSpPr>
        <p:spPr>
          <a:xfrm>
            <a:off x="731520" y="290779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本月報修項目數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2697480" y="290779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Text 77"/>
          <p:cNvSpPr/>
          <p:nvPr/>
        </p:nvSpPr>
        <p:spPr>
          <a:xfrm>
            <a:off x="2697480" y="290779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285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3931920" y="290779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Text 79"/>
          <p:cNvSpPr/>
          <p:nvPr/>
        </p:nvSpPr>
        <p:spPr>
          <a:xfrm>
            <a:off x="3931920" y="290779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336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166360" y="290779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Text 81"/>
          <p:cNvSpPr/>
          <p:nvPr/>
        </p:nvSpPr>
        <p:spPr>
          <a:xfrm>
            <a:off x="5166360" y="290779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227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6400800" y="290779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3"/>
          <p:cNvSpPr/>
          <p:nvPr/>
        </p:nvSpPr>
        <p:spPr>
          <a:xfrm>
            <a:off x="6400800" y="290779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206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7635240" y="290779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Text 85"/>
          <p:cNvSpPr/>
          <p:nvPr/>
        </p:nvSpPr>
        <p:spPr>
          <a:xfrm>
            <a:off x="7635240" y="290779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228600" y="3346704"/>
            <a:ext cx="457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Text 87"/>
          <p:cNvSpPr/>
          <p:nvPr/>
        </p:nvSpPr>
        <p:spPr>
          <a:xfrm>
            <a:off x="228600" y="334670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⑥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685800" y="3346704"/>
            <a:ext cx="201168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Text 89"/>
          <p:cNvSpPr/>
          <p:nvPr/>
        </p:nvSpPr>
        <p:spPr>
          <a:xfrm>
            <a:off x="731520" y="3346704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本月報修完成數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2697480" y="3346704"/>
            <a:ext cx="123444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Text 91"/>
          <p:cNvSpPr/>
          <p:nvPr/>
        </p:nvSpPr>
        <p:spPr>
          <a:xfrm>
            <a:off x="2697480" y="334670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240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931920" y="3346704"/>
            <a:ext cx="123444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Text 93"/>
          <p:cNvSpPr/>
          <p:nvPr/>
        </p:nvSpPr>
        <p:spPr>
          <a:xfrm>
            <a:off x="3931920" y="334670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203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5166360" y="3346704"/>
            <a:ext cx="123444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Text 95"/>
          <p:cNvSpPr/>
          <p:nvPr/>
        </p:nvSpPr>
        <p:spPr>
          <a:xfrm>
            <a:off x="5166360" y="334670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180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6400800" y="3346704"/>
            <a:ext cx="123444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Text 97"/>
          <p:cNvSpPr/>
          <p:nvPr/>
        </p:nvSpPr>
        <p:spPr>
          <a:xfrm>
            <a:off x="6400800" y="334670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117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7635240" y="3346704"/>
            <a:ext cx="123444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Text 99"/>
          <p:cNvSpPr/>
          <p:nvPr/>
        </p:nvSpPr>
        <p:spPr>
          <a:xfrm>
            <a:off x="7635240" y="334670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228600" y="3785616"/>
            <a:ext cx="457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Text 101"/>
          <p:cNvSpPr/>
          <p:nvPr/>
        </p:nvSpPr>
        <p:spPr>
          <a:xfrm>
            <a:off x="228600" y="37856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⑦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685800" y="378561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Text 103"/>
          <p:cNvSpPr/>
          <p:nvPr/>
        </p:nvSpPr>
        <p:spPr>
          <a:xfrm>
            <a:off x="731520" y="3785616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本月未完成數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697480" y="3785616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Text 105"/>
          <p:cNvSpPr/>
          <p:nvPr/>
        </p:nvSpPr>
        <p:spPr>
          <a:xfrm>
            <a:off x="2697480" y="378561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45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3931920" y="3785616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Text 107"/>
          <p:cNvSpPr/>
          <p:nvPr/>
        </p:nvSpPr>
        <p:spPr>
          <a:xfrm>
            <a:off x="3931920" y="378561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133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5166360" y="3785616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Text 109"/>
          <p:cNvSpPr/>
          <p:nvPr/>
        </p:nvSpPr>
        <p:spPr>
          <a:xfrm>
            <a:off x="5166360" y="378561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47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6400800" y="3785616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Text 111"/>
          <p:cNvSpPr/>
          <p:nvPr/>
        </p:nvSpPr>
        <p:spPr>
          <a:xfrm>
            <a:off x="6400800" y="378561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89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7635240" y="3785616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Text 113"/>
          <p:cNvSpPr/>
          <p:nvPr/>
        </p:nvSpPr>
        <p:spPr>
          <a:xfrm>
            <a:off x="7635240" y="378561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228600" y="4224528"/>
            <a:ext cx="45720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Text 115"/>
          <p:cNvSpPr/>
          <p:nvPr/>
        </p:nvSpPr>
        <p:spPr>
          <a:xfrm>
            <a:off x="228600" y="42245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⑧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685800" y="4224528"/>
            <a:ext cx="201168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Text 117"/>
          <p:cNvSpPr/>
          <p:nvPr/>
        </p:nvSpPr>
        <p:spPr>
          <a:xfrm>
            <a:off x="731520" y="422452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本月完成率</a:t>
            </a:r>
            <a:endParaRPr lang="en-US" sz="1150" dirty="0"/>
          </a:p>
        </p:txBody>
      </p:sp>
      <p:sp>
        <p:nvSpPr>
          <p:cNvPr id="120" name="Shape 118"/>
          <p:cNvSpPr/>
          <p:nvPr/>
        </p:nvSpPr>
        <p:spPr>
          <a:xfrm>
            <a:off x="2697480" y="4224528"/>
            <a:ext cx="123444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Text 119"/>
          <p:cNvSpPr/>
          <p:nvPr/>
        </p:nvSpPr>
        <p:spPr>
          <a:xfrm>
            <a:off x="2697480" y="42245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84.2%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3931920" y="4224528"/>
            <a:ext cx="123444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Text 121"/>
          <p:cNvSpPr/>
          <p:nvPr/>
        </p:nvSpPr>
        <p:spPr>
          <a:xfrm>
            <a:off x="3931920" y="42245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60.4%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5166360" y="4224528"/>
            <a:ext cx="123444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Text 123"/>
          <p:cNvSpPr/>
          <p:nvPr/>
        </p:nvSpPr>
        <p:spPr>
          <a:xfrm>
            <a:off x="5166360" y="42245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79.3%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6400800" y="4224528"/>
            <a:ext cx="123444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Text 125"/>
          <p:cNvSpPr/>
          <p:nvPr/>
        </p:nvSpPr>
        <p:spPr>
          <a:xfrm>
            <a:off x="6400800" y="42245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56.8%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7635240" y="4224528"/>
            <a:ext cx="1234440" cy="438912"/>
          </a:xfrm>
          <a:prstGeom prst="rect">
            <a:avLst/>
          </a:prstGeom>
          <a:solidFill>
            <a:srgbClr val="FDFC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Text 127"/>
          <p:cNvSpPr/>
          <p:nvPr/>
        </p:nvSpPr>
        <p:spPr>
          <a:xfrm>
            <a:off x="7635240" y="42245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0.0%*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* 5月資料截至 2026-05-03（13筆），月份尚未結束，完成率 0% 為正常。  🟡 = 需留意（累積未完成偏高）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六、月份趨勢分析（1–5 月）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440680" y="731520"/>
          <a:ext cx="3429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七、稽核結論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4297680" cy="1316736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457200" cy="1316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457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8229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欄位對應正確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117043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「狀態」欄全空 → 程式 alias 正確讀取「處理狀態」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「結案時間」欄全空 → 程式以「完工時間」為主（alias 首位），無影響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6592" y="749808"/>
            <a:ext cx="4297680" cy="1316736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36592" y="749808"/>
            <a:ext cx="457200" cy="1316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736592" y="749808"/>
            <a:ext cx="457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66944" y="8229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計算邏輯驗證通過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66944" y="117043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8 項指標公式已依 dazhi_repair_service.py 邏輯手動還原，數字結果與程式一致。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Excel 稽核值已完整生成，可與 Portal TAB 4.1 報修逐格比對。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139696"/>
            <a:ext cx="4297680" cy="1316736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56032" y="2139696"/>
            <a:ext cx="457200" cy="13167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56032" y="2139696"/>
            <a:ext cx="457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6384" y="22128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業務邊界確認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" y="25603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「待辦驗」22筆、「辦驗未通過」5筆 = 未完成；「已辦驗」538筆 = 完成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請確認業主對「待辦驗」的業務定義是否與程式一致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36592" y="2139696"/>
            <a:ext cx="4297680" cy="1316736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736592" y="2139696"/>
            <a:ext cx="457200" cy="13167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736592" y="2139696"/>
            <a:ext cx="457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66944" y="22128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③ 指標名稱易混淆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66944" y="25603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「上月計完成數（① - ②）」實際含義是「上月遺留、本月後仍未完成的件數」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建議 Tab 加 tooltip 或改名為「③ 上月遺留未結（本月後仍待處理）」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3529584"/>
            <a:ext cx="4297680" cy="1316736"/>
          </a:xfrm>
          <a:prstGeom prst="rect">
            <a:avLst/>
          </a:prstGeom>
          <a:solidFill>
            <a:srgbClr val="E8F4FF"/>
          </a:solidFill>
          <a:ln w="12700">
            <a:solidFill>
              <a:srgbClr val="4B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2423160" y="3529584"/>
            <a:ext cx="457200" cy="1316736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2423160" y="3529584"/>
            <a:ext cx="457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ℹ️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53512" y="360273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5月資料不完整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53512" y="395020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Export 截至 2026-05-03（月份尚未結束），⑤=13筆、⑥=0筆為正常現象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建議月底後重新匯出驗證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749</Words>
  <Application>Microsoft Office PowerPoint</Application>
  <PresentationFormat>如螢幕大小 (16:9)</PresentationFormat>
  <Paragraphs>191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微軟正黑體</vt:lpstr>
      <vt:lpstr>Arial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飯店商場報修 4.1 報修統計 驗證報告</dc:title>
  <dc:subject>PptxGenJS Presentation</dc:subject>
  <dc:creator>PptxGenJS</dc:creator>
  <cp:lastModifiedBy>Samuel Huang</cp:lastModifiedBy>
  <cp:revision>1</cp:revision>
  <dcterms:created xsi:type="dcterms:W3CDTF">2026-05-03T02:30:19Z</dcterms:created>
  <dcterms:modified xsi:type="dcterms:W3CDTF">2026-05-03T02:45:17Z</dcterms:modified>
</cp:coreProperties>
</file>