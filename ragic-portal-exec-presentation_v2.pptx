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0" r:id="rId4"/>
    <p:sldId id="262" r:id="rId5"/>
    <p:sldId id="266" r:id="rId6"/>
    <p:sldId id="268" r:id="rId7"/>
    <p:sldId id="267" r:id="rId8"/>
    <p:sldId id="257" r:id="rId9"/>
    <p:sldId id="259" r:id="rId10"/>
    <p:sldId id="261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F38F98-BA64-4216-A92E-4FDEDDE00BF9}" v="46" dt="2026-05-12T03:37:59.2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6320" autoAdjust="0"/>
  </p:normalViewPr>
  <p:slideViewPr>
    <p:cSldViewPr snapToGrid="0" snapToObjects="1">
      <p:cViewPr varScale="1">
        <p:scale>
          <a:sx n="86" d="100"/>
          <a:sy n="86" d="100"/>
        </p:scale>
        <p:origin x="15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Huang" userId="3d14d3036a2a384b" providerId="LiveId" clId="{59E6B3E9-767B-4360-86A1-1FE5E3B4620C}"/>
    <pc:docChg chg="undo custSel addSld delSld modSld sldOrd">
      <pc:chgData name="Samuel Huang" userId="3d14d3036a2a384b" providerId="LiveId" clId="{59E6B3E9-767B-4360-86A1-1FE5E3B4620C}" dt="2026-05-12T03:38:01.625" v="227" actId="20577"/>
      <pc:docMkLst>
        <pc:docMk/>
      </pc:docMkLst>
      <pc:sldChg chg="addSp delSp modSp mod">
        <pc:chgData name="Samuel Huang" userId="3d14d3036a2a384b" providerId="LiveId" clId="{59E6B3E9-767B-4360-86A1-1FE5E3B4620C}" dt="2026-05-07T23:29:04.067" v="29" actId="20577"/>
        <pc:sldMkLst>
          <pc:docMk/>
          <pc:sldMk cId="0" sldId="256"/>
        </pc:sldMkLst>
        <pc:spChg chg="mod">
          <ac:chgData name="Samuel Huang" userId="3d14d3036a2a384b" providerId="LiveId" clId="{59E6B3E9-767B-4360-86A1-1FE5E3B4620C}" dt="2026-05-07T23:26:08.233" v="13"/>
          <ac:spMkLst>
            <pc:docMk/>
            <pc:sldMk cId="0" sldId="256"/>
            <ac:spMk id="5" creationId="{00000000-0000-0000-0000-000000000000}"/>
          </ac:spMkLst>
        </pc:spChg>
        <pc:spChg chg="mod">
          <ac:chgData name="Samuel Huang" userId="3d14d3036a2a384b" providerId="LiveId" clId="{59E6B3E9-767B-4360-86A1-1FE5E3B4620C}" dt="2026-05-07T23:25:36.587" v="2" actId="2711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muel Huang" userId="3d14d3036a2a384b" providerId="LiveId" clId="{59E6B3E9-767B-4360-86A1-1FE5E3B4620C}" dt="2026-05-07T23:28:41.065" v="24" actId="6549"/>
          <ac:spMkLst>
            <pc:docMk/>
            <pc:sldMk cId="0" sldId="256"/>
            <ac:spMk id="8" creationId="{00000000-0000-0000-0000-000000000000}"/>
          </ac:spMkLst>
        </pc:spChg>
        <pc:spChg chg="mod">
          <ac:chgData name="Samuel Huang" userId="3d14d3036a2a384b" providerId="LiveId" clId="{59E6B3E9-767B-4360-86A1-1FE5E3B4620C}" dt="2026-05-07T23:29:04.067" v="29" actId="20577"/>
          <ac:spMkLst>
            <pc:docMk/>
            <pc:sldMk cId="0" sldId="256"/>
            <ac:spMk id="9" creationId="{00000000-0000-0000-0000-000000000000}"/>
          </ac:spMkLst>
        </pc:spChg>
      </pc:sldChg>
      <pc:sldChg chg="mod modShow">
        <pc:chgData name="Samuel Huang" userId="3d14d3036a2a384b" providerId="LiveId" clId="{59E6B3E9-767B-4360-86A1-1FE5E3B4620C}" dt="2026-05-08T00:50:54.600" v="120" actId="729"/>
        <pc:sldMkLst>
          <pc:docMk/>
          <pc:sldMk cId="0" sldId="257"/>
        </pc:sldMkLst>
      </pc:sldChg>
      <pc:sldChg chg="addSp modSp mod ord">
        <pc:chgData name="Samuel Huang" userId="3d14d3036a2a384b" providerId="LiveId" clId="{59E6B3E9-767B-4360-86A1-1FE5E3B4620C}" dt="2026-05-08T06:18:10.882" v="162"/>
        <pc:sldMkLst>
          <pc:docMk/>
          <pc:sldMk cId="0" sldId="258"/>
        </pc:sldMkLst>
        <pc:spChg chg="mod">
          <ac:chgData name="Samuel Huang" userId="3d14d3036a2a384b" providerId="LiveId" clId="{59E6B3E9-767B-4360-86A1-1FE5E3B4620C}" dt="2026-05-08T06:18:10.882" v="162"/>
          <ac:spMkLst>
            <pc:docMk/>
            <pc:sldMk cId="0" sldId="258"/>
            <ac:spMk id="4" creationId="{00000000-0000-0000-0000-000000000000}"/>
          </ac:spMkLst>
        </pc:spChg>
        <pc:spChg chg="mod">
          <ac:chgData name="Samuel Huang" userId="3d14d3036a2a384b" providerId="LiveId" clId="{59E6B3E9-767B-4360-86A1-1FE5E3B4620C}" dt="2026-05-08T00:51:20.187" v="132" actId="113"/>
          <ac:spMkLst>
            <pc:docMk/>
            <pc:sldMk cId="0" sldId="258"/>
            <ac:spMk id="5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22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24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26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27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28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30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32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33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34" creationId="{00000000-0000-0000-0000-000000000000}"/>
          </ac:spMkLst>
        </pc:spChg>
        <pc:grpChg chg="mod">
          <ac:chgData name="Samuel Huang" userId="3d14d3036a2a384b" providerId="LiveId" clId="{59E6B3E9-767B-4360-86A1-1FE5E3B4620C}" dt="2026-05-08T01:46:01.696" v="138" actId="12788"/>
          <ac:grpSpMkLst>
            <pc:docMk/>
            <pc:sldMk cId="0" sldId="258"/>
            <ac:grpSpMk id="39" creationId="{6F7874DE-F661-1F42-788C-B62C6872BA7F}"/>
          </ac:grpSpMkLst>
        </pc:grpChg>
      </pc:sldChg>
      <pc:sldChg chg="mod modShow">
        <pc:chgData name="Samuel Huang" userId="3d14d3036a2a384b" providerId="LiveId" clId="{59E6B3E9-767B-4360-86A1-1FE5E3B4620C}" dt="2026-05-08T00:50:54.600" v="120" actId="729"/>
        <pc:sldMkLst>
          <pc:docMk/>
          <pc:sldMk cId="0" sldId="259"/>
        </pc:sldMkLst>
      </pc:sldChg>
      <pc:sldChg chg="addSp modSp mod ord">
        <pc:chgData name="Samuel Huang" userId="3d14d3036a2a384b" providerId="LiveId" clId="{59E6B3E9-767B-4360-86A1-1FE5E3B4620C}" dt="2026-05-08T06:22:18.939" v="179"/>
        <pc:sldMkLst>
          <pc:docMk/>
          <pc:sldMk cId="0" sldId="260"/>
        </pc:sldMkLst>
        <pc:spChg chg="mod">
          <ac:chgData name="Samuel Huang" userId="3d14d3036a2a384b" providerId="LiveId" clId="{59E6B3E9-767B-4360-86A1-1FE5E3B4620C}" dt="2026-05-08T06:18:19.914" v="167"/>
          <ac:spMkLst>
            <pc:docMk/>
            <pc:sldMk cId="0" sldId="260"/>
            <ac:spMk id="4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2:18.939" v="179"/>
          <ac:spMkLst>
            <pc:docMk/>
            <pc:sldMk cId="0" sldId="260"/>
            <ac:spMk id="5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9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6:29.695" v="151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6:15.813" v="140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18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23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25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29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6:22.878" v="142" actId="20577"/>
          <ac:spMkLst>
            <pc:docMk/>
            <pc:sldMk cId="0" sldId="260"/>
            <ac:spMk id="34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39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42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43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51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57" creationId="{00000000-0000-0000-0000-000000000000}"/>
          </ac:spMkLst>
        </pc:spChg>
        <pc:grpChg chg="mod">
          <ac:chgData name="Samuel Huang" userId="3d14d3036a2a384b" providerId="LiveId" clId="{59E6B3E9-767B-4360-86A1-1FE5E3B4620C}" dt="2026-05-08T06:21:30.102" v="174" actId="12788"/>
          <ac:grpSpMkLst>
            <pc:docMk/>
            <pc:sldMk cId="0" sldId="260"/>
            <ac:grpSpMk id="63" creationId="{3CD23B4B-299E-F684-3325-BB1922348743}"/>
          </ac:grpSpMkLst>
        </pc:grpChg>
      </pc:sldChg>
      <pc:sldChg chg="mod modShow">
        <pc:chgData name="Samuel Huang" userId="3d14d3036a2a384b" providerId="LiveId" clId="{59E6B3E9-767B-4360-86A1-1FE5E3B4620C}" dt="2026-05-08T00:50:54.600" v="120" actId="729"/>
        <pc:sldMkLst>
          <pc:docMk/>
          <pc:sldMk cId="0" sldId="261"/>
        </pc:sldMkLst>
      </pc:sldChg>
      <pc:sldChg chg="modSp mod ord">
        <pc:chgData name="Samuel Huang" userId="3d14d3036a2a384b" providerId="LiveId" clId="{59E6B3E9-767B-4360-86A1-1FE5E3B4620C}" dt="2026-05-08T06:17:27.165" v="157" actId="403"/>
        <pc:sldMkLst>
          <pc:docMk/>
          <pc:sldMk cId="0" sldId="262"/>
        </pc:sldMkLst>
        <pc:spChg chg="mod">
          <ac:chgData name="Samuel Huang" userId="3d14d3036a2a384b" providerId="LiveId" clId="{59E6B3E9-767B-4360-86A1-1FE5E3B4620C}" dt="2026-05-08T06:15:42.475" v="154" actId="404"/>
          <ac:spMkLst>
            <pc:docMk/>
            <pc:sldMk cId="0" sldId="262"/>
            <ac:spMk id="4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17:27.165" v="157" actId="403"/>
          <ac:spMkLst>
            <pc:docMk/>
            <pc:sldMk cId="0" sldId="262"/>
            <ac:spMk id="37" creationId="{00000000-0000-0000-0000-000000000000}"/>
          </ac:spMkLst>
        </pc:spChg>
      </pc:sldChg>
      <pc:sldChg chg="mod modShow">
        <pc:chgData name="Samuel Huang" userId="3d14d3036a2a384b" providerId="LiveId" clId="{59E6B3E9-767B-4360-86A1-1FE5E3B4620C}" dt="2026-05-08T00:50:54.600" v="120" actId="729"/>
        <pc:sldMkLst>
          <pc:docMk/>
          <pc:sldMk cId="0" sldId="263"/>
        </pc:sldMkLst>
      </pc:sldChg>
      <pc:sldChg chg="mod modShow">
        <pc:chgData name="Samuel Huang" userId="3d14d3036a2a384b" providerId="LiveId" clId="{59E6B3E9-767B-4360-86A1-1FE5E3B4620C}" dt="2026-05-08T00:50:54.600" v="120" actId="729"/>
        <pc:sldMkLst>
          <pc:docMk/>
          <pc:sldMk cId="0" sldId="264"/>
        </pc:sldMkLst>
      </pc:sldChg>
      <pc:sldChg chg="mod modShow">
        <pc:chgData name="Samuel Huang" userId="3d14d3036a2a384b" providerId="LiveId" clId="{59E6B3E9-767B-4360-86A1-1FE5E3B4620C}" dt="2026-05-08T00:50:54.600" v="120" actId="729"/>
        <pc:sldMkLst>
          <pc:docMk/>
          <pc:sldMk cId="0" sldId="265"/>
        </pc:sldMkLst>
      </pc:sldChg>
      <pc:sldChg chg="addSp delSp modSp mod ord">
        <pc:chgData name="Samuel Huang" userId="3d14d3036a2a384b" providerId="LiveId" clId="{59E6B3E9-767B-4360-86A1-1FE5E3B4620C}" dt="2026-05-07T23:32:20.997" v="62" actId="22"/>
        <pc:sldMkLst>
          <pc:docMk/>
          <pc:sldMk cId="0" sldId="266"/>
        </pc:sldMkLst>
        <pc:spChg chg="mod">
          <ac:chgData name="Samuel Huang" userId="3d14d3036a2a384b" providerId="LiveId" clId="{59E6B3E9-767B-4360-86A1-1FE5E3B4620C}" dt="2026-05-07T23:30:40.209" v="54" actId="2711"/>
          <ac:spMkLst>
            <pc:docMk/>
            <pc:sldMk cId="0" sldId="266"/>
            <ac:spMk id="5" creationId="{00000000-0000-0000-0000-000000000000}"/>
          </ac:spMkLst>
        </pc:spChg>
        <pc:spChg chg="mod">
          <ac:chgData name="Samuel Huang" userId="3d14d3036a2a384b" providerId="LiveId" clId="{59E6B3E9-767B-4360-86A1-1FE5E3B4620C}" dt="2026-05-07T23:29:27.964" v="40" actId="20577"/>
          <ac:spMkLst>
            <pc:docMk/>
            <pc:sldMk cId="0" sldId="266"/>
            <ac:spMk id="11" creationId="{00000000-0000-0000-0000-000000000000}"/>
          </ac:spMkLst>
        </pc:spChg>
      </pc:sldChg>
      <pc:sldChg chg="modSp add mod ord modShow">
        <pc:chgData name="Samuel Huang" userId="3d14d3036a2a384b" providerId="LiveId" clId="{59E6B3E9-767B-4360-86A1-1FE5E3B4620C}" dt="2026-05-08T00:52:00.542" v="136"/>
        <pc:sldMkLst>
          <pc:docMk/>
          <pc:sldMk cId="4268425022" sldId="267"/>
        </pc:sldMkLst>
        <pc:spChg chg="mod">
          <ac:chgData name="Samuel Huang" userId="3d14d3036a2a384b" providerId="LiveId" clId="{59E6B3E9-767B-4360-86A1-1FE5E3B4620C}" dt="2026-05-07T23:33:01.362" v="89"/>
          <ac:spMkLst>
            <pc:docMk/>
            <pc:sldMk cId="4268425022" sldId="267"/>
            <ac:spMk id="5" creationId="{4A7450FC-0CF3-6E69-0A60-5A15EFA5837A}"/>
          </ac:spMkLst>
        </pc:spChg>
        <pc:spChg chg="mod">
          <ac:chgData name="Samuel Huang" userId="3d14d3036a2a384b" providerId="LiveId" clId="{59E6B3E9-767B-4360-86A1-1FE5E3B4620C}" dt="2026-05-07T23:33:23.368" v="118"/>
          <ac:spMkLst>
            <pc:docMk/>
            <pc:sldMk cId="4268425022" sldId="267"/>
            <ac:spMk id="6" creationId="{D42BFD16-46CF-7B81-1ACC-83A8B0567E3C}"/>
          </ac:spMkLst>
        </pc:spChg>
      </pc:sldChg>
      <pc:sldChg chg="modSp add mod setBg modNotesTx">
        <pc:chgData name="Samuel Huang" userId="3d14d3036a2a384b" providerId="LiveId" clId="{59E6B3E9-767B-4360-86A1-1FE5E3B4620C}" dt="2026-05-12T03:38:01.625" v="227" actId="20577"/>
        <pc:sldMkLst>
          <pc:docMk/>
          <pc:sldMk cId="0" sldId="268"/>
        </pc:sldMkLst>
        <pc:spChg chg="mod">
          <ac:chgData name="Samuel Huang" userId="3d14d3036a2a384b" providerId="LiveId" clId="{59E6B3E9-767B-4360-86A1-1FE5E3B4620C}" dt="2026-05-08T06:18:32.529" v="172"/>
          <ac:spMkLst>
            <pc:docMk/>
            <pc:sldMk cId="0" sldId="268"/>
            <ac:spMk id="4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2:11.743" v="1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Samuel Huang" userId="3d14d3036a2a384b" providerId="LiveId" clId="{59E6B3E9-767B-4360-86A1-1FE5E3B4620C}" dt="2026-05-12T03:35:14.965" v="224" actId="5793"/>
          <ac:spMkLst>
            <pc:docMk/>
            <pc:sldMk cId="0" sldId="268"/>
            <ac:spMk id="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489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LEAN </a:t>
            </a:r>
            <a:r>
              <a:rPr lang="zh-TW" altLang="en-US"/>
              <a:t>管理不是單純節省成本，而是透過流程標準化、資料正確化與持續改善，讓組織用更少的浪費完成更多有價值的工作。</a:t>
            </a:r>
            <a:br>
              <a:rPr lang="zh-TW" altLang="en-US"/>
            </a:br>
            <a:r>
              <a:rPr lang="zh-TW" altLang="en-US"/>
              <a:t>對企業來說，</a:t>
            </a:r>
            <a:r>
              <a:rPr lang="en-US" altLang="zh-TW"/>
              <a:t>LEAN </a:t>
            </a:r>
            <a:r>
              <a:rPr lang="zh-TW" altLang="en-US"/>
              <a:t>的重點是讓問題被看見、流程被改善、數據能決策、工作能標準化。</a:t>
            </a:r>
            <a:br>
              <a:rPr lang="en-US" altLang="zh-TW"/>
            </a:br>
            <a:br>
              <a:rPr lang="en-US" altLang="zh-TW"/>
            </a:br>
            <a:r>
              <a:rPr lang="zh-TW" altLang="en-US" b="1"/>
              <a:t>簡單結論</a:t>
            </a:r>
          </a:p>
          <a:p>
            <a:r>
              <a:rPr lang="en-US" altLang="zh-TW" b="1"/>
              <a:t>LEAN </a:t>
            </a:r>
            <a:r>
              <a:rPr lang="zh-TW" altLang="en-US" b="1"/>
              <a:t>管理的重點有四個：</a:t>
            </a:r>
            <a:endParaRPr lang="zh-TW" altLang="en-US"/>
          </a:p>
          <a:p>
            <a:r>
              <a:rPr lang="zh-TW" altLang="en-US" b="1"/>
              <a:t>看見浪費</a:t>
            </a:r>
            <a:r>
              <a:rPr lang="zh-TW" altLang="en-US"/>
              <a:t> </a:t>
            </a:r>
          </a:p>
          <a:p>
            <a:r>
              <a:rPr lang="zh-TW" altLang="en-US" b="1"/>
              <a:t>改善流程</a:t>
            </a:r>
            <a:r>
              <a:rPr lang="zh-TW" altLang="en-US"/>
              <a:t> </a:t>
            </a:r>
          </a:p>
          <a:p>
            <a:r>
              <a:rPr lang="zh-TW" altLang="en-US" b="1"/>
              <a:t>標準化作業</a:t>
            </a:r>
            <a:r>
              <a:rPr lang="zh-TW" altLang="en-US"/>
              <a:t> </a:t>
            </a:r>
          </a:p>
          <a:p>
            <a:r>
              <a:rPr lang="zh-TW" altLang="en-US" b="1"/>
              <a:t>用數據持續優化</a:t>
            </a:r>
            <a:r>
              <a:rPr lang="zh-TW" altLang="en-US"/>
              <a:t> </a:t>
            </a:r>
          </a:p>
          <a:p>
            <a:r>
              <a:rPr lang="zh-TW" altLang="en-US"/>
              <a:t>套用在系統開發與營運管理上，就是：</a:t>
            </a:r>
          </a:p>
          <a:p>
            <a:r>
              <a:rPr lang="zh-TW" altLang="en-US" b="1"/>
              <a:t>把混亂的流程變清楚，把重複的工作自動化，把錯誤的資料修正，把主管需要的資訊即時呈現。</a:t>
            </a:r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4F30-46CC-526E-EFBE-27DB4365C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BC4C6D-76C6-FE97-FE68-1763FB1561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7785EA-2BD2-96FB-FBAF-666BA1098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FB460-86BA-36F6-B6AE-3B66EE3BD0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48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583680" y="3291840"/>
            <a:ext cx="2560320" cy="1851660"/>
          </a:xfrm>
          <a:prstGeom prst="rect">
            <a:avLst/>
          </a:prstGeom>
          <a:solidFill>
            <a:srgbClr val="1F48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7498080" y="3840480"/>
            <a:ext cx="1645920" cy="1303020"/>
          </a:xfrm>
          <a:prstGeom prst="rect">
            <a:avLst/>
          </a:prstGeom>
          <a:solidFill>
            <a:srgbClr val="4BA8E8">
              <a:alpha val="4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2296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52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集團</a:t>
            </a:r>
            <a:r>
              <a:rPr lang="en-US" sz="52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Portal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4BA8E8"/>
                </a:solidFill>
                <a:latin typeface="華康明體 Std W9" panose="02020900000000000000" pitchFamily="18" charset="-120"/>
                <a:ea typeface="華康明體 Std W9" panose="02020900000000000000" pitchFamily="18" charset="-120"/>
                <a:cs typeface="Arial Black" pitchFamily="34" charset="-120"/>
              </a:rPr>
              <a:t>管理決策平台</a:t>
            </a:r>
            <a:endParaRPr lang="en-US" sz="3800" dirty="0">
              <a:latin typeface="華康明體 Std W9" panose="02020900000000000000" pitchFamily="18" charset="-120"/>
              <a:ea typeface="華康明體 Std W9" panose="02020900000000000000" pitchFamily="18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2670048"/>
            <a:ext cx="5943600" cy="54864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>
                <a:solidFill>
                  <a:srgbClr val="7CC4F0"/>
                </a:solidFill>
                <a:latin typeface="華康明體 Std W9" panose="02020900000000000000" pitchFamily="18" charset="-120"/>
                <a:ea typeface="華康明體 Std W9" panose="02020900000000000000" pitchFamily="18" charset="-120"/>
                <a:cs typeface="Calibri" pitchFamily="34" charset="-120"/>
              </a:rPr>
              <a:t>從資料彙整到管理決策的</a:t>
            </a:r>
            <a:r>
              <a:rPr lang="zh-TW" altLang="en-US" sz="2200">
                <a:solidFill>
                  <a:srgbClr val="7CC4F0"/>
                </a:solidFill>
                <a:latin typeface="華康明體 Std W9" panose="02020900000000000000" pitchFamily="18" charset="-120"/>
                <a:ea typeface="華康明體 Std W9" panose="02020900000000000000" pitchFamily="18" charset="-120"/>
                <a:cs typeface="Calibri" pitchFamily="34" charset="-120"/>
              </a:rPr>
              <a:t>集團管理平台</a:t>
            </a:r>
            <a:endParaRPr lang="en-US" sz="2200" dirty="0">
              <a:solidFill>
                <a:srgbClr val="7CC4F0"/>
              </a:solidFill>
              <a:latin typeface="華康明體 Std W9" panose="02020900000000000000" pitchFamily="18" charset="-120"/>
              <a:ea typeface="華康明體 Std W9" panose="02020900000000000000" pitchFamily="18" charset="-120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v1.57  ｜  飯店 </a:t>
            </a:r>
            <a:r>
              <a:rPr lang="en-US" sz="14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商場 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｜  10+ 模組  ｜  30 分鐘自動同步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系統核心價值</a:t>
            </a:r>
            <a:r>
              <a:rPr lang="zh-TW" alt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 </a:t>
            </a:r>
            <a:r>
              <a:rPr lang="en-US" altLang="zh-TW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-</a:t>
            </a:r>
            <a:r>
              <a:rPr lang="zh-TW" alt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 </a:t>
            </a:r>
            <a:r>
              <a:rPr 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五大管理升級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300" b="1">
                <a:solidFill>
                  <a:srgbClr val="7CC4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集團</a:t>
            </a:r>
            <a:r>
              <a:rPr lang="en-US" sz="130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3 / 11</a:t>
            </a:r>
            <a:endParaRPr lang="en-US" sz="1100" dirty="0"/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6F7874DE-F661-1F42-788C-B62C6872BA7F}"/>
              </a:ext>
            </a:extLst>
          </p:cNvPr>
          <p:cNvGrpSpPr/>
          <p:nvPr/>
        </p:nvGrpSpPr>
        <p:grpSpPr>
          <a:xfrm>
            <a:off x="402336" y="1508760"/>
            <a:ext cx="8339328" cy="2267712"/>
            <a:chOff x="256032" y="1508760"/>
            <a:chExt cx="8339328" cy="2267712"/>
          </a:xfrm>
        </p:grpSpPr>
        <p:sp>
          <p:nvSpPr>
            <p:cNvPr id="9" name="Shape 7"/>
            <p:cNvSpPr/>
            <p:nvPr/>
          </p:nvSpPr>
          <p:spPr>
            <a:xfrm>
              <a:off x="256032" y="1508760"/>
              <a:ext cx="1609344" cy="226771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256032" y="1508760"/>
              <a:ext cx="1609344" cy="91440"/>
            </a:xfrm>
            <a:prstGeom prst="rect">
              <a:avLst/>
            </a:prstGeom>
            <a:solidFill>
              <a:srgbClr val="4BA8E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420624" y="1709928"/>
              <a:ext cx="493776" cy="493776"/>
            </a:xfrm>
            <a:prstGeom prst="ellipse">
              <a:avLst/>
            </a:prstGeom>
            <a:solidFill>
              <a:srgbClr val="4BA8E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420624" y="1709928"/>
              <a:ext cx="493776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↑↑</a:t>
              </a:r>
              <a:endParaRPr lang="en-US" sz="18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47472" y="2258568"/>
              <a:ext cx="14264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即時整合</a:t>
              </a:r>
              <a:endParaRPr lang="en-US" sz="15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47472" y="2624328"/>
              <a:ext cx="1426464" cy="10607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每 30 分鐘自動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從 Ragic 同步，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永遠是最新狀態</a:t>
              </a:r>
              <a:endParaRPr lang="en-US" sz="13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938528" y="1508760"/>
              <a:ext cx="1609344" cy="226771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Shape 14"/>
            <p:cNvSpPr/>
            <p:nvPr/>
          </p:nvSpPr>
          <p:spPr>
            <a:xfrm>
              <a:off x="1938528" y="1508760"/>
              <a:ext cx="1609344" cy="91440"/>
            </a:xfrm>
            <a:prstGeom prst="rect">
              <a:avLst/>
            </a:prstGeom>
            <a:solidFill>
              <a:srgbClr val="27AE60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103120" y="1709928"/>
              <a:ext cx="493776" cy="493776"/>
            </a:xfrm>
            <a:prstGeom prst="ellipse">
              <a:avLst/>
            </a:prstGeom>
            <a:solidFill>
              <a:srgbClr val="27AE60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2103120" y="1709928"/>
              <a:ext cx="493776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★</a:t>
              </a:r>
              <a:endParaRPr lang="en-US" sz="18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029968" y="2258568"/>
              <a:ext cx="14264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自動統計</a:t>
              </a:r>
              <a:endParaRPr lang="en-US" sz="15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029968" y="2624328"/>
              <a:ext cx="1426464" cy="10607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完成率、工時、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案件數自動計算，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不再人工加總</a:t>
              </a:r>
              <a:endParaRPr lang="en-US" sz="13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621024" y="1508760"/>
              <a:ext cx="1609344" cy="226771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3621024" y="1508760"/>
              <a:ext cx="1609344" cy="91440"/>
            </a:xfrm>
            <a:prstGeom prst="rect">
              <a:avLst/>
            </a:prstGeom>
            <a:solidFill>
              <a:srgbClr val="E67E22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3785616" y="1709928"/>
              <a:ext cx="493776" cy="493776"/>
            </a:xfrm>
            <a:prstGeom prst="ellipse">
              <a:avLst/>
            </a:prstGeom>
            <a:solidFill>
              <a:srgbClr val="E67E22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3785616" y="1709928"/>
              <a:ext cx="493776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◆</a:t>
              </a:r>
              <a:endParaRPr lang="en-US" sz="18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712464" y="2258568"/>
              <a:ext cx="14264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視覺呈現</a:t>
              </a:r>
              <a:endParaRPr lang="en-US" sz="15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712464" y="2624328"/>
              <a:ext cx="1426464" cy="10607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KPI 卡片、圖表、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比較表，數字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一目了然</a:t>
              </a:r>
              <a:endParaRPr lang="en-US" sz="13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5303520" y="1508760"/>
              <a:ext cx="1609344" cy="226771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5303520" y="1508760"/>
              <a:ext cx="1609344" cy="91440"/>
            </a:xfrm>
            <a:prstGeom prst="rect">
              <a:avLst/>
            </a:prstGeom>
            <a:solidFill>
              <a:srgbClr val="E74C3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Shape 27"/>
            <p:cNvSpPr/>
            <p:nvPr/>
          </p:nvSpPr>
          <p:spPr>
            <a:xfrm>
              <a:off x="5468112" y="1709928"/>
              <a:ext cx="493776" cy="493776"/>
            </a:xfrm>
            <a:prstGeom prst="ellipse">
              <a:avLst/>
            </a:prstGeom>
            <a:solidFill>
              <a:srgbClr val="E74C3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5468112" y="1709928"/>
              <a:ext cx="493776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!</a:t>
              </a:r>
              <a:endParaRPr lang="en-US" sz="18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394960" y="2258568"/>
              <a:ext cx="14264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主動預警</a:t>
              </a:r>
              <a:endParaRPr lang="en-US" sz="15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5394960" y="2624328"/>
              <a:ext cx="1426464" cy="10607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異常情況自動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標示紅色警示，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不靠感覺管理</a:t>
              </a:r>
              <a:endParaRPr lang="en-US" sz="13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6986016" y="1508760"/>
              <a:ext cx="1609344" cy="226771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6986016" y="1508760"/>
              <a:ext cx="1609344" cy="91440"/>
            </a:xfrm>
            <a:prstGeom prst="rect">
              <a:avLst/>
            </a:prstGeom>
            <a:solidFill>
              <a:srgbClr val="6D2E46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150608" y="1709928"/>
              <a:ext cx="493776" cy="493776"/>
            </a:xfrm>
            <a:prstGeom prst="ellipse">
              <a:avLst/>
            </a:prstGeom>
            <a:solidFill>
              <a:srgbClr val="6D2E46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7150608" y="1709928"/>
              <a:ext cx="493776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=</a:t>
              </a:r>
              <a:endParaRPr lang="en-US" sz="18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7077456" y="2258568"/>
              <a:ext cx="14264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標準化管理</a:t>
              </a:r>
              <a:endParaRPr lang="en-US" sz="15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077456" y="2624328"/>
              <a:ext cx="1426464" cy="10607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所有場域統一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管理框架，決策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基準一致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已完成模組一覽</a:t>
            </a:r>
            <a:r>
              <a:rPr lang="zh-TW" alt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 </a:t>
            </a:r>
            <a:r>
              <a:rPr lang="en-US" altLang="zh-TW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-</a:t>
            </a:r>
            <a:r>
              <a:rPr lang="zh-TW" alt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 </a:t>
            </a:r>
            <a:r>
              <a:rPr 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涵蓋集團三大管理場域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zh-TW" altLang="en-US" sz="1300" b="1">
                <a:solidFill>
                  <a:srgbClr val="7CC4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集團 </a:t>
            </a:r>
            <a:r>
              <a:rPr lang="en-US" sz="130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5 / 11</a:t>
            </a:r>
            <a:endParaRPr lang="en-US" sz="1100" dirty="0"/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3CD23B4B-299E-F684-3325-BB1922348743}"/>
              </a:ext>
            </a:extLst>
          </p:cNvPr>
          <p:cNvGrpSpPr/>
          <p:nvPr/>
        </p:nvGrpSpPr>
        <p:grpSpPr>
          <a:xfrm>
            <a:off x="155448" y="777240"/>
            <a:ext cx="8833104" cy="4005072"/>
            <a:chOff x="256032" y="777240"/>
            <a:chExt cx="8833104" cy="4005072"/>
          </a:xfrm>
        </p:grpSpPr>
        <p:sp>
          <p:nvSpPr>
            <p:cNvPr id="9" name="Shape 7"/>
            <p:cNvSpPr/>
            <p:nvPr/>
          </p:nvSpPr>
          <p:spPr>
            <a:xfrm>
              <a:off x="256032" y="777240"/>
              <a:ext cx="2834640" cy="4005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256032" y="777240"/>
              <a:ext cx="2834640" cy="530352"/>
            </a:xfrm>
            <a:prstGeom prst="rect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365760" y="777240"/>
              <a:ext cx="2615184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🏨  飯店管理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29184" y="134416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384048" y="1499616"/>
              <a:ext cx="146304" cy="146304"/>
            </a:xfrm>
            <a:prstGeom prst="ellipse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585216" y="137160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飯店管理 Dashboard</a:t>
              </a:r>
              <a:endParaRPr lang="en-US" sz="13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84048" y="2048256"/>
              <a:ext cx="146304" cy="146304"/>
            </a:xfrm>
            <a:prstGeom prst="ellipse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585216" y="192024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工務報修管理</a:t>
              </a:r>
              <a:endParaRPr lang="en-US" sz="13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9184" y="244144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384048" y="2596896"/>
              <a:ext cx="146304" cy="146304"/>
            </a:xfrm>
            <a:prstGeom prst="ellipse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585216" y="246888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飯店週期保養表</a:t>
              </a:r>
              <a:endParaRPr lang="en-US" sz="13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84048" y="3145536"/>
              <a:ext cx="146304" cy="146304"/>
            </a:xfrm>
            <a:prstGeom prst="ellipse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585216" y="301752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飯店每日巡檢</a:t>
              </a:r>
              <a:endParaRPr lang="en-US" sz="13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29184" y="353872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384048" y="3694176"/>
              <a:ext cx="146304" cy="146304"/>
            </a:xfrm>
            <a:prstGeom prst="ellipse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585216" y="356616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IHG 客房保養</a:t>
              </a:r>
              <a:endParaRPr lang="en-US" sz="13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84048" y="4242816"/>
              <a:ext cx="146304" cy="146304"/>
            </a:xfrm>
            <a:prstGeom prst="ellipse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585216" y="411480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保全巡檢（開發中）</a:t>
              </a:r>
              <a:endParaRPr lang="en-US" sz="13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255264" y="777240"/>
              <a:ext cx="2834640" cy="4005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3255264" y="777240"/>
              <a:ext cx="2834640" cy="530352"/>
            </a:xfrm>
            <a:prstGeom prst="rect">
              <a:avLst/>
            </a:prstGeom>
            <a:solidFill>
              <a:srgbClr val="28609B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3364992" y="777240"/>
              <a:ext cx="2615184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🏬  商場管理</a:t>
              </a:r>
              <a:endParaRPr lang="en-US" sz="16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328416" y="134416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3383280" y="1499616"/>
              <a:ext cx="146304" cy="146304"/>
            </a:xfrm>
            <a:prstGeom prst="ellipse">
              <a:avLst/>
            </a:prstGeom>
            <a:solidFill>
              <a:srgbClr val="28609B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3584448" y="137160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商場管理 Dashboard</a:t>
              </a:r>
              <a:endParaRPr lang="en-US" sz="13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383280" y="2048256"/>
              <a:ext cx="146304" cy="146304"/>
            </a:xfrm>
            <a:prstGeom prst="ellipse">
              <a:avLst/>
            </a:prstGeom>
            <a:solidFill>
              <a:srgbClr val="28609B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3584448" y="192024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工務報修管理</a:t>
              </a:r>
              <a:endParaRPr lang="en-US" sz="13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328416" y="244144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3383280" y="2596896"/>
              <a:ext cx="146304" cy="146304"/>
            </a:xfrm>
            <a:prstGeom prst="ellipse">
              <a:avLst/>
            </a:prstGeom>
            <a:solidFill>
              <a:srgbClr val="28609B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3584448" y="246888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商場例行維護</a:t>
              </a:r>
              <a:endParaRPr lang="en-US" sz="13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3383280" y="3145536"/>
              <a:ext cx="146304" cy="146304"/>
            </a:xfrm>
            <a:prstGeom prst="ellipse">
              <a:avLst/>
            </a:prstGeom>
            <a:solidFill>
              <a:srgbClr val="28609B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3584448" y="301752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全棟例行維護</a:t>
              </a:r>
              <a:endParaRPr lang="en-US" sz="13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328416" y="353872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Shape 39"/>
            <p:cNvSpPr/>
            <p:nvPr/>
          </p:nvSpPr>
          <p:spPr>
            <a:xfrm>
              <a:off x="3383280" y="3694176"/>
              <a:ext cx="146304" cy="146304"/>
            </a:xfrm>
            <a:prstGeom prst="ellipse">
              <a:avLst/>
            </a:prstGeom>
            <a:solidFill>
              <a:srgbClr val="28609B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Text 40"/>
            <p:cNvSpPr/>
            <p:nvPr/>
          </p:nvSpPr>
          <p:spPr>
            <a:xfrm>
              <a:off x="3584448" y="356616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商場工務巡檢</a:t>
              </a:r>
              <a:endParaRPr lang="en-US" sz="13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3383280" y="4242816"/>
              <a:ext cx="146304" cy="146304"/>
            </a:xfrm>
            <a:prstGeom prst="ellipse">
              <a:avLst/>
            </a:prstGeom>
            <a:solidFill>
              <a:srgbClr val="28609B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4" name="Text 42"/>
            <p:cNvSpPr/>
            <p:nvPr/>
          </p:nvSpPr>
          <p:spPr>
            <a:xfrm>
              <a:off x="3584448" y="411480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整棟巡檢</a:t>
              </a:r>
              <a:endParaRPr lang="en-US" sz="13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6254496" y="777240"/>
              <a:ext cx="2834640" cy="4005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Shape 44"/>
            <p:cNvSpPr/>
            <p:nvPr/>
          </p:nvSpPr>
          <p:spPr>
            <a:xfrm>
              <a:off x="6254496" y="777240"/>
              <a:ext cx="2834640" cy="530352"/>
            </a:xfrm>
            <a:prstGeom prst="rect">
              <a:avLst/>
            </a:prstGeom>
            <a:solidFill>
              <a:srgbClr val="5A3E8A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Text 45"/>
            <p:cNvSpPr/>
            <p:nvPr/>
          </p:nvSpPr>
          <p:spPr>
            <a:xfrm>
              <a:off x="6364224" y="777240"/>
              <a:ext cx="2615184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⚙️  管理工具</a:t>
              </a:r>
              <a:endParaRPr lang="en-US" sz="16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6327648" y="134416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Shape 47"/>
            <p:cNvSpPr/>
            <p:nvPr/>
          </p:nvSpPr>
          <p:spPr>
            <a:xfrm>
              <a:off x="6382512" y="1499616"/>
              <a:ext cx="146304" cy="146304"/>
            </a:xfrm>
            <a:prstGeom prst="ellipse">
              <a:avLst/>
            </a:prstGeom>
            <a:solidFill>
              <a:srgbClr val="5A3E8A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Text 48"/>
            <p:cNvSpPr/>
            <p:nvPr/>
          </p:nvSpPr>
          <p:spPr>
            <a:xfrm>
              <a:off x="6583680" y="137160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集團決策駕駛艙</a:t>
              </a:r>
              <a:endParaRPr lang="en-US" sz="13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382512" y="2048256"/>
              <a:ext cx="146304" cy="146304"/>
            </a:xfrm>
            <a:prstGeom prst="ellipse">
              <a:avLst/>
            </a:prstGeom>
            <a:solidFill>
              <a:srgbClr val="5A3E8A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Text 50"/>
            <p:cNvSpPr/>
            <p:nvPr/>
          </p:nvSpPr>
          <p:spPr>
            <a:xfrm>
              <a:off x="6583680" y="192024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集團工務 Dashboard</a:t>
              </a:r>
              <a:endParaRPr lang="en-US" sz="13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6327648" y="244144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Shape 52"/>
            <p:cNvSpPr/>
            <p:nvPr/>
          </p:nvSpPr>
          <p:spPr>
            <a:xfrm>
              <a:off x="6382512" y="2596896"/>
              <a:ext cx="146304" cy="146304"/>
            </a:xfrm>
            <a:prstGeom prst="ellipse">
              <a:avLst/>
            </a:prstGeom>
            <a:solidFill>
              <a:srgbClr val="5A3E8A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Text 53"/>
            <p:cNvSpPr/>
            <p:nvPr/>
          </p:nvSpPr>
          <p:spPr>
            <a:xfrm>
              <a:off x="6583680" y="246888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超級行事曆（全模組）</a:t>
              </a:r>
              <a:endParaRPr lang="en-US" sz="13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6382512" y="3145536"/>
              <a:ext cx="146304" cy="146304"/>
            </a:xfrm>
            <a:prstGeom prst="ellipse">
              <a:avLst/>
            </a:prstGeom>
            <a:solidFill>
              <a:srgbClr val="5A3E8A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7" name="Text 55"/>
            <p:cNvSpPr/>
            <p:nvPr/>
          </p:nvSpPr>
          <p:spPr>
            <a:xfrm>
              <a:off x="6583680" y="301752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選單管理（拖拉排序）</a:t>
              </a:r>
              <a:endParaRPr lang="en-US" sz="13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6327648" y="353872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9" name="Shape 57"/>
            <p:cNvSpPr/>
            <p:nvPr/>
          </p:nvSpPr>
          <p:spPr>
            <a:xfrm>
              <a:off x="6382512" y="3694176"/>
              <a:ext cx="146304" cy="146304"/>
            </a:xfrm>
            <a:prstGeom prst="ellipse">
              <a:avLst/>
            </a:prstGeom>
            <a:solidFill>
              <a:srgbClr val="5A3E8A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0" name="Text 58"/>
            <p:cNvSpPr/>
            <p:nvPr/>
          </p:nvSpPr>
          <p:spPr>
            <a:xfrm>
              <a:off x="6583680" y="356616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角色與權限設定</a:t>
              </a:r>
              <a:endParaRPr lang="en-US" sz="13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6382512" y="4242816"/>
              <a:ext cx="146304" cy="146304"/>
            </a:xfrm>
            <a:prstGeom prst="ellipse">
              <a:avLst/>
            </a:prstGeom>
            <a:solidFill>
              <a:srgbClr val="5A3E8A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2" name="Text 60"/>
            <p:cNvSpPr/>
            <p:nvPr/>
          </p:nvSpPr>
          <p:spPr>
            <a:xfrm>
              <a:off x="6583680" y="411480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Ragic 表單對照查詢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7 / 11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Decision Cockpit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868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異常主動浮現，管理不靠感覺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1444752"/>
            <a:ext cx="5394960" cy="594360"/>
          </a:xfrm>
          <a:prstGeom prst="rect">
            <a:avLst/>
          </a:prstGeom>
          <a:solidFill>
            <a:srgbClr val="1F48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75488" y="1572768"/>
            <a:ext cx="292608" cy="29260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未完成件數 &gt; 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773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需立即跟進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15727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139696"/>
            <a:ext cx="5394960" cy="594360"/>
          </a:xfrm>
          <a:prstGeom prst="rect">
            <a:avLst/>
          </a:prstGeom>
          <a:solidFill>
            <a:srgbClr val="162F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75488" y="2267712"/>
            <a:ext cx="292608" cy="29260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960120" y="2176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完成率 &lt; 60%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4688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嚴重落後需介入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22677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" y="2834640"/>
            <a:ext cx="5394960" cy="594360"/>
          </a:xfrm>
          <a:prstGeom prst="rect">
            <a:avLst/>
          </a:prstGeom>
          <a:solidFill>
            <a:srgbClr val="1F48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75488" y="2962656"/>
            <a:ext cx="292608" cy="29260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60120" y="28712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完成率 60%–80%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1638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需密切監控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96265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" y="3529584"/>
            <a:ext cx="5394960" cy="594360"/>
          </a:xfrm>
          <a:prstGeom prst="rect">
            <a:avLst/>
          </a:prstGeom>
          <a:solidFill>
            <a:srgbClr val="162F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75488" y="3657600"/>
            <a:ext cx="292608" cy="292608"/>
          </a:xfrm>
          <a:prstGeom prst="ellipse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96012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單一工項占比 &gt; 60%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38587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資源過度集中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7472" y="4224528"/>
            <a:ext cx="5394960" cy="594360"/>
          </a:xfrm>
          <a:prstGeom prst="rect">
            <a:avLst/>
          </a:prstGeom>
          <a:solidFill>
            <a:srgbClr val="1F48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75488" y="4352544"/>
            <a:ext cx="292608" cy="29260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960120" y="42611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人員月工時 &gt; 80h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0120" y="4553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人員負荷過重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40480" y="435254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35040" y="256032"/>
            <a:ext cx="2834640" cy="4617720"/>
          </a:xfrm>
          <a:prstGeom prst="rect">
            <a:avLst/>
          </a:prstGeom>
          <a:solidFill>
            <a:srgbClr val="1B3A5C"/>
          </a:solidFill>
          <a:ln/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6144768" y="4114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無異常時顯示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84848" y="1005840"/>
            <a:ext cx="1335024" cy="969264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784848" y="1005840"/>
            <a:ext cx="13350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OK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144768" y="1993392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本月無異常警示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144768" y="2651760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系統主動替主管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做判斷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不需要人工查找問題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44768" y="411480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從被動管理 → 主動管理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858000" y="3657600"/>
            <a:ext cx="2286000" cy="1485900"/>
          </a:xfrm>
          <a:prstGeom prst="rect">
            <a:avLst/>
          </a:prstGeom>
          <a:solidFill>
            <a:srgbClr val="1F48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0" dirty="0">
                <a:solidFill>
                  <a:srgbClr val="4BA8E8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2800" b="1">
                <a:solidFill>
                  <a:srgbClr val="FFFFFF"/>
                </a:solidFill>
                <a:latin typeface="華康明體 Std W9" panose="02020900000000000000" pitchFamily="18" charset="-120"/>
                <a:ea typeface="華康明體 Std W9" panose="02020900000000000000" pitchFamily="18" charset="-120"/>
                <a:cs typeface="Arial Black" pitchFamily="34" charset="-120"/>
              </a:rPr>
              <a:t>集團</a:t>
            </a:r>
            <a:r>
              <a:rPr lang="en-US" sz="2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Portal </a:t>
            </a:r>
            <a:r>
              <a:rPr lang="en-US" sz="2800" b="1" dirty="0">
                <a:solidFill>
                  <a:srgbClr val="FFFFFF"/>
                </a:solidFill>
                <a:latin typeface="華康明體 Std W9" panose="02020900000000000000" pitchFamily="18" charset="-120"/>
                <a:ea typeface="華康明體 Std W9" panose="02020900000000000000" pitchFamily="18" charset="-120"/>
                <a:cs typeface="Arial Black" pitchFamily="34" charset="-120"/>
              </a:rPr>
              <a:t>不只是資料查詢系統</a:t>
            </a:r>
            <a:r>
              <a:rPr lang="en-US" sz="2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609344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BA8E8"/>
                </a:solidFill>
                <a:latin typeface="華康明體 Std W9" panose="02020900000000000000" pitchFamily="18" charset="-120"/>
                <a:ea typeface="華康明體 Std W9" panose="02020900000000000000" pitchFamily="18" charset="-120"/>
                <a:cs typeface="Arial Black" pitchFamily="34" charset="-120"/>
              </a:rPr>
              <a:t>而是將日常作業資料轉化為</a:t>
            </a:r>
            <a:endParaRPr lang="en-US" sz="2800" dirty="0">
              <a:latin typeface="華康明體 Std W9" panose="02020900000000000000" pitchFamily="18" charset="-120"/>
              <a:ea typeface="華康明體 Std W9" panose="02020900000000000000" pitchFamily="18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華康明體 Std W9" panose="02020900000000000000" pitchFamily="18" charset="-120"/>
                <a:ea typeface="華康明體 Std W9" panose="02020900000000000000" pitchFamily="18" charset="-120"/>
                <a:cs typeface="Arial Black" pitchFamily="34" charset="-120"/>
              </a:rPr>
              <a:t>管理決策依據的平台。</a:t>
            </a:r>
            <a:endParaRPr lang="en-US" sz="2800" dirty="0">
              <a:latin typeface="華康明體 Std W9" panose="02020900000000000000" pitchFamily="18" charset="-120"/>
              <a:ea typeface="華康明體 Std W9" panose="02020900000000000000" pitchFamily="18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2926080"/>
            <a:ext cx="5029200" cy="4572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77240" y="30906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C4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系統已完成，現在就可以使用。</a:t>
            </a:r>
            <a:endParaRPr 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BD5E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歡迎提出希望新增的管理視角，我們將持續擴充。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44988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v1.57  ｜  10+ 模組  ｜  飯店 </a:t>
            </a: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商場  ｜  Portal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系統後續管理課題</a:t>
            </a:r>
            <a:r>
              <a:rPr lang="zh-TW" alt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 </a:t>
            </a:r>
            <a:r>
              <a:rPr lang="en-US" altLang="zh-TW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-</a:t>
            </a:r>
            <a:r>
              <a:rPr lang="zh-TW" alt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 </a:t>
            </a:r>
            <a:r>
              <a:rPr 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從建置走向治理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zh-TW" altLang="en-US" sz="1300" b="1">
                <a:solidFill>
                  <a:srgbClr val="7CC4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集團 </a:t>
            </a:r>
            <a:r>
              <a:rPr lang="en-US" sz="130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11 / 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4187952" cy="310896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56032" y="749808"/>
            <a:ext cx="128016" cy="310896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7498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資料層課題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" y="1078992"/>
            <a:ext cx="4187952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188720"/>
            <a:ext cx="329184" cy="329184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6576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11155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資料品質與正確性不足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" y="1371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資料若不準，Dashboard 再漂亮也無法支援決策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1691640"/>
            <a:ext cx="4187952" cy="548640"/>
          </a:xfrm>
          <a:prstGeom prst="rect">
            <a:avLst/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1801368"/>
            <a:ext cx="329184" cy="329184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6576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" y="17282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欄位定義與填寫標準不一致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" y="19842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同一欄位在不同模組可能有不同解讀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2304288"/>
            <a:ext cx="4187952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2414016"/>
            <a:ext cx="329184" cy="329184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36576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6384" y="23408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b="1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工項與檢查項目過多</a:t>
            </a:r>
            <a:r>
              <a:rPr lang="en-US" altLang="zh-TW" sz="1300" b="1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(</a:t>
            </a:r>
            <a:r>
              <a:rPr lang="en-US" altLang="zh-TW" sz="1300" b="1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LEAN –</a:t>
            </a:r>
            <a:r>
              <a:rPr lang="zh-TW" altLang="en-US" sz="1300" b="1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精實管理</a:t>
            </a:r>
            <a:r>
              <a:rPr lang="en-US" altLang="zh-TW" sz="1300" b="1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6384" y="25968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第一線負擔高，需依重要性分類、分級、簡化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2916936"/>
            <a:ext cx="4187952" cy="548640"/>
          </a:xfrm>
          <a:prstGeom prst="rect">
            <a:avLst/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026664"/>
            <a:ext cx="329184" cy="329184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365760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" y="2953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填寫責任需明確化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6384" y="32095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需定義填寫人、確認人與異常修正機制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3529584"/>
            <a:ext cx="4187952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365760" y="3639312"/>
            <a:ext cx="329184" cy="329184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36576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6384" y="35661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工時與完成率計算規則不一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6384" y="38221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需建立一致標準，否則數據失真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0016" y="749808"/>
            <a:ext cx="4187952" cy="310896"/>
          </a:xfrm>
          <a:prstGeom prst="rect">
            <a:avLst/>
          </a:prstGeom>
          <a:solidFill>
            <a:srgbClr val="5A3E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4700016" y="749808"/>
            <a:ext cx="128016" cy="310896"/>
          </a:xfrm>
          <a:prstGeom prst="rect">
            <a:avLst/>
          </a:prstGeom>
          <a:solidFill>
            <a:srgbClr val="A07FD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4901184" y="7498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管理層課題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700016" y="1078992"/>
            <a:ext cx="4187952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4809744" y="1353312"/>
            <a:ext cx="329184" cy="329184"/>
          </a:xfrm>
          <a:prstGeom prst="ellipse">
            <a:avLst/>
          </a:prstGeom>
          <a:solidFill>
            <a:srgbClr val="5A3E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4809744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30368" y="11887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3E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異常資料缺少提醒機制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30368" y="1536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系統應協助主管看見問題，而不只是列出資料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00016" y="2029968"/>
            <a:ext cx="4187952" cy="877824"/>
          </a:xfrm>
          <a:prstGeom prst="rect">
            <a:avLst/>
          </a:prstGeom>
          <a:solidFill>
            <a:srgbClr val="F3EEF9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4809744" y="2304288"/>
            <a:ext cx="329184" cy="329184"/>
          </a:xfrm>
          <a:prstGeom prst="ellipse">
            <a:avLst/>
          </a:prstGeom>
          <a:solidFill>
            <a:srgbClr val="5A3E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4809744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7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30368" y="21396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3E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作業流程尚需標準化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230368" y="24871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各模組應有一致的執行、回報、結案邏輯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00016" y="2980944"/>
            <a:ext cx="4187952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9"/>
          <p:cNvSpPr/>
          <p:nvPr/>
        </p:nvSpPr>
        <p:spPr>
          <a:xfrm>
            <a:off x="4809744" y="3255264"/>
            <a:ext cx="329184" cy="329184"/>
          </a:xfrm>
          <a:prstGeom prst="ellipse">
            <a:avLst/>
          </a:prstGeom>
          <a:solidFill>
            <a:srgbClr val="5A3E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4809744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8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230368" y="30906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3E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系統治理機制需建立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230368" y="34381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從開發系統，進一步走向資料治理與管理治理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56032" y="4224528"/>
            <a:ext cx="8631936" cy="621792"/>
          </a:xfrm>
          <a:prstGeom prst="rect">
            <a:avLst/>
          </a:prstGeom>
          <a:solidFill>
            <a:srgbClr val="0D25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4"/>
          <p:cNvSpPr/>
          <p:nvPr/>
        </p:nvSpPr>
        <p:spPr>
          <a:xfrm>
            <a:off x="256032" y="4224528"/>
            <a:ext cx="164592" cy="62179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5"/>
          <p:cNvSpPr/>
          <p:nvPr/>
        </p:nvSpPr>
        <p:spPr>
          <a:xfrm>
            <a:off x="530352" y="4224528"/>
            <a:ext cx="8302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系統建置完成只是第一步，真正的管理價值在於讓資料更正確、欄位更標準、流程更一致，並讓主管能夠快速看見問題與決策方向。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D2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7A97A-7BCC-9C48-2B5C-EB9EEAC69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A8919D-2DAE-2789-CD50-D6B041124AF4}"/>
              </a:ext>
            </a:extLst>
          </p:cNvPr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D87192-2758-E91C-46FA-965C27A099B1}"/>
              </a:ext>
            </a:extLst>
          </p:cNvPr>
          <p:cNvSpPr/>
          <p:nvPr/>
        </p:nvSpPr>
        <p:spPr>
          <a:xfrm>
            <a:off x="6858000" y="3657600"/>
            <a:ext cx="2286000" cy="1485900"/>
          </a:xfrm>
          <a:prstGeom prst="rect">
            <a:avLst/>
          </a:prstGeom>
          <a:solidFill>
            <a:srgbClr val="1F487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670DDA-5631-9A18-43F2-BFF028D28CA4}"/>
              </a:ext>
            </a:extLst>
          </p:cNvPr>
          <p:cNvSpPr/>
          <p:nvPr/>
        </p:nvSpPr>
        <p:spPr>
          <a:xfrm>
            <a:off x="640080" y="274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0" i="0" u="none" strike="noStrike" kern="1200" cap="none" spc="0" normalizeH="0" baseline="0" noProof="0" dirty="0">
                <a:ln>
                  <a:noFill/>
                </a:ln>
                <a:solidFill>
                  <a:srgbClr val="4BA8E8">
                    <a:alpha val="60000"/>
                  </a:srgbClr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kumimoji="0" lang="en-US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7450FC-0CF3-6E69-0A60-5A15EFA5837A}"/>
              </a:ext>
            </a:extLst>
          </p:cNvPr>
          <p:cNvSpPr/>
          <p:nvPr/>
        </p:nvSpPr>
        <p:spPr>
          <a:xfrm>
            <a:off x="777240" y="9601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華康明體 Std W9" panose="02020900000000000000" pitchFamily="18" charset="-120"/>
                <a:ea typeface="華康明體 Std W9" panose="02020900000000000000" pitchFamily="18" charset="-120"/>
                <a:cs typeface="Arial Black" pitchFamily="34" charset="-120"/>
              </a:rPr>
              <a:t>下一階段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42BFD16-46CF-7B81-1ACC-83A8B0567E3C}"/>
              </a:ext>
            </a:extLst>
          </p:cNvPr>
          <p:cNvSpPr/>
          <p:nvPr/>
        </p:nvSpPr>
        <p:spPr>
          <a:xfrm>
            <a:off x="777240" y="1609344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BA8E8"/>
                </a:solidFill>
                <a:effectLst/>
                <a:uLnTx/>
                <a:uFillTx/>
                <a:latin typeface="華康明體 Std W9" panose="02020900000000000000" pitchFamily="18" charset="-120"/>
                <a:ea typeface="華康明體 Std W9" panose="02020900000000000000" pitchFamily="18" charset="-120"/>
                <a:cs typeface="Arial Black" pitchFamily="34" charset="-120"/>
              </a:rPr>
              <a:t>資料的登打與輸入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華康明體 Std W9" panose="02020900000000000000" pitchFamily="18" charset="-120"/>
              <a:ea typeface="華康明體 Std W9" panose="02020900000000000000" pitchFamily="18" charset="-120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BCEDE47-4626-7FB0-30A9-0F4D4669A2D8}"/>
              </a:ext>
            </a:extLst>
          </p:cNvPr>
          <p:cNvSpPr/>
          <p:nvPr/>
        </p:nvSpPr>
        <p:spPr>
          <a:xfrm>
            <a:off x="777240" y="217627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華康明體 Std W9" panose="02020900000000000000" pitchFamily="18" charset="-120"/>
                <a:ea typeface="華康明體 Std W9" panose="02020900000000000000" pitchFamily="18" charset="-120"/>
                <a:cs typeface="Arial Black" pitchFamily="34" charset="-120"/>
              </a:rPr>
              <a:t>管理決策依據的平台。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華康明體 Std W9" panose="02020900000000000000" pitchFamily="18" charset="-120"/>
              <a:ea typeface="華康明體 Std W9" panose="02020900000000000000" pitchFamily="18" charset="-120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4FA2DEB-3856-3F0D-2DFF-42CBE79EE525}"/>
              </a:ext>
            </a:extLst>
          </p:cNvPr>
          <p:cNvSpPr/>
          <p:nvPr/>
        </p:nvSpPr>
        <p:spPr>
          <a:xfrm>
            <a:off x="777240" y="2926080"/>
            <a:ext cx="5029200" cy="4572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B6B09B-2EA1-3EC5-AE01-FE1C6958176C}"/>
              </a:ext>
            </a:extLst>
          </p:cNvPr>
          <p:cNvSpPr/>
          <p:nvPr/>
        </p:nvSpPr>
        <p:spPr>
          <a:xfrm>
            <a:off x="777240" y="30906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CC4F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系統已完成，現在就可以使用。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2D105C0-6A45-3117-F5B3-17388BC5E518}"/>
              </a:ext>
            </a:extLst>
          </p:cNvPr>
          <p:cNvSpPr/>
          <p:nvPr/>
        </p:nvSpPr>
        <p:spPr>
          <a:xfrm>
            <a:off x="777240" y="3474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歡迎提出希望新增的管理視角，我們將持續擴充。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7933CB2-E9D0-490D-D532-3AF02AB30BB1}"/>
              </a:ext>
            </a:extLst>
          </p:cNvPr>
          <p:cNvSpPr/>
          <p:nvPr/>
        </p:nvSpPr>
        <p:spPr>
          <a:xfrm>
            <a:off x="777240" y="44988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v1.57  ｜  10+ 模組  ｜  飯店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× 商場  ｜  Portal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8425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為什麼需要這套系統？——導入背景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2 / 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3840480" cy="3931920"/>
          </a:xfrm>
          <a:prstGeom prst="rect">
            <a:avLst/>
          </a:prstGeom>
          <a:solidFill>
            <a:srgbClr val="FFF5F5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3840480" cy="47548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47472" y="822960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⚠  導入前的管理痛點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1480" y="14173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資料分散在 Ragic、Excel、人工彙整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" y="20116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管理者難以即時掌握整體狀況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2606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跨部門、跨場域缺乏統一視角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" y="32004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月報前需大量人工整理與加總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37947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主管詢問時無法即時提供數字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0" y="822960"/>
            <a:ext cx="3840480" cy="3931920"/>
          </a:xfrm>
          <a:prstGeom prst="rect">
            <a:avLst/>
          </a:prstGeom>
          <a:solidFill>
            <a:srgbClr val="F0FFF4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029200" y="822960"/>
            <a:ext cx="3840480" cy="47548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102352" y="822960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✅  導入後的管理樣貌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20640" y="14173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所有資料即時整合至 Portal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20640" y="20116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主管隨時開瀏覽器即可查看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20640" y="2606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飯店 × 商場統一管理視角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20640" y="32004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數字自動計算，月報一鍵呈現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20640" y="37947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異常主動警示，不再靠感覺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60520" y="2468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4BA8E8"/>
                </a:solidFill>
              </a:rPr>
              <a:t>➜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系統架構——資料從哪裡來、主管在哪裡看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4 / 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5120640" cy="1133856"/>
          </a:xfrm>
          <a:prstGeom prst="rect">
            <a:avLst/>
          </a:prstGeom>
          <a:solidFill>
            <a:srgbClr val="28609B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0080" y="3547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資料來源層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950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作業表單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354787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員工每天在 Ragic 執行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工務報修、保養、巡檢作業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資料在此產生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5120640" cy="1133856"/>
          </a:xfrm>
          <a:prstGeom prst="rect">
            <a:avLst/>
          </a:prstGeom>
          <a:solidFill>
            <a:srgbClr val="1F4872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2219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整合計算層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26243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同步引擎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222199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30 分鐘自動同步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跨模組資料整合計算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完成率、工時、異常自動算好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795528"/>
            <a:ext cx="5120640" cy="1133856"/>
          </a:xfrm>
          <a:prstGeom prst="rect">
            <a:avLst/>
          </a:prstGeom>
          <a:solidFill>
            <a:srgbClr val="4BA8E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40080" y="868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決策呈現層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12710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管理視角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926080" y="8686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卡片、比較表、異常警示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主管直接看結果，不碰原始資料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即時、直觀、可操作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68880" y="2743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C4F0"/>
                </a:solidFill>
              </a:rPr>
              <a:t>▲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468880" y="1417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CC4F0"/>
                </a:solidFill>
              </a:rPr>
              <a:t>▲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0" y="795528"/>
            <a:ext cx="2468880" cy="3813048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6400800" y="795528"/>
            <a:ext cx="2468880" cy="438912"/>
          </a:xfrm>
          <a:prstGeom prst="rect">
            <a:avLst/>
          </a:prstGeom>
          <a:solidFill>
            <a:srgbClr val="5A3E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473952" y="795528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■  權限分層管理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73952" y="1335024"/>
            <a:ext cx="2322576" cy="548640"/>
          </a:xfrm>
          <a:prstGeom prst="rect">
            <a:avLst/>
          </a:prstGeom>
          <a:solidFill>
            <a:srgbClr val="1F48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510528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董事長 / 總經理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10528" y="160934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集團全覽 + 決策駕駛艙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73952" y="1956816"/>
            <a:ext cx="2322576" cy="5486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6510528" y="1984248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飯店主管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10528" y="223113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飯店 Dashboard + 所有飯店模組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73952" y="2578608"/>
            <a:ext cx="2322576" cy="548640"/>
          </a:xfrm>
          <a:prstGeom prst="rect">
            <a:avLst/>
          </a:prstGeom>
          <a:solidFill>
            <a:srgbClr val="1F48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6510528" y="260604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商場主管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10528" y="285292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商場 Dashboard + 商場模組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73952" y="3200400"/>
            <a:ext cx="2322576" cy="5486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6510528" y="322783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部門主管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10528" y="3474720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對應職能模組瀏覽與操作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73952" y="3822192"/>
            <a:ext cx="2322576" cy="548640"/>
          </a:xfrm>
          <a:prstGeom prst="rect">
            <a:avLst/>
          </a:prstGeom>
          <a:solidFill>
            <a:srgbClr val="1F48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6510528" y="384962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作業人員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10528" y="4096512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端執行，不進 Portal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Dashboard 強大之處——主管想看的全在這裡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6 / 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795528"/>
            <a:ext cx="2011680" cy="1417320"/>
          </a:xfrm>
          <a:prstGeom prst="rect">
            <a:avLst/>
          </a:prstGeom>
          <a:solidFill>
            <a:srgbClr val="1B3A5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47472" y="850392"/>
            <a:ext cx="1865376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8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29184" y="1617574"/>
            <a:ext cx="190195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卡片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即時更新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04872" y="795528"/>
            <a:ext cx="2011680" cy="1417320"/>
          </a:xfrm>
          <a:prstGeom prst="rect">
            <a:avLst/>
          </a:prstGeom>
          <a:solidFill>
            <a:srgbClr val="4BA8E8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478024" y="850392"/>
            <a:ext cx="1865376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6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2459736" y="1617574"/>
            <a:ext cx="190195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飯店 vs 商場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6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比較維度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35424" y="795528"/>
            <a:ext cx="2011680" cy="1417320"/>
          </a:xfrm>
          <a:prstGeom prst="rect">
            <a:avLst/>
          </a:prstGeom>
          <a:solidFill>
            <a:srgbClr val="1F487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608576" y="850392"/>
            <a:ext cx="1865376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3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590288" y="1617574"/>
            <a:ext cx="190195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年度並排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趨勢比較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65976" y="795528"/>
            <a:ext cx="2011680" cy="1417320"/>
          </a:xfrm>
          <a:prstGeom prst="rect">
            <a:avLst/>
          </a:prstGeom>
          <a:solidFill>
            <a:srgbClr val="27AE6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739128" y="850392"/>
            <a:ext cx="1865376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30m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720840" y="1617574"/>
            <a:ext cx="1901952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自動同步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CFF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頻率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2423160"/>
            <a:ext cx="2834640" cy="23225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274320" y="2423160"/>
            <a:ext cx="2834640" cy="47548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384048" y="242316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📅  任意月份篩選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1480" y="2962656"/>
            <a:ext cx="2560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年份＋月份任意切換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歷史資料隨時回顧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不受限於當月視角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55264" y="2423160"/>
            <a:ext cx="2834640" cy="23225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255264" y="2423160"/>
            <a:ext cx="2834640" cy="475488"/>
          </a:xfrm>
          <a:prstGeom prst="rect">
            <a:avLst/>
          </a:prstGeom>
          <a:solidFill>
            <a:srgbClr val="28609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3364992" y="242316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📈  每日 × 每月累計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92424" y="2962656"/>
            <a:ext cx="2560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每日案件走勢一目了然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每月累計自動統計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三年同期並排比較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36208" y="2423160"/>
            <a:ext cx="2834640" cy="232257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236208" y="2423160"/>
            <a:ext cx="2834640" cy="475488"/>
          </a:xfrm>
          <a:prstGeom prst="rect">
            <a:avLst/>
          </a:prstGeom>
          <a:solidFill>
            <a:srgbClr val="5A3E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345936" y="2423160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👥  人員效率分析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73368" y="2962656"/>
            <a:ext cx="2560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工時 / 案件數 / 均工時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負荷過重自動標紅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跨場域人員一覽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主管最在意的 7 個問題——系統直接回答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8 / 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841248"/>
            <a:ext cx="8595360" cy="5212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74320" y="841248"/>
            <a:ext cx="347472" cy="5212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74320" y="841248"/>
            <a:ext cx="347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" y="8778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這個月總案件多少？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87782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A8E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56048" y="877824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集團 KPI 卡「總案件數」即時顯示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1417320"/>
            <a:ext cx="8595360" cy="521208"/>
          </a:xfrm>
          <a:prstGeom prst="rect">
            <a:avLst/>
          </a:prstGeom>
          <a:solidFill>
            <a:srgbClr val="EEF4FB"/>
          </a:solidFill>
          <a:ln/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274320" y="1417320"/>
            <a:ext cx="347472" cy="5212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274320" y="1417320"/>
            <a:ext cx="347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" y="145389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哪個場域工作量最大？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145389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A8E8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56048" y="1453896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飯店 vs 商場比較表 + 案件占比卡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74320" y="1993392"/>
            <a:ext cx="8595360" cy="5212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274320" y="1993392"/>
            <a:ext cx="347472" cy="5212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274320" y="1993392"/>
            <a:ext cx="347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4944" y="20299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哪些工項最多？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0" y="202996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A8E8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56048" y="2029968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工項類別 × 單位矩陣，占比自動標紅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74320" y="2569464"/>
            <a:ext cx="8595360" cy="521208"/>
          </a:xfrm>
          <a:prstGeom prst="rect">
            <a:avLst/>
          </a:prstGeom>
          <a:solidFill>
            <a:srgbClr val="EEF4FB"/>
          </a:solidFill>
          <a:ln/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274320" y="2569464"/>
            <a:ext cx="347472" cy="5212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274320" y="2569464"/>
            <a:ext cx="347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4944" y="26060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哪些人員負荷較重？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2000" y="26060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A8E8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956048" y="2606040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人員效率分析表，≥3h/件自動標紅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274320" y="3145536"/>
            <a:ext cx="8595360" cy="5212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274320" y="3145536"/>
            <a:ext cx="347472" cy="5212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274320" y="3145536"/>
            <a:ext cx="347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4944" y="31821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完成率如何？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72000" y="318211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A8E8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956048" y="3182112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卡即時顯示；低於 80% 系統警示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274320" y="3721608"/>
            <a:ext cx="8595360" cy="521208"/>
          </a:xfrm>
          <a:prstGeom prst="rect">
            <a:avLst/>
          </a:prstGeom>
          <a:solidFill>
            <a:srgbClr val="EEF4FB"/>
          </a:solidFill>
          <a:ln/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274320" y="3721608"/>
            <a:ext cx="347472" cy="5212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274320" y="3721608"/>
            <a:ext cx="347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4944" y="375818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工時是否合理？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572000" y="375818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A8E8"/>
                </a:solidFill>
              </a:rPr>
              <a:t>→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956048" y="3758184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每日/每月累計工時表 + 人員排名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274320" y="4297680"/>
            <a:ext cx="8595360" cy="5212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274320" y="4297680"/>
            <a:ext cx="347472" cy="52120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274320" y="4297680"/>
            <a:ext cx="3474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Q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4944" y="43342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飯店與商場差異在哪？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72000" y="4334256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BA8E8"/>
                </a:solidFill>
              </a:rPr>
              <a:t>→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4956048" y="4334256"/>
            <a:ext cx="3822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維度並排比較表，一張表說清楚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導入效益——六個管理維度同步提升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9 / 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804672"/>
            <a:ext cx="2679192" cy="181051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74320" y="804672"/>
            <a:ext cx="109728" cy="181051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5488" y="987552"/>
            <a:ext cx="566928" cy="566928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75488" y="987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&gt;&gt;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" y="1609344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4BA8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管理即時化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5488" y="199339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隨時開瀏覽器即看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不再等月報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72384" y="804672"/>
            <a:ext cx="2679192" cy="181051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072384" y="804672"/>
            <a:ext cx="109728" cy="181051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273552" y="987552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273552" y="987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552" y="1609344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數據透明化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273552" y="199339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各場域、各人員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狀態完全可見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70448" y="804672"/>
            <a:ext cx="2679192" cy="181051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5870448" y="804672"/>
            <a:ext cx="109728" cy="1810512"/>
          </a:xfrm>
          <a:prstGeom prst="rect">
            <a:avLst/>
          </a:prstGeom>
          <a:solidFill>
            <a:srgbClr val="28609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6071616" y="987552"/>
            <a:ext cx="566928" cy="566928"/>
          </a:xfrm>
          <a:prstGeom prst="ellipse">
            <a:avLst/>
          </a:prstGeom>
          <a:solidFill>
            <a:srgbClr val="28609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071616" y="987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=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71616" y="1609344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8609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工作標準化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071616" y="199339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統一報告格式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決策基準一致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2779776"/>
            <a:ext cx="2679192" cy="181051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274320" y="2779776"/>
            <a:ext cx="109728" cy="181051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475488" y="2962656"/>
            <a:ext cx="566928" cy="56692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475488" y="2962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★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5488" y="3584448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7AE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減少人工彙整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75488" y="3968496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30 分鐘自動更新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節省大量整理時間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072384" y="2779776"/>
            <a:ext cx="2679192" cy="181051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3072384" y="2779776"/>
            <a:ext cx="109728" cy="181051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3273552" y="2962656"/>
            <a:ext cx="566928" cy="56692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3273552" y="2962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◆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273552" y="3584448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67E2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強化跨部門管理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3273552" y="3968496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飯店與商場並排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一張表完成比較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70448" y="2779776"/>
            <a:ext cx="2679192" cy="181051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5870448" y="2779776"/>
            <a:ext cx="109728" cy="1810512"/>
          </a:xfrm>
          <a:prstGeom prst="rect">
            <a:avLst/>
          </a:prstGeom>
          <a:solidFill>
            <a:srgbClr val="5A3E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6071616" y="2962656"/>
            <a:ext cx="566928" cy="566928"/>
          </a:xfrm>
          <a:prstGeom prst="ellipse">
            <a:avLst/>
          </a:prstGeom>
          <a:solidFill>
            <a:srgbClr val="5A3E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6071616" y="2962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▶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071616" y="3584448"/>
            <a:ext cx="2386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5A3E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支援例會與稽核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6071616" y="3968496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月報、稽核、臨時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詢問即時回應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未來擴充規劃——持續進化的管理平台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Ragic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10 / 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系統架構已就緒，擴充只需接入新資料來源，不需重建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6032" y="1261872"/>
            <a:ext cx="2834640" cy="475488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65760" y="126187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近期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6032" y="1828800"/>
            <a:ext cx="283464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84048" y="1938528"/>
            <a:ext cx="512064" cy="512064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84048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&gt;&gt;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93852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BA8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決策駕駛艙完整版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2578608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 框架逐步填充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概覽/飯店/商場/人員/風險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" y="3401568"/>
            <a:ext cx="283464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84048" y="3511296"/>
            <a:ext cx="512064" cy="512064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84048" y="3511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511296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BA8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月報一鍵匯出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4151376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直接從系統匯出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月報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55264" y="1261872"/>
            <a:ext cx="2834640" cy="47548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3364992" y="126187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中期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255264" y="1828800"/>
            <a:ext cx="283464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3383280" y="1938528"/>
            <a:ext cx="512064" cy="512064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38328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AI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05072" y="193852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AI 摘要與異常提醒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64992" y="2578608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自動生成管理文字摘要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供主管快速閱讀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55264" y="3401568"/>
            <a:ext cx="283464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3383280" y="3511296"/>
            <a:ext cx="512064" cy="512064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3383280" y="3511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05072" y="3511296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更多 Ragic 模組整合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364992" y="4151376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預算管控、供應商管理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工程外包等持續接入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54496" y="1261872"/>
            <a:ext cx="2834640" cy="475488"/>
          </a:xfrm>
          <a:prstGeom prst="rect">
            <a:avLst/>
          </a:prstGeom>
          <a:solidFill>
            <a:srgbClr val="5A3E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6364224" y="126187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長期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254496" y="1828800"/>
            <a:ext cx="283464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6382512" y="1938528"/>
            <a:ext cx="512064" cy="512064"/>
          </a:xfrm>
          <a:prstGeom prst="ellipse">
            <a:avLst/>
          </a:prstGeom>
          <a:solidFill>
            <a:srgbClr val="5A3E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6382512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◎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04304" y="1938528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A3E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預警與趨勢分析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364224" y="2578608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工時成長趨勢預測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案件異常高峰提前示警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54496" y="3401568"/>
            <a:ext cx="283464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6382512" y="3511296"/>
            <a:ext cx="512064" cy="512064"/>
          </a:xfrm>
          <a:prstGeom prst="ellipse">
            <a:avLst/>
          </a:prstGeom>
          <a:solidFill>
            <a:srgbClr val="5A3E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6382512" y="3511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★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004304" y="3511296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A3E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工時合理性分析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364224" y="4151376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跨月/跨年效率基準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人力配置優化建議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781</Words>
  <Application>Microsoft Office PowerPoint</Application>
  <PresentationFormat>如螢幕大小 (16:9)</PresentationFormat>
  <Paragraphs>309</Paragraphs>
  <Slides>13</Slides>
  <Notes>13</Notes>
  <HiddenSlides>7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華康明體 Std W9</vt:lpstr>
      <vt:lpstr>微軟正黑體</vt:lpstr>
      <vt:lpstr>Aptos</vt:lpstr>
      <vt:lpstr>Arial</vt:lpstr>
      <vt:lpstr>Calibri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Ragic Portal 管理決策平台</dc:title>
  <dc:subject>高階主管簡報</dc:subject>
  <dc:creator>Ragic Portal</dc:creator>
  <cp:lastModifiedBy>Samuel Huang</cp:lastModifiedBy>
  <cp:revision>2</cp:revision>
  <dcterms:created xsi:type="dcterms:W3CDTF">2026-05-07T23:17:35Z</dcterms:created>
  <dcterms:modified xsi:type="dcterms:W3CDTF">2026-05-12T03:38:11Z</dcterms:modified>
</cp:coreProperties>
</file>