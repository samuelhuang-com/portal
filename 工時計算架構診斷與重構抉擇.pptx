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0" r:id="rId2"/>
    <p:sldId id="256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349A3-6940-44CE-9463-7E6330E858F5}" v="10" dt="2026-06-10T07:16:12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7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addSld modSld">
      <pc:chgData name="Samuel Huang" userId="3d14d3036a2a384b" providerId="LiveId" clId="{59E6B3E9-767B-4360-86A1-1FE5E3B4620C}" dt="2026-06-10T07:16:12.590" v="77"/>
      <pc:docMkLst>
        <pc:docMk/>
      </pc:docMkLst>
      <pc:sldChg chg="modSp mod">
        <pc:chgData name="Samuel Huang" userId="3d14d3036a2a384b" providerId="LiveId" clId="{59E6B3E9-767B-4360-86A1-1FE5E3B4620C}" dt="2026-06-10T06:09:26.327" v="43"/>
        <pc:sldMkLst>
          <pc:docMk/>
          <pc:sldMk cId="0" sldId="256"/>
        </pc:sldMkLst>
        <pc:spChg chg="mod">
          <ac:chgData name="Samuel Huang" userId="3d14d3036a2a384b" providerId="LiveId" clId="{59E6B3E9-767B-4360-86A1-1FE5E3B4620C}" dt="2026-06-10T06:09:26.327" v="43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6-09T03:29:48.130" v="16"/>
        <pc:sldMkLst>
          <pc:docMk/>
          <pc:sldMk cId="0" sldId="258"/>
        </pc:sldMkLst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muel Huang" userId="3d14d3036a2a384b" providerId="LiveId" clId="{59E6B3E9-767B-4360-86A1-1FE5E3B4620C}" dt="2026-06-09T03:29:14.200" v="15" actId="6549"/>
          <ac:spMkLst>
            <pc:docMk/>
            <pc:sldMk cId="0" sldId="258"/>
            <ac:spMk id="18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6-09T03:29:48.130" v="16"/>
        <pc:sldMkLst>
          <pc:docMk/>
          <pc:sldMk cId="0" sldId="259"/>
        </pc:sldMkLst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6-09T03:33:18.720" v="28" actId="6549"/>
        <pc:sldMkLst>
          <pc:docMk/>
          <pc:sldMk cId="0" sldId="261"/>
        </pc:sldMkLst>
        <pc:spChg chg="mod">
          <ac:chgData name="Samuel Huang" userId="3d14d3036a2a384b" providerId="LiveId" clId="{59E6B3E9-767B-4360-86A1-1FE5E3B4620C}" dt="2026-06-09T03:32:50.253" v="2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amuel Huang" userId="3d14d3036a2a384b" providerId="LiveId" clId="{59E6B3E9-767B-4360-86A1-1FE5E3B4620C}" dt="2026-06-09T03:33:18.720" v="28" actId="6549"/>
          <ac:spMkLst>
            <pc:docMk/>
            <pc:sldMk cId="0" sldId="261"/>
            <ac:spMk id="27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6-09T03:35:45.717" v="29"/>
        <pc:sldMkLst>
          <pc:docMk/>
          <pc:sldMk cId="0" sldId="263"/>
        </pc:sldMkLst>
        <pc:spChg chg="mod">
          <ac:chgData name="Samuel Huang" userId="3d14d3036a2a384b" providerId="LiveId" clId="{59E6B3E9-767B-4360-86A1-1FE5E3B4620C}" dt="2026-06-09T03:35:45.717" v="29"/>
          <ac:spMkLst>
            <pc:docMk/>
            <pc:sldMk cId="0" sldId="263"/>
            <ac:spMk id="33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6-09T03:29:48.130" v="16"/>
        <pc:sldMkLst>
          <pc:docMk/>
          <pc:sldMk cId="0" sldId="264"/>
        </pc:sldMkLst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6-09T03:37:06.072" v="32" actId="122"/>
        <pc:sldMkLst>
          <pc:docMk/>
          <pc:sldMk cId="0" sldId="265"/>
        </pc:sldMkLst>
        <pc:graphicFrameChg chg="modGraphic">
          <ac:chgData name="Samuel Huang" userId="3d14d3036a2a384b" providerId="LiveId" clId="{59E6B3E9-767B-4360-86A1-1FE5E3B4620C}" dt="2026-06-09T03:37:06.072" v="32" actId="122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">
        <pc:chgData name="Samuel Huang" userId="3d14d3036a2a384b" providerId="LiveId" clId="{59E6B3E9-767B-4360-86A1-1FE5E3B4620C}" dt="2026-06-09T03:29:48.130" v="16"/>
        <pc:sldMkLst>
          <pc:docMk/>
          <pc:sldMk cId="0" sldId="267"/>
        </pc:sldMkLst>
        <pc:spChg chg="mod">
          <ac:chgData name="Samuel Huang" userId="3d14d3036a2a384b" providerId="LiveId" clId="{59E6B3E9-767B-4360-86A1-1FE5E3B4620C}" dt="2026-06-09T03:29:48.130" v="16"/>
          <ac:spMkLst>
            <pc:docMk/>
            <pc:sldMk cId="0" sldId="267"/>
            <ac:spMk id="15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6-09T03:33:07.758" v="27"/>
        <pc:sldMkLst>
          <pc:docMk/>
          <pc:sldMk cId="0" sldId="268"/>
        </pc:sldMkLst>
        <pc:spChg chg="mod">
          <ac:chgData name="Samuel Huang" userId="3d14d3036a2a384b" providerId="LiveId" clId="{59E6B3E9-767B-4360-86A1-1FE5E3B4620C}" dt="2026-06-09T03:33:07.758" v="27"/>
          <ac:spMkLst>
            <pc:docMk/>
            <pc:sldMk cId="0" sldId="268"/>
            <ac:spMk id="19" creationId="{00000000-0000-0000-0000-000000000000}"/>
          </ac:spMkLst>
        </pc:spChg>
      </pc:sldChg>
      <pc:sldChg chg="addSp modSp new mod">
        <pc:chgData name="Samuel Huang" userId="3d14d3036a2a384b" providerId="LiveId" clId="{59E6B3E9-767B-4360-86A1-1FE5E3B4620C}" dt="2026-06-09T03:28:48.468" v="14" actId="1076"/>
        <pc:sldMkLst>
          <pc:docMk/>
          <pc:sldMk cId="2982067890" sldId="269"/>
        </pc:sldMkLst>
        <pc:picChg chg="add mod">
          <ac:chgData name="Samuel Huang" userId="3d14d3036a2a384b" providerId="LiveId" clId="{59E6B3E9-767B-4360-86A1-1FE5E3B4620C}" dt="2026-06-09T03:28:20.701" v="11" actId="1076"/>
          <ac:picMkLst>
            <pc:docMk/>
            <pc:sldMk cId="2982067890" sldId="269"/>
            <ac:picMk id="3" creationId="{8E825CFE-7507-954F-62BD-FA058FB20CC4}"/>
          </ac:picMkLst>
        </pc:picChg>
        <pc:picChg chg="add mod">
          <ac:chgData name="Samuel Huang" userId="3d14d3036a2a384b" providerId="LiveId" clId="{59E6B3E9-767B-4360-86A1-1FE5E3B4620C}" dt="2026-06-09T03:28:48.468" v="14" actId="1076"/>
          <ac:picMkLst>
            <pc:docMk/>
            <pc:sldMk cId="2982067890" sldId="269"/>
            <ac:picMk id="5" creationId="{50A52C27-B188-ACC0-D1D3-FC600A525BCF}"/>
          </ac:picMkLst>
        </pc:picChg>
      </pc:sldChg>
      <pc:sldChg chg="addSp delSp modSp new mod">
        <pc:chgData name="Samuel Huang" userId="3d14d3036a2a384b" providerId="LiveId" clId="{59E6B3E9-767B-4360-86A1-1FE5E3B4620C}" dt="2026-06-10T07:16:12.590" v="77"/>
        <pc:sldMkLst>
          <pc:docMk/>
          <pc:sldMk cId="1865449450" sldId="270"/>
        </pc:sldMkLst>
        <pc:spChg chg="add del mod">
          <ac:chgData name="Samuel Huang" userId="3d14d3036a2a384b" providerId="LiveId" clId="{59E6B3E9-767B-4360-86A1-1FE5E3B4620C}" dt="2026-06-10T07:02:30.104" v="47"/>
          <ac:spMkLst>
            <pc:docMk/>
            <pc:sldMk cId="1865449450" sldId="270"/>
            <ac:spMk id="2" creationId="{CA68F6EC-5DDD-5C67-892F-BA53EB4E08CA}"/>
          </ac:spMkLst>
        </pc:spChg>
        <pc:spChg chg="add mod">
          <ac:chgData name="Samuel Huang" userId="3d14d3036a2a384b" providerId="LiveId" clId="{59E6B3E9-767B-4360-86A1-1FE5E3B4620C}" dt="2026-06-10T07:16:12.590" v="77"/>
          <ac:spMkLst>
            <pc:docMk/>
            <pc:sldMk cId="1865449450" sldId="270"/>
            <ac:spMk id="4" creationId="{97ACE673-65B9-6A40-2D24-94FF3F3937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57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ACE673-65B9-6A40-2D24-94FF3F393759}"/>
              </a:ext>
            </a:extLst>
          </p:cNvPr>
          <p:cNvSpPr txBox="1"/>
          <p:nvPr/>
        </p:nvSpPr>
        <p:spPr>
          <a:xfrm>
            <a:off x="2316480" y="18485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排班系統--&gt;例行性維護表key 入,行事曆show出--&gt;日誌如何產出excel.對應班表--&gt;數據簡報如何產出</a:t>
            </a:r>
          </a:p>
        </p:txBody>
      </p:sp>
    </p:spTree>
    <p:extLst>
      <p:ext uri="{BB962C8B-B14F-4D97-AF65-F5344CB8AC3E}">
        <p14:creationId xmlns:p14="http://schemas.microsoft.com/office/powerpoint/2010/main" val="186544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技術診斷與策略評估　·　PORTAL 專案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一個欄位錯誤</a:t>
            </a:r>
            <a:r>
              <a:rPr lang="en-US" sz="4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，揭示的系統架構</a:t>
            </a:r>
            <a:r>
              <a:rPr lang="zh-TW" altLang="en-US" sz="4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主／子表單邏輯衝突　×　從「一案一人」到「多人協作」的重構抉擇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4343400"/>
            <a:ext cx="2926080" cy="0"/>
          </a:xfrm>
          <a:prstGeom prst="line">
            <a:avLst/>
          </a:prstGeom>
          <a:noFill/>
          <a:ln w="1905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彙整自 2026-06-09 工時計算問題討論會議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4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目的：請決策層就架構變更方向拍板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症狀  SYMPTOM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起點：一筆「消失」的工時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FDF2F2"/>
          </a:solidFill>
          <a:ln w="12700">
            <a:solidFill>
              <a:srgbClr val="F5C6C6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案例：工程維修單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2.13h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吳友仁未被計入工作日誌的工時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40280" y="4572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66344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120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統計邏輯抓取失敗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828800"/>
            <a:ext cx="68122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5029200" y="20848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17627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0299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如何發現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623560" y="239572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下載「吳友仁」的工作日誌，比對使用者手寫紙本後，發現工程維修單的工時完全沒有帶入。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00600" y="3246120"/>
            <a:ext cx="68122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5029200" y="35021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59359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23560" y="34472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其他模組正常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623560" y="381304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臨時／主管交辦單的工時都有正確進入日誌——因為它們結構單純，人員與工時同在一張表。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800600" y="4663440"/>
            <a:ext cx="68122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7"/>
          <p:cNvSpPr/>
          <p:nvPr/>
        </p:nvSpPr>
        <p:spPr>
          <a:xfrm>
            <a:off x="5029200" y="49194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5010912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48646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問題範圍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623560" y="523036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只要是「人員在主表、工時在子表」的單據都會中招，並非單一筆資料的疏漏。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E825CFE-7507-954F-62BD-FA058FB20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10" y="153000"/>
            <a:ext cx="5619915" cy="655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0A52C27-B188-ACC0-D1D3-FC600A525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613" y="4510238"/>
            <a:ext cx="7802064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67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根本原因  ROOT CAUSE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主／子表單的邏輯斷裂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9728" cy="22402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主表單 (Master)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</a:t>
            </a:r>
            <a:r>
              <a:rPr lang="en-US" sz="130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「處理</a:t>
            </a:r>
            <a:r>
              <a:rPr lang="zh-TW" altLang="en-US" sz="130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30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人員（單選）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完工時間、待修天數、待辦頁狀態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用於結案與件數判斷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783080"/>
            <a:ext cx="502920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583680" y="1783080"/>
            <a:ext cx="109728" cy="224028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9037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子表單 (Detail)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4688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記錄實際「開始／結束時間」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系統自動計算維護工時（項次 1234…）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工時真正發生的地方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2606040"/>
            <a:ext cx="777240" cy="594360"/>
          </a:xfrm>
          <a:prstGeom prst="ellipse">
            <a:avLst/>
          </a:prstGeom>
          <a:solidFill>
            <a:srgbClr val="FDF2F2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715000" y="26060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783080"/>
          </a:xfrm>
          <a:prstGeom prst="roundRect">
            <a:avLst>
              <a:gd name="adj" fmla="val 3590"/>
            </a:avLst>
          </a:prstGeom>
          <a:solidFill>
            <a:srgbClr val="1B3A5C"/>
          </a:solidFill>
          <a:ln/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68680" y="4617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709160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17320" y="49834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現行工時統計程式只抓「主表單的人員」，工時數據卻在「子表單</a:t>
            </a:r>
            <a:r>
              <a:rPr lang="en-US" sz="150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」，兩者無欄位可對應—</a:t>
            </a: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子表單的工時無法歸屬給人員，於是被靜默丟棄。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新需求  NEW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更棘手的是：使用者拋出了新需求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舊有假設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一案一人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一個維修案子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，由一名</a:t>
            </a:r>
            <a:r>
              <a:rPr lang="zh-TW" alt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人員負責</a:t>
            </a: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，人員記在主表單即可。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4F9FE"/>
          </a:solidFill>
          <a:ln w="15240">
            <a:solidFill>
              <a:srgbClr val="4BA8E8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9224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新現實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多人協作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同一間房間可能 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2–3 名</a:t>
            </a:r>
            <a:r>
              <a:rPr lang="zh-TW" alt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同時施工</a:t>
            </a: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，每人工時都須獨立記錄。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70448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此需求的直接衝擊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04672" y="4572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663440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4672" y="5074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主表</a:t>
            </a:r>
            <a:r>
              <a:rPr lang="en-US" sz="1350" b="1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「處理</a:t>
            </a:r>
            <a:r>
              <a:rPr lang="zh-TW" altLang="en-US" sz="1350" b="1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350" b="1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失準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4672" y="5596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僅能單選，三人協作只記得到一人，另兩人工時憑空消失。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251960" y="434340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4507992" y="4572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466344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07992" y="5074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人員須移至子表並改多選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507992" y="5596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每個項次各記由誰執行，才能對上實際施工狀況。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955280" y="434340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1"/>
          <p:cNvSpPr/>
          <p:nvPr/>
        </p:nvSpPr>
        <p:spPr>
          <a:xfrm>
            <a:off x="8211312" y="4572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663440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11312" y="5074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工時邏輯被迫重寫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211312" y="5596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從「抓主表」改為「遍歷子表、按人分別匯總」。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  KEY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三個指標，活在不同層級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這是整份簡報最重要的一張：別把它們混為一談。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146304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688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686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Detail 子表單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86968" y="3977640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86868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由開始／結束時間計算，按人匯總。應以子表單為唯一來源。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51960" y="19659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4251960" y="1965960"/>
            <a:ext cx="3566160" cy="146304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2"/>
          <p:cNvSpPr/>
          <p:nvPr/>
        </p:nvSpPr>
        <p:spPr>
          <a:xfrm>
            <a:off x="4572000" y="237744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68880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件數 / 結案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457200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Master 主表單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90288" y="3977640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完工時間、待修天數、結案日期都綁在主表，是案件層級的概念。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955280" y="1965960"/>
            <a:ext cx="3566160" cy="397764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8"/>
          <p:cNvSpPr/>
          <p:nvPr/>
        </p:nvSpPr>
        <p:spPr>
          <a:xfrm>
            <a:off x="7955280" y="1965960"/>
            <a:ext cx="3566160" cy="146304"/>
          </a:xfrm>
          <a:prstGeom prst="rect">
            <a:avLst/>
          </a:prstGeom>
          <a:solidFill>
            <a:srgbClr val="C77D1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19"/>
          <p:cNvSpPr/>
          <p:nvPr/>
        </p:nvSpPr>
        <p:spPr>
          <a:xfrm>
            <a:off x="8275320" y="237744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77D1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46888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7532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77D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待辦頁狀態</a:t>
            </a:r>
            <a:endParaRPr lang="en-US" sz="2300" dirty="0"/>
          </a:p>
        </p:txBody>
      </p:sp>
      <p:sp>
        <p:nvSpPr>
          <p:cNvPr id="26" name="Text 21"/>
          <p:cNvSpPr/>
          <p:nvPr/>
        </p:nvSpPr>
        <p:spPr>
          <a:xfrm>
            <a:off x="82753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Master 主表單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293608" y="3977640"/>
            <a:ext cx="2834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3"/>
          <p:cNvSpPr/>
          <p:nvPr/>
        </p:nvSpPr>
        <p:spPr>
          <a:xfrm>
            <a:off x="827532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子表單沒有待辦／結案狀態欄位，硬搬到子表會直接失效。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衝突盤點  CONFLICTS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與現有系統設計的四項牴觸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120640" y="2075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671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「一案一人」是隱含的資料模型前提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86207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改人員位置等於推翻同步模組「以什麼為單位 loop」的核心，不是改一個欄位而已。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644652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744200" y="20756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21671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全搬到子表會撞上結案邏輯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6520" y="286207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子表沒有待辦／結案欄位。待辦頁與結案統計都綁在主表，無法整個下移。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8229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5120640" y="42702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436168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251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件數定義會動到受保護的 Dashboard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" y="50566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卡片與工作狀態色彩屬受保護元素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，件數語意一改就需</a:t>
            </a:r>
            <a:r>
              <a:rPr lang="zh-TW" alt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</a:t>
            </a: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9776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8"/>
          <p:cNvSpPr/>
          <p:nvPr/>
        </p:nvSpPr>
        <p:spPr>
          <a:xfrm>
            <a:off x="644652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10744200" y="42702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5640" y="436168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0" y="4251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這是跨模組的模式問題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46520" y="50566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en-US" sz="125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如法炮製」—</a:t>
            </a:r>
            <a:r>
              <a:rPr lang="en-US" sz="125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所有人員在主表的 Master/Detail 模組都有同樣斷裂，影響面要先盤點。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 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可能發生的問題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22960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305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重複計算工時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主表人員保留＋子表又加人員，兩邊都抓會 double。工時須定義唯一來源＝子表。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4251960" y="178308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4526280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3055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歷史資料無法回溯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2628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舊單人員只在主表。改抓子表後舊資料對不到人，須決定回填或設切換日。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795528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7955280" y="178308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4"/>
          <p:cNvSpPr/>
          <p:nvPr/>
        </p:nvSpPr>
        <p:spPr>
          <a:xfrm>
            <a:off x="8229600" y="2039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130552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7824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Ragic 端可能算不動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22960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按人匯總子表 Ragic 公式恐做不到，複雜度全轉嫁 Portal，同步時間與列數放大。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18"/>
          <p:cNvSpPr/>
          <p:nvPr/>
        </p:nvSpPr>
        <p:spPr>
          <a:xfrm>
            <a:off x="548640" y="393192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19"/>
          <p:cNvSpPr/>
          <p:nvPr/>
        </p:nvSpPr>
        <p:spPr>
          <a:xfrm>
            <a:off x="822960" y="41879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7939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41696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工時加倍 vs 耗時加倍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22960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兩人同時段：人力工時該加倍，但案件實際耗時不該加倍，兩者不可混算。</a:t>
            </a:r>
            <a:endParaRPr lang="en-US" sz="1180" dirty="0"/>
          </a:p>
        </p:txBody>
      </p:sp>
      <p:sp>
        <p:nvSpPr>
          <p:cNvPr id="28" name="Shape 22"/>
          <p:cNvSpPr/>
          <p:nvPr/>
        </p:nvSpPr>
        <p:spPr>
          <a:xfrm>
            <a:off x="4251960" y="39319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3"/>
          <p:cNvSpPr/>
          <p:nvPr/>
        </p:nvSpPr>
        <p:spPr>
          <a:xfrm>
            <a:off x="4251960" y="393192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4"/>
          <p:cNvSpPr/>
          <p:nvPr/>
        </p:nvSpPr>
        <p:spPr>
          <a:xfrm>
            <a:off x="4526280" y="41879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279392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74920" y="41696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孤兒工時（同類 bug）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526280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子表人員可空白，忘了選人那段工時又被靜默丟棄，須強制驗證或預設值。</a:t>
            </a:r>
            <a:endParaRPr lang="en-US" sz="1180" dirty="0"/>
          </a:p>
        </p:txBody>
      </p:sp>
      <p:sp>
        <p:nvSpPr>
          <p:cNvPr id="34" name="Shape 27"/>
          <p:cNvSpPr/>
          <p:nvPr/>
        </p:nvSpPr>
        <p:spPr>
          <a:xfrm>
            <a:off x="7955280" y="393192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28"/>
          <p:cNvSpPr/>
          <p:nvPr/>
        </p:nvSpPr>
        <p:spPr>
          <a:xfrm>
            <a:off x="7955280" y="3931920"/>
            <a:ext cx="91440" cy="1965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29"/>
          <p:cNvSpPr/>
          <p:nvPr/>
        </p:nvSpPr>
        <p:spPr>
          <a:xfrm>
            <a:off x="8229600" y="41879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4279392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778240" y="41696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績效定義之爭無法靠技術解決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229600" y="4800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使用者要放大件數工時、管理者想從嚴，算出什麼數字都會被質疑。</a:t>
            </a:r>
            <a:endParaRPr lang="en-US" sz="1180" dirty="0"/>
          </a:p>
        </p:txBody>
      </p:sp>
      <p:sp>
        <p:nvSpPr>
          <p:cNvPr id="40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盲點  BLIND SPOTS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討論中還沒被考慮到的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EAF6EF"/>
          </a:solidFill>
          <a:ln w="15240">
            <a:solidFill>
              <a:srgbClr val="2C8C5A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C8C5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47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把「修 bug」和「架構重構」拆開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23865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2.13h 沒進日誌，就算維持一案一人也是 bug。可先獨立修掉，不必綁在大決策上。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EAF6EF"/>
          </a:solidFill>
          <a:ln w="15240">
            <a:solidFill>
              <a:srgbClr val="2C8C5A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6400800" y="20116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C8C5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947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「全面重構 vs 強制簡化」是假二選一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49440" y="23865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第三條路：工時抓子表、件數結案留主表、子表加多選人員——不重構也不逼簡化。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1"/>
          <p:cNvSpPr/>
          <p:nvPr/>
        </p:nvSpPr>
        <p:spPr>
          <a:xfrm>
            <a:off x="777240" y="3474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661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10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件數別二選一，兩個都報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384962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同時呈現「案件數(主表)」與「參與人次／工時(子表)」，透明化擋掉灌水爭議。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172200" y="324612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5"/>
          <p:cNvSpPr/>
          <p:nvPr/>
        </p:nvSpPr>
        <p:spPr>
          <a:xfrm>
            <a:off x="6400800" y="3474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5661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410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跨報表一致性風險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49440" y="384962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有子表工時者會出現在日誌，但他不是主表負責人——「誰負責」會在報表間不一致。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19"/>
          <p:cNvSpPr/>
          <p:nvPr/>
        </p:nvSpPr>
        <p:spPr>
          <a:xfrm>
            <a:off x="777240" y="49377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0292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873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先盤點受影響模組清單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25880" y="53126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決策前列出所有「人員在主表」的 Master/Detail 模組與工時估計，讓決策層看到全貌。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172200" y="4709160"/>
            <a:ext cx="54864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3"/>
          <p:cNvSpPr/>
          <p:nvPr/>
        </p:nvSpPr>
        <p:spPr>
          <a:xfrm>
            <a:off x="6400800" y="49377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02920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4873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受保護元素的授權路徑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949440" y="53126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件數語意、KPI </a:t>
            </a:r>
            <a:r>
              <a:rPr 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卡片在 </a:t>
            </a:r>
            <a:r>
              <a:rPr lang="zh-TW" alt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</a:t>
            </a:r>
            <a:r>
              <a:rPr 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保護清單，須先取得</a:t>
            </a:r>
            <a:r>
              <a:rPr lang="zh-TW" alt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r>
              <a:rPr lang="en-US" sz="113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明確同意再動</a:t>
            </a:r>
            <a:r>
              <a:rPr lang="en-US" sz="113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8595360" y="6089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綠框＝建議優先採行的方向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7D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核心爭議  THE CORE DEBATE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「1 件」還是「3 件」？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B3A5C"/>
          </a:solidFill>
          <a:ln/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情境：同一間房、同一個案子</a:t>
            </a:r>
            <a:r>
              <a:rPr lang="en-US" sz="1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，三名</a:t>
            </a:r>
            <a:r>
              <a:rPr lang="zh-TW" altLang="en-US" sz="1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同時施工</a:t>
            </a: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，各自記錄工時。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22960" y="30906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77D11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8211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7D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使用者立場：放大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三人＝三件、工時三份。工作量與忙碌程度被放大，更有理由說「我很忙」。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83464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6492240" y="30906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18211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管理者立場：從嚴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611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該不該三人來看？件數應縮小、工時放小，避免膨脹。需要被檢視的是必要性。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AF6EF"/>
          </a:solidFill>
          <a:ln w="15240">
            <a:solidFill>
              <a:srgbClr val="2C8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822960" y="54132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C8C5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0468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51663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解法：這是治理／定義問題，不是技術問題。</a:t>
            </a: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先由決策層定義「件數」，再寫程式；兩個指標都報，誰都不靠定義「贏」。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方案比較 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三個方案的取捨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064504"/>
              </p:ext>
            </p:extLst>
          </p:nvPr>
        </p:nvGraphicFramePr>
        <p:xfrm>
          <a:off x="548640" y="1783080"/>
          <a:ext cx="1106424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· 全面重構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· 強制簡化流程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D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· 漸進式（推薦）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8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做法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整套改以子表為核心，重寫件數／結案／待辦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維持現架構，逼使用者拆成一案一人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工時抓子表、件數結案留主表、子表加多選人員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能否多人協作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完整支援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不支援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工時層級支援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開發成本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極高（跨模組大改）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77D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中（聚焦工時邏輯）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使用者接受度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低（違反真實流程）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動到受保護元素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是（Dashboard 件數）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8C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件數維持，風險可控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風險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改不完、系統長期混亂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使用者反彈、資料失準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須明確定義件數與切換日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 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建議路線：先止血，再漸進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517904" y="2194560"/>
            <a:ext cx="731520" cy="731520"/>
          </a:xfrm>
          <a:prstGeom prst="ellipse">
            <a:avLst/>
          </a:prstGeom>
          <a:solidFill>
            <a:srgbClr val="2C8C5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517904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立即止血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修正工時統計：改抓子表工時並歸給人員。獨立於大決策，本週可完成。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90672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64992" y="192024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334256" y="2194560"/>
            <a:ext cx="731520" cy="73152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33425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47872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確立定義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由決策層拍板「件數」定義；Dashboard 同時呈現案件數與參與人次。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07024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81344" y="192024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150608" y="2194560"/>
            <a:ext cx="731520" cy="731520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150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64224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漸進擴充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9944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子表加多選人員、工時按人匯總；件數與結案維持主表，不動受保護元素。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23376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97696" y="192024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966960" y="2194560"/>
            <a:ext cx="731520" cy="731520"/>
          </a:xfrm>
          <a:prstGeom prst="ellipse">
            <a:avLst/>
          </a:prstGeom>
          <a:solidFill>
            <a:srgbClr val="C77D1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99669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80576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D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全模組推廣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26296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盤點同型模組，依同一原則逐步套用，避免一次性大改。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AF6EF"/>
          </a:solidFill>
          <a:ln w="12700">
            <a:solidFill>
              <a:srgbClr val="2C8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8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核心原則：</a:t>
            </a: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工時＝子表唯一來源；件數／結案＝主表；先定義、後開發；分階段、不一次性大改。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  ACTION ITEMS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後續行動與分工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Samuel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開發執行與分析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定位工程維修單工時未計入的具體程式邏輯錯誤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撰寫三方案優劣分析，供明日會議討論（明日會議前）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 Rich Client，查找 823 窗簾維修、雅詩漏水等案例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14300" dist="381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2376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資料提供與向上回報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0632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轉發使用者手寫工時紙本、</a:t>
            </a:r>
            <a:r>
              <a:rPr lang="zh-TW" altLang="en-US" sz="130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工務</a:t>
            </a:r>
            <a:r>
              <a:rPr lang="en-US" sz="130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 </a:t>
            </a: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Ragic 報修單連結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向總工程師回報：此問題涉及工時計算的根本性變更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於明日會議提出架構變更風險，供決策層深入討論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工時計算架構診斷與重構抉擇　·　明日決策會議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明日會議  ·  請決策層拍板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需要董事長決定的三件事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1298448"/>
          </a:xfrm>
          <a:prstGeom prst="roundRect">
            <a:avLst>
              <a:gd name="adj" fmla="val 4225"/>
            </a:avLst>
          </a:prstGeom>
          <a:solidFill>
            <a:srgbClr val="2446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4048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963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5000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「件數」如何定義？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77063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一案三人，算 1 件還是 3 件？這決定績效指標的計算基礎，須先定義才能開發。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566160"/>
            <a:ext cx="10515600" cy="1298448"/>
          </a:xfrm>
          <a:prstGeom prst="roundRect">
            <a:avLst>
              <a:gd name="adj" fmla="val 4225"/>
            </a:avLst>
          </a:prstGeom>
          <a:solidFill>
            <a:srgbClr val="2446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1097280" y="38221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9136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7673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走哪一條路？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691640" y="418795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全面重構 / 強制簡化 / 漸進式（推薦）。建議先止血修 bug，再分階段漸進。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960" y="4983480"/>
            <a:ext cx="10515600" cy="1298448"/>
          </a:xfrm>
          <a:prstGeom prst="roundRect">
            <a:avLst>
              <a:gd name="adj" fmla="val 4225"/>
            </a:avLst>
          </a:prstGeom>
          <a:solidFill>
            <a:srgbClr val="2446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2"/>
          <p:cNvSpPr/>
          <p:nvPr/>
        </p:nvSpPr>
        <p:spPr>
          <a:xfrm>
            <a:off x="1097280" y="52395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33095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518464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是否授權變更受保護元素？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691640" y="560527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若調整 Dashboard 件數與 KPI</a:t>
            </a:r>
            <a:r>
              <a:rPr lang="en-US" sz="130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，需</a:t>
            </a:r>
            <a:r>
              <a:rPr lang="zh-TW" altLang="en-US" sz="130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</a:t>
            </a:r>
            <a:r>
              <a:rPr lang="en-US" sz="130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明確同意</a:t>
            </a: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；否則維持現狀件數定義。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842</Words>
  <Application>Microsoft Office PowerPoint</Application>
  <PresentationFormat>寬螢幕</PresentationFormat>
  <Paragraphs>215</Paragraphs>
  <Slides>15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工時計算錯誤揭示系統架構與使用者流程脫節</dc:title>
  <dc:subject>PptxGenJS Presentation</dc:subject>
  <dc:creator>Samuel</dc:creator>
  <cp:lastModifiedBy>Samuel Huang</cp:lastModifiedBy>
  <cp:revision>1</cp:revision>
  <dcterms:created xsi:type="dcterms:W3CDTF">2026-06-09T03:26:07Z</dcterms:created>
  <dcterms:modified xsi:type="dcterms:W3CDTF">2026-06-10T07:16:22Z</dcterms:modified>
</cp:coreProperties>
</file>