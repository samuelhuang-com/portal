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19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Huang" userId="3d14d3036a2a384b" providerId="LiveId" clId="{59E6B3E9-767B-4360-86A1-1FE5E3B4620C}"/>
    <pc:docChg chg="undo custSel modSld">
      <pc:chgData name="Samuel Huang" userId="3d14d3036a2a384b" providerId="LiveId" clId="{59E6B3E9-767B-4360-86A1-1FE5E3B4620C}" dt="2026-04-23T04:24:17.121" v="34" actId="1076"/>
      <pc:docMkLst>
        <pc:docMk/>
      </pc:docMkLst>
      <pc:sldChg chg="addSp modSp mod">
        <pc:chgData name="Samuel Huang" userId="3d14d3036a2a384b" providerId="LiveId" clId="{59E6B3E9-767B-4360-86A1-1FE5E3B4620C}" dt="2026-04-23T03:34:53.077" v="14" actId="1076"/>
        <pc:sldMkLst>
          <pc:docMk/>
          <pc:sldMk cId="0" sldId="259"/>
        </pc:sldMkLst>
        <pc:spChg chg="mod">
          <ac:chgData name="Samuel Huang" userId="3d14d3036a2a384b" providerId="LiveId" clId="{59E6B3E9-767B-4360-86A1-1FE5E3B4620C}" dt="2026-04-23T03:33:01.629" v="2" actId="6549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amuel Huang" userId="3d14d3036a2a384b" providerId="LiveId" clId="{59E6B3E9-767B-4360-86A1-1FE5E3B4620C}" dt="2026-04-23T03:34:53.077" v="14" actId="1076"/>
          <ac:spMkLst>
            <pc:docMk/>
            <pc:sldMk cId="0" sldId="259"/>
            <ac:spMk id="14" creationId="{00000000-0000-0000-0000-000000000000}"/>
          </ac:spMkLst>
        </pc:spChg>
        <pc:picChg chg="add mod">
          <ac:chgData name="Samuel Huang" userId="3d14d3036a2a384b" providerId="LiveId" clId="{59E6B3E9-767B-4360-86A1-1FE5E3B4620C}" dt="2026-04-23T03:33:08.834" v="4" actId="14100"/>
          <ac:picMkLst>
            <pc:docMk/>
            <pc:sldMk cId="0" sldId="259"/>
            <ac:picMk id="16" creationId="{AFD7BEA3-D1CA-1356-D8EC-70DCAB6BFF59}"/>
          </ac:picMkLst>
        </pc:picChg>
      </pc:sldChg>
      <pc:sldChg chg="addSp modSp mod">
        <pc:chgData name="Samuel Huang" userId="3d14d3036a2a384b" providerId="LiveId" clId="{59E6B3E9-767B-4360-86A1-1FE5E3B4620C}" dt="2026-04-23T03:34:47.076" v="13" actId="1076"/>
        <pc:sldMkLst>
          <pc:docMk/>
          <pc:sldMk cId="0" sldId="260"/>
        </pc:sldMkLst>
        <pc:spChg chg="mod">
          <ac:chgData name="Samuel Huang" userId="3d14d3036a2a384b" providerId="LiveId" clId="{59E6B3E9-767B-4360-86A1-1FE5E3B4620C}" dt="2026-04-23T03:34:00.154" v="5" actId="6549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amuel Huang" userId="3d14d3036a2a384b" providerId="LiveId" clId="{59E6B3E9-767B-4360-86A1-1FE5E3B4620C}" dt="2026-04-23T03:34:47.076" v="13" actId="1076"/>
          <ac:spMkLst>
            <pc:docMk/>
            <pc:sldMk cId="0" sldId="260"/>
            <ac:spMk id="14" creationId="{00000000-0000-0000-0000-000000000000}"/>
          </ac:spMkLst>
        </pc:spChg>
        <pc:picChg chg="add mod">
          <ac:chgData name="Samuel Huang" userId="3d14d3036a2a384b" providerId="LiveId" clId="{59E6B3E9-767B-4360-86A1-1FE5E3B4620C}" dt="2026-04-23T03:34:16.741" v="11" actId="14100"/>
          <ac:picMkLst>
            <pc:docMk/>
            <pc:sldMk cId="0" sldId="260"/>
            <ac:picMk id="16" creationId="{19FAA6A4-5A23-EBF0-C63F-8AC904041B64}"/>
          </ac:picMkLst>
        </pc:picChg>
      </pc:sldChg>
      <pc:sldChg chg="modSp mod modShow">
        <pc:chgData name="Samuel Huang" userId="3d14d3036a2a384b" providerId="LiveId" clId="{59E6B3E9-767B-4360-86A1-1FE5E3B4620C}" dt="2026-04-23T03:34:59.163" v="15" actId="729"/>
        <pc:sldMkLst>
          <pc:docMk/>
          <pc:sldMk cId="0" sldId="261"/>
        </pc:sldMkLst>
        <pc:spChg chg="mod">
          <ac:chgData name="Samuel Huang" userId="3d14d3036a2a384b" providerId="LiveId" clId="{59E6B3E9-767B-4360-86A1-1FE5E3B4620C}" dt="2026-04-23T03:34:42.495" v="12" actId="1076"/>
          <ac:spMkLst>
            <pc:docMk/>
            <pc:sldMk cId="0" sldId="261"/>
            <ac:spMk id="16" creationId="{00000000-0000-0000-0000-000000000000}"/>
          </ac:spMkLst>
        </pc:spChg>
      </pc:sldChg>
      <pc:sldChg chg="modSp mod">
        <pc:chgData name="Samuel Huang" userId="3d14d3036a2a384b" providerId="LiveId" clId="{59E6B3E9-767B-4360-86A1-1FE5E3B4620C}" dt="2026-04-23T03:35:40.129" v="26" actId="20577"/>
        <pc:sldMkLst>
          <pc:docMk/>
          <pc:sldMk cId="0" sldId="264"/>
        </pc:sldMkLst>
        <pc:spChg chg="mod">
          <ac:chgData name="Samuel Huang" userId="3d14d3036a2a384b" providerId="LiveId" clId="{59E6B3E9-767B-4360-86A1-1FE5E3B4620C}" dt="2026-04-23T03:35:29.214" v="20" actId="404"/>
          <ac:spMkLst>
            <pc:docMk/>
            <pc:sldMk cId="0" sldId="264"/>
            <ac:spMk id="14" creationId="{00000000-0000-0000-0000-000000000000}"/>
          </ac:spMkLst>
        </pc:spChg>
        <pc:spChg chg="mod">
          <ac:chgData name="Samuel Huang" userId="3d14d3036a2a384b" providerId="LiveId" clId="{59E6B3E9-767B-4360-86A1-1FE5E3B4620C}" dt="2026-04-23T03:35:40.129" v="26" actId="20577"/>
          <ac:spMkLst>
            <pc:docMk/>
            <pc:sldMk cId="0" sldId="264"/>
            <ac:spMk id="15" creationId="{00000000-0000-0000-0000-000000000000}"/>
          </ac:spMkLst>
        </pc:spChg>
      </pc:sldChg>
      <pc:sldChg chg="addSp modSp mod">
        <pc:chgData name="Samuel Huang" userId="3d14d3036a2a384b" providerId="LiveId" clId="{59E6B3E9-767B-4360-86A1-1FE5E3B4620C}" dt="2026-04-23T04:23:04.250" v="33" actId="14100"/>
        <pc:sldMkLst>
          <pc:docMk/>
          <pc:sldMk cId="0" sldId="266"/>
        </pc:sldMkLst>
        <pc:spChg chg="mod">
          <ac:chgData name="Samuel Huang" userId="3d14d3036a2a384b" providerId="LiveId" clId="{59E6B3E9-767B-4360-86A1-1FE5E3B4620C}" dt="2026-04-23T03:35:58.503" v="27" actId="6549"/>
          <ac:spMkLst>
            <pc:docMk/>
            <pc:sldMk cId="0" sldId="266"/>
            <ac:spMk id="31" creationId="{00000000-0000-0000-0000-000000000000}"/>
          </ac:spMkLst>
        </pc:spChg>
        <pc:picChg chg="add mod">
          <ac:chgData name="Samuel Huang" userId="3d14d3036a2a384b" providerId="LiveId" clId="{59E6B3E9-767B-4360-86A1-1FE5E3B4620C}" dt="2026-04-23T04:23:04.250" v="33" actId="14100"/>
          <ac:picMkLst>
            <pc:docMk/>
            <pc:sldMk cId="0" sldId="266"/>
            <ac:picMk id="33" creationId="{5E40A05A-5F91-5646-E578-7FDD64987623}"/>
          </ac:picMkLst>
        </pc:picChg>
      </pc:sldChg>
      <pc:sldChg chg="modSp mod">
        <pc:chgData name="Samuel Huang" userId="3d14d3036a2a384b" providerId="LiveId" clId="{59E6B3E9-767B-4360-86A1-1FE5E3B4620C}" dt="2026-04-23T04:24:17.121" v="34" actId="1076"/>
        <pc:sldMkLst>
          <pc:docMk/>
          <pc:sldMk cId="0" sldId="267"/>
        </pc:sldMkLst>
        <pc:spChg chg="mod">
          <ac:chgData name="Samuel Huang" userId="3d14d3036a2a384b" providerId="LiveId" clId="{59E6B3E9-767B-4360-86A1-1FE5E3B4620C}" dt="2026-04-23T04:24:17.121" v="34" actId="1076"/>
          <ac:spMkLst>
            <pc:docMk/>
            <pc:sldMk cId="0" sldId="267"/>
            <ac:spMk id="4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253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工項工時 Dashboard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欄位對應與 KPI 計算說明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簡報用途：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說明工項工時 Dashboard 各項數字的計算來源，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以利主管確認數據正確性並進行決策討論。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2026-04-23  ｜  v1.38.3  ｜  維春集團管理 Portal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0" y="2103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維春集團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 Portal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簡報目錄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09728" cy="11430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30352" y="10332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307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系統資料來源總覽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 Ragic 資料庫的整合架構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291840" y="960120"/>
            <a:ext cx="109728" cy="11430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456432" y="10332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56432" y="1307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樂群工務報修 欄位對應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56432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欄位 → Dashboard 數字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217920" y="960120"/>
            <a:ext cx="109728" cy="11430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382512" y="10332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2512" y="1307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大直工務部 欄位對應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82512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欄位 → Dashboard 數字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2286000"/>
            <a:ext cx="109728" cy="11430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30352" y="2359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" y="2633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房務保養 欄位對應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欄位 → Dashboard 數字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228600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3291840" y="2286000"/>
            <a:ext cx="109728" cy="11430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3456432" y="2359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56432" y="2633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工時計算邏輯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56432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花費工時 → 工務處理天數 優先順序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228600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6217920" y="2286000"/>
            <a:ext cx="109728" cy="11430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6382512" y="2359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82512" y="2633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人員統計邏輯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82512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處理工務 欄位說明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61188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365760" y="3611880"/>
            <a:ext cx="109728" cy="11430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530352" y="3685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0352" y="39593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 計算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大指標公式與來源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91840" y="361188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3291840" y="3611880"/>
            <a:ext cx="109728" cy="11430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3456432" y="3685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456432" y="39593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五大工項類別分類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456432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關鍵字自動歸類規則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17920" y="361188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6217920" y="3611880"/>
            <a:ext cx="109728" cy="11430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6382512" y="3685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382512" y="39593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功能截圖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82512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★工項類別分析 / 高階主管 Dashboard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系統資料來源總覽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 Ragic 系統整合進入同一 Dashboard，統一計算工時與人員指標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651760" cy="128016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435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435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樂群工務報修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8013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Luqun Repair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075688"/>
            <a:ext cx="23774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148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路徑：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ap12.ragic.com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soutlet001 / Sheet 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工務報修案件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3108960"/>
            <a:ext cx="2377440" cy="2926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02920" y="31089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同步 → SQLite → API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2344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200400" y="1234440"/>
            <a:ext cx="2651760" cy="12801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291840" y="1435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🛠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291840" y="1435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大直工務部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0" y="18013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Dazhi Repair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2075688"/>
            <a:ext cx="23774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3337560" y="2148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路徑：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3756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ap12.ragic.com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soutlet001 / Sheet 8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3756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工務報修案件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3108960"/>
            <a:ext cx="2377440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3337560" y="31089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同步 → SQLite → API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12344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6035040" y="1234440"/>
            <a:ext cx="2651760" cy="12801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6126480" y="1435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🏨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126480" y="1435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房務保養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26480" y="18013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Maint.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72200" y="2075688"/>
            <a:ext cx="23774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172200" y="2148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路徑：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7220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ap12.ragic.com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soutlet001 / report2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72200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客房保養記錄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72200" y="3108960"/>
            <a:ext cx="237744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6172200" y="31089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同步 → SQLite → API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703320"/>
            <a:ext cx="841248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2286000" y="3767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統一整合進入 Portal Dashboard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0" y="4114800"/>
            <a:ext cx="3657600" cy="68580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2743200" y="4114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工項工時 Dashboard  ／  高階主管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樂群工務報修 — Ragic 欄位對應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Ragic：ap12.ragic.com / soutlet001 / luqun-public-works-repair-reporting-system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3474720" cy="3474720"/>
          </a:xfrm>
          <a:prstGeom prst="rect">
            <a:avLst/>
          </a:prstGeom>
          <a:solidFill>
            <a:srgbClr val="E8F0F8"/>
          </a:solidFill>
          <a:ln w="15240">
            <a:solidFill>
              <a:srgbClr val="4BA8E8"/>
            </a:solidFill>
            <a:prstDash val="dash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347472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91440" cy="91440"/>
          </a:xfrm>
          <a:prstGeom prst="ellipse">
            <a:avLst/>
          </a:prstGeom>
          <a:solidFill>
            <a:srgbClr val="FC605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585216" y="1170432"/>
            <a:ext cx="91440" cy="91440"/>
          </a:xfrm>
          <a:prstGeom prst="ellipse">
            <a:avLst/>
          </a:prstGeom>
          <a:solidFill>
            <a:srgbClr val="FDBC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713232" y="1170432"/>
            <a:ext cx="91440" cy="91440"/>
          </a:xfrm>
          <a:prstGeom prst="ellipse">
            <a:avLst/>
          </a:prstGeom>
          <a:solidFill>
            <a:srgbClr val="34C7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1389888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097280"/>
          <a:ext cx="4846320" cy="34259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指標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Ragic 欄位名稱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⏱ 工時（主）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花費工時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單位：小時（HR），直接使用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⏱ 工時（備）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工務處理天數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單位：天，× 24 = 小時（主欄位無值時使用）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👤 人員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處理工務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執行維修的工務人員姓名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📅 日期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發生時間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格式：YYYY/MM/DD HH:MM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🔖 工項類別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標題 + 報修類型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關鍵字自動分類（詳見 Slide 08）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📋 案件編號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報修編號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唯一識別碼，用於計算案件總數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🏷 報修類型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報修類型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建築 / 衛廁 / 空調 / 消防…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📌 樓層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發生樓層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 / B1F / 10F…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完成狀態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問題狀態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結案 / 已辦驗 / 已驗收 = 完成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FF7ED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36576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注意：「報修同仁」（報修人）不作為人員統計用途，僅供記錄參考</a:t>
            </a:r>
            <a:endParaRPr lang="en-US" sz="1000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AFD7BEA3-D1CA-1356-D8EC-70DCAB6BF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35025"/>
            <a:ext cx="3481063" cy="32552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大直工務部 — Ragic 欄位對應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Ragic：ap12.ragic.com / soutlet001 / lequn-public-works  (PAGEID: fV8)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3474720" cy="3474720"/>
          </a:xfrm>
          <a:prstGeom prst="rect">
            <a:avLst/>
          </a:prstGeom>
          <a:solidFill>
            <a:srgbClr val="E8F0F8"/>
          </a:solidFill>
          <a:ln w="15240">
            <a:solidFill>
              <a:srgbClr val="4BA8E8"/>
            </a:solidFill>
            <a:prstDash val="dash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347472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91440" cy="91440"/>
          </a:xfrm>
          <a:prstGeom prst="ellipse">
            <a:avLst/>
          </a:prstGeom>
          <a:solidFill>
            <a:srgbClr val="FC605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585216" y="1170432"/>
            <a:ext cx="91440" cy="91440"/>
          </a:xfrm>
          <a:prstGeom prst="ellipse">
            <a:avLst/>
          </a:prstGeom>
          <a:solidFill>
            <a:srgbClr val="FDBC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713232" y="1170432"/>
            <a:ext cx="91440" cy="91440"/>
          </a:xfrm>
          <a:prstGeom prst="ellipse">
            <a:avLst/>
          </a:prstGeom>
          <a:solidFill>
            <a:srgbClr val="34C7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1389888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097280"/>
          <a:ext cx="4846320" cy="33741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指標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Ragic 欄位名稱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⏱ 工時（主）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花費工時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單位：小時（HR）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⏱ 工時（備①）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工務處理天數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天 × 24 → 小時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⏱ 工時（備②）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維修天數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天 × 24 → 小時（最後 fallback）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👤 人員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處理工務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執行維修的工務人員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📅 日期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報修日期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格式：YYYY/MM/DD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🔖 工項類別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標題 + 類型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關鍵字自動分類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📋 案件編號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報修單編號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唯一識別碼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完成狀態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處理狀態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結案 / 已辦驗 / 已驗收 = 完成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CFDF5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365761" y="46542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大直特別說明：工時欄位有三層 fallback，確保每筆記錄都能取到有效工時數值</a:t>
            </a:r>
            <a:endParaRPr lang="en-US" sz="1000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19FAA6A4-5A23-EBF0-C63F-8AC904041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1" y="1097280"/>
            <a:ext cx="3474720" cy="34930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房務保養 — Ragic 欄位對應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Ragic：ap12.ragic.com / soutlet001 / report2  ｜  資料表：room_maintenance_detail_records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3474720" cy="2743200"/>
          </a:xfrm>
          <a:prstGeom prst="rect">
            <a:avLst/>
          </a:prstGeom>
          <a:solidFill>
            <a:srgbClr val="E8F0F8"/>
          </a:solidFill>
          <a:ln w="15240">
            <a:solidFill>
              <a:srgbClr val="4BA8E8"/>
            </a:solidFill>
            <a:prstDash val="dash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347472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91440" cy="91440"/>
          </a:xfrm>
          <a:prstGeom prst="ellipse">
            <a:avLst/>
          </a:prstGeom>
          <a:solidFill>
            <a:srgbClr val="FC605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585216" y="1170432"/>
            <a:ext cx="91440" cy="91440"/>
          </a:xfrm>
          <a:prstGeom prst="ellipse">
            <a:avLst/>
          </a:prstGeom>
          <a:solidFill>
            <a:srgbClr val="FDBC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713232" y="1170432"/>
            <a:ext cx="91440" cy="91440"/>
          </a:xfrm>
          <a:prstGeom prst="ellipse">
            <a:avLst/>
          </a:prstGeom>
          <a:solidFill>
            <a:srgbClr val="34C7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1389888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B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房務保養 Ragic 表單截圖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4B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（請貼上實際截圖）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097280"/>
          <a:ext cx="4846320" cy="262432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指標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Ragic 欄位名稱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⏱ 工時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工時計算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格式：'22.00  分鐘'，÷ 60 → 小時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👤 人員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保養人員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執行保養的房務人員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📅 日期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保養日期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格式：YYYY/MM/DD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🔖 工項類別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所有房務保養 = 每日巡檢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📋 案件識別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ragic_id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Ragic 記錄 ID，唯一識別碼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🏠 房號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房號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客房房號（501、602 等）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977640" y="3950208"/>
            <a:ext cx="4846320" cy="685800"/>
          </a:xfrm>
          <a:prstGeom prst="rect">
            <a:avLst/>
          </a:prstGeom>
          <a:solidFill>
            <a:srgbClr val="F5F0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4069080" y="400507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單位換算說明：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房務保養「工時計算」欄位儲存「分鐘」（例：22.00 分鐘）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程式自動 ÷60 轉換為「小時」，再與樂群/大直工務工時統一加總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8F0F8"/>
          </a:solidFill>
          <a:ln w="1016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409074" y="466584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 房務保養工項類別固定為「每日巡檢」，不進行關鍵字分類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工時計算邏輯 — 優先順序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樂群 &amp; 大直工務報修：同一套優先順序邏輯，確保每筆記錄都能取到有效工時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261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花費工時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627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單位：小時（HR）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0" y="1280160"/>
            <a:ext cx="27432" cy="7315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749040" y="129844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欄位直接記載小時數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若此欄有值（&gt; 0），直接使用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2075688"/>
            <a:ext cx="36576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1463040" y="20939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若上方欄位無值 ▼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B4530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502920" cy="9144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2404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工務處理天數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770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單位：天 × 24 = 小時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0" y="2423160"/>
            <a:ext cx="27432" cy="7315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3749040" y="244144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欄位記載天數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花費工時為空時使用，程式自動換算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3218688"/>
            <a:ext cx="36576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1463040" y="32369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若上方欄位無值 ▼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502920" cy="9144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457200" y="34747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51560" y="3547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維修天數（僅大直）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3913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單位：天 × 24 = 小時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0" y="3566160"/>
            <a:ext cx="27432" cy="7315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749040" y="358444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大直系統專屬備用欄位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前兩者皆空時使用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計算結果統一存入 work_hours 欄位（單位：小時），供所有 Dashboard KPI 計算使用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人員統計邏輯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所有人員相關指標（排名、占比、平均工時）都以「處理工務」欄位為唯一來源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2743200"/>
          </a:xfrm>
          <a:prstGeom prst="rect">
            <a:avLst/>
          </a:prstGeom>
          <a:solidFill>
            <a:srgbClr val="ECFDF5"/>
          </a:solidFill>
          <a:ln w="1524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正確來源（唯一標準）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3840480" cy="274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[樂群 / 大直]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37360" y="1691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「處理工務」欄位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19476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實際執行維修的工務人員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3134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[房務保養]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23134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「保養人員」欄位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5694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執行客房保養的房務人員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4114800" cy="2743200"/>
          </a:xfrm>
          <a:prstGeom prst="rect">
            <a:avLst/>
          </a:prstGeom>
          <a:solidFill>
            <a:srgbClr val="FFF1F0"/>
          </a:solidFill>
          <a:ln w="1524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892040" y="1261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已排除的欄位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1600200"/>
            <a:ext cx="3840480" cy="274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892040" y="16916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[樂群 / 大直]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1691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「報修同仁」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19476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填報需求的人，非執行人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92040" y="23134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[大直]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23134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「反應單位」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25694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部門/單位名稱，非個人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29352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[任何系統]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293522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其他衍生欄位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31912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不得混用做人員統計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4041648"/>
            <a:ext cx="8412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4BA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548640" y="41148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人員統計計算邏輯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3708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人員去重：</a:t>
            </a: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distinct(處理工務)，「未指定」不計入排名   </a:t>
            </a: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人員排名：</a:t>
            </a: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處理工務 → sum(工時) → 降冪排列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Dashboard KPI 計算說明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以下為「高階主管 Dashboard」第一層 Hero KPI 的計算公式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2743200" cy="10972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65760" y="1225296"/>
            <a:ext cx="73152" cy="1490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02920" y="1252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4447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本期總工時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737360"/>
            <a:ext cx="2514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02920" y="1783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公式：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SUM(work_hours)，所有篩選條件內記錄的工時加總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331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來源欄位：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花費工時 / 工務處理天數×24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50592" y="2395728"/>
            <a:ext cx="566928" cy="25603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 sz="1200"/>
          </a:p>
        </p:txBody>
      </p:sp>
      <p:sp>
        <p:nvSpPr>
          <p:cNvPr id="15" name="Text 13"/>
          <p:cNvSpPr/>
          <p:nvPr/>
        </p:nvSpPr>
        <p:spPr>
          <a:xfrm>
            <a:off x="2450592" y="239572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br>
              <a:rPr lang="en-US" sz="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</a:t>
            </a: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小時）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291840" y="1115568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291840" y="1115568"/>
            <a:ext cx="2743200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291840" y="1225296"/>
            <a:ext cx="73152" cy="1490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429000" y="1252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29000" y="14447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案件/工項數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1737360"/>
            <a:ext cx="2514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429000" y="1783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公式：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COUNT(distinct ragic_id)，篩選條件內的唯一案件數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29000" y="2331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來源欄位：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ragic_id（唯一識別碼）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76672" y="2395728"/>
            <a:ext cx="566928" cy="2560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5376672" y="239572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筆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0" y="1115568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6217920" y="1115568"/>
            <a:ext cx="2743200" cy="10972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6217920" y="1225296"/>
            <a:ext cx="73152" cy="149047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355080" y="1252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55080" y="14447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平均人工時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55080" y="1737360"/>
            <a:ext cx="2514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6355080" y="1783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公式：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總工時 ÷ COUNT(distinct 處理工務)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55080" y="2331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來源欄位：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花費工時 + 處理工務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302752" y="2395728"/>
            <a:ext cx="566928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8302752" y="239572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HR/人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2871216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365760" y="2871216"/>
            <a:ext cx="2743200" cy="109728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365760" y="2980944"/>
            <a:ext cx="73152" cy="149047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502920" y="30083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3200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工時最高類別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3493008"/>
            <a:ext cx="2514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502920" y="35387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公式：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工項類別 → SUM(工時) → MAX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02920" y="40873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來源欄位：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標題/報修類型（關鍵字分類）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450592" y="4151376"/>
            <a:ext cx="566928" cy="25603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/>
          <p:nvPr/>
        </p:nvSpPr>
        <p:spPr>
          <a:xfrm>
            <a:off x="2450592" y="4151376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類別 + 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91840" y="2871216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5"/>
          <p:cNvSpPr/>
          <p:nvPr/>
        </p:nvSpPr>
        <p:spPr>
          <a:xfrm>
            <a:off x="3291840" y="2871216"/>
            <a:ext cx="274320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6"/>
          <p:cNvSpPr/>
          <p:nvPr/>
        </p:nvSpPr>
        <p:spPr>
          <a:xfrm>
            <a:off x="3291840" y="2980944"/>
            <a:ext cx="73152" cy="1490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3429000" y="30083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5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429000" y="3200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工時最高人員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429000" y="3493008"/>
            <a:ext cx="2514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3429000" y="35387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公式：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處理工務 → SUM(工時) → MAX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429000" y="40873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來源欄位：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處理工務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376672" y="4151376"/>
            <a:ext cx="566928" cy="2560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/>
          <p:nvPr/>
        </p:nvSpPr>
        <p:spPr>
          <a:xfrm>
            <a:off x="5376672" y="4151376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姓名 + 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217920" y="2871216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5"/>
          <p:cNvSpPr/>
          <p:nvPr/>
        </p:nvSpPr>
        <p:spPr>
          <a:xfrm>
            <a:off x="6217920" y="2871216"/>
            <a:ext cx="2743200" cy="10972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6"/>
          <p:cNvSpPr/>
          <p:nvPr/>
        </p:nvSpPr>
        <p:spPr>
          <a:xfrm>
            <a:off x="6217920" y="2980944"/>
            <a:ext cx="73152" cy="1490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7"/>
          <p:cNvSpPr/>
          <p:nvPr/>
        </p:nvSpPr>
        <p:spPr>
          <a:xfrm>
            <a:off x="6355080" y="30083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6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355080" y="3200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環比變化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355080" y="3493008"/>
            <a:ext cx="2514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Text 60"/>
          <p:cNvSpPr/>
          <p:nvPr/>
        </p:nvSpPr>
        <p:spPr>
          <a:xfrm>
            <a:off x="6355080" y="35387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公式：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(本期工時 - 上期工時) ÷ 上期工時 × 100%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355080" y="40873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來源欄位：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與上月 or 去年同期比較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302752" y="4151376"/>
            <a:ext cx="566928" cy="2560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3"/>
          <p:cNvSpPr/>
          <p:nvPr/>
        </p:nvSpPr>
        <p:spPr>
          <a:xfrm>
            <a:off x="8302752" y="4151376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五大工項類別分類邏輯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程式依據案件「標題 + 報修類型」欄位關鍵字自動歸類，優先順序由上至下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685800"/>
          </a:xfrm>
          <a:prstGeom prst="rect">
            <a:avLst/>
          </a:prstGeom>
          <a:solidFill>
            <a:srgbClr val="FFF1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1005840" cy="6858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最優先
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緊急事件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63040" y="12252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關鍵字：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14600" y="122529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緊急、急修、突發、火警、停電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63040" y="15361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011680" y="1536192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緊急漏電、突發管線爆裂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929384"/>
            <a:ext cx="8412480" cy="685800"/>
          </a:xfrm>
          <a:prstGeom prst="rect">
            <a:avLst/>
          </a:prstGeom>
          <a:solidFill>
            <a:srgbClr val="F5F0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1929384"/>
            <a:ext cx="1005840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65760" y="1929384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
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每日巡檢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63040" y="1984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關鍵字：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14600" y="198424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巡檢、巡視、例巡、日巡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63040" y="22951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11680" y="2295144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每日例行巡檢、巡視設備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688336"/>
            <a:ext cx="8412480" cy="685800"/>
          </a:xfrm>
          <a:prstGeom prst="rect">
            <a:avLst/>
          </a:prstGeom>
          <a:solidFill>
            <a:srgbClr val="FFF7ED"/>
          </a:solidFill>
          <a:ln w="1016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2688336"/>
            <a:ext cx="1005840" cy="6858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65760" y="2688336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
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例行維護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63040" y="2743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關鍵字：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14600" y="274320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例行、定期、保養、維護、月保、季保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463040" y="305409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011680" y="3054096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定期設備保養、例行維護作業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447288"/>
            <a:ext cx="8412480" cy="685800"/>
          </a:xfrm>
          <a:prstGeom prst="rect">
            <a:avLst/>
          </a:prstGeom>
          <a:solidFill>
            <a:srgbClr val="ECFDF5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447288"/>
            <a:ext cx="1005840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365760" y="3447288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
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上級交辦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63040" y="3502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關鍵字：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14600" y="350215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交辦、上級、主管指示、指派、院長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463040" y="38130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011680" y="381304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主管交辦工程、院長指示修繕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E8F0F8"/>
          </a:solidFill>
          <a:ln w="1016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365760" y="4206240"/>
            <a:ext cx="1005840" cy="6858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365760" y="42062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預設
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現場報修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63040" y="4261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關鍵字：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514600" y="42611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B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（以上皆不符合時，歸入此類）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463040" y="45720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011680" y="457200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一般工務報修案件（多數資料）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09-A  ★工項類別分析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路由：/work-category-analysis  ｜  位置：左側選單 → 樂群工務報修 / 大直工務部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1480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73152" cy="57607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30352" y="1216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 Tab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14630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類別趨勢折線圖（全年月趨勢 / 單月日趨勢）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837944"/>
            <a:ext cx="411480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65760" y="1837944"/>
            <a:ext cx="73152" cy="57607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30352" y="18836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每日累計表（B）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2130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1~31 日 × 5 類別 + 星期 + TOTAL + % 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05456"/>
            <a:ext cx="411480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73152" cy="57607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30352" y="25511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 每月累計表（C）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27980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1~12 月 × 5 類別 + TOTAL + % 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172968"/>
            <a:ext cx="411480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3172968"/>
            <a:ext cx="73152" cy="57607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530352" y="32186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🧑‍💼 人員工時%（D）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0352" y="3465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各工項類別下各人員工時佔比（%）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411480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3840480"/>
            <a:ext cx="73152" cy="57607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530352" y="38862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五維篩選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0352" y="4133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 / 月份 / 來源 / 類別 / 人員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1115568"/>
            <a:ext cx="4114800" cy="3657600"/>
          </a:xfrm>
          <a:prstGeom prst="rect">
            <a:avLst/>
          </a:prstGeom>
          <a:solidFill>
            <a:srgbClr val="E8F0F8"/>
          </a:solidFill>
          <a:ln w="15240">
            <a:solidFill>
              <a:srgbClr val="4BA8E8"/>
            </a:solidFill>
            <a:prstDash val="dash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663440" y="1115568"/>
            <a:ext cx="41148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4754880" y="1170432"/>
            <a:ext cx="91440" cy="91440"/>
          </a:xfrm>
          <a:prstGeom prst="ellipse">
            <a:avLst/>
          </a:prstGeom>
          <a:solidFill>
            <a:srgbClr val="FC605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4882896" y="1170432"/>
            <a:ext cx="91440" cy="91440"/>
          </a:xfrm>
          <a:prstGeom prst="ellipse">
            <a:avLst/>
          </a:prstGeom>
          <a:solidFill>
            <a:srgbClr val="FDBC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5010912" y="1170432"/>
            <a:ext cx="91440" cy="91440"/>
          </a:xfrm>
          <a:prstGeom prst="ellipse">
            <a:avLst/>
          </a:prstGeom>
          <a:solidFill>
            <a:srgbClr val="34C7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4754880" y="1389888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5E40A05A-5F91-5646-E578-7FDD64987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690" y="2177467"/>
            <a:ext cx="4119573" cy="17956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09-B  高階主管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路由：/exec-dashboard  ｜  位置：左側選單 → 樂群工務報修 / 大直工務部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697480" cy="3749040"/>
          </a:xfrm>
          <a:prstGeom prst="rect">
            <a:avLst/>
          </a:prstGeom>
          <a:solidFill>
            <a:srgbClr val="E8F0F8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2697480" cy="38404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第一層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KPI 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1645920"/>
            <a:ext cx="2441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本期總工時（超大數字）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2057400"/>
            <a:ext cx="2441448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30352" y="2157984"/>
            <a:ext cx="2441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人均工時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" y="2569464"/>
            <a:ext cx="2441448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30352" y="2670048"/>
            <a:ext cx="2441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最高工時類別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3081528"/>
            <a:ext cx="2441448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30352" y="3182112"/>
            <a:ext cx="2441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最高工時人員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" y="3593592"/>
            <a:ext cx="2441448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30352" y="3694176"/>
            <a:ext cx="2441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最高工時來源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" y="4105656"/>
            <a:ext cx="2441448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30352" y="4206240"/>
            <a:ext cx="2441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環比變化 ↑↓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1170432"/>
            <a:ext cx="2697480" cy="3749040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246120" y="1170432"/>
            <a:ext cx="269748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337560" y="117043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第二層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決策圖表區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10712" y="1645920"/>
            <a:ext cx="2441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工項類別趨勢（折線圖）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10712" y="2057400"/>
            <a:ext cx="2441448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410712" y="2157984"/>
            <a:ext cx="2441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類別占比（Donut）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10712" y="2569464"/>
            <a:ext cx="2441448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3410712" y="2670048"/>
            <a:ext cx="2441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人員排名（橫柱圖）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10712" y="3081528"/>
            <a:ext cx="2441448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3410712" y="3182112"/>
            <a:ext cx="2441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類別×人員（Stacked Bar）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10712" y="3593592"/>
            <a:ext cx="2441448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3410712" y="3694176"/>
            <a:ext cx="2441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來源別分析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10712" y="4105656"/>
            <a:ext cx="2441448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3410712" y="4206240"/>
            <a:ext cx="2441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人力集中度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1170432"/>
            <a:ext cx="2697480" cy="3749040"/>
          </a:xfrm>
          <a:prstGeom prst="rect">
            <a:avLst/>
          </a:prstGeom>
          <a:solidFill>
            <a:srgbClr val="F5F0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6126480" y="1170432"/>
            <a:ext cx="269748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6217920" y="117043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第三層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明細分析表格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91072" y="1645920"/>
            <a:ext cx="2441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每日累計工時表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91072" y="2057400"/>
            <a:ext cx="2441448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6291072" y="2157984"/>
            <a:ext cx="2441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每月累計工時表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91072" y="2569464"/>
            <a:ext cx="2441448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6291072" y="2670048"/>
            <a:ext cx="2441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人員工時佔比表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91072" y="3081528"/>
            <a:ext cx="2441448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6291072" y="3182112"/>
            <a:ext cx="24414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人員排名詳細表（可排序）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FF7ED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自動決策提示：集中度 &gt; 70% 🔴 / 現場報修 &gt; 40% 🟡 / 環比 ±25% 🟡 / 分布正常 🟢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數據驗證方式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如何確認 Dashboard 數字與 Ragic 原始資料一致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0" cy="658368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2161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 Ragic → DB 同步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46304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/api/v1/luqun-repair/sync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B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/api/v1/dazhi-repair/sync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72200" y="1225296"/>
            <a:ext cx="2468880" cy="5852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172200" y="124358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同步完成後，DB 才會反映 Ragic 最新資料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892808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1892808"/>
            <a:ext cx="640080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65760" y="189280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93852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確認人員清單（處理工務）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218541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/api/v1/work-category-analysis/persons?year=2026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1947672"/>
            <a:ext cx="2468880" cy="5852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172200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回傳值應為「處理工務」欄位的人員姓名，而非報修人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615184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2615184"/>
            <a:ext cx="640080" cy="65836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65760" y="2615184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26609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對帳特定案件工時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290779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/api/v1/luqun-repair/raw-fields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確認 fields 清單含「花費工時」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72200" y="2670048"/>
            <a:ext cx="2468880" cy="5852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172200" y="268833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比對 Ragic 單筆記錄的花費工時 與 API 統計值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333756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337560"/>
            <a:ext cx="640080" cy="65836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7280" y="33832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 Dashboard 主統計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363016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/api/v1/work-category-analysis/stats?year=2026&amp;month=4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72200" y="3392424"/>
            <a:ext cx="2468880" cy="5852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6172200" y="34107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kpi.total_hours = Σ(花費工時)，kpi.top_person = 處理工務工時最高者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4059936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365760" y="4059936"/>
            <a:ext cx="640080" cy="65836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365760" y="405993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97280" y="410565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期望值驗算範例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97280" y="435254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圖中案件：花費工時=159.67 HR，工務處理天數=6.65 天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159.67÷24=6.65（換算一致）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72200" y="4114800"/>
            <a:ext cx="2468880" cy="5852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6172200" y="41330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API 應統計 159.67 HR（優先使用花費工時）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資料欄位對應摘要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828800" cy="1463040"/>
          </a:xfrm>
          <a:prstGeom prst="rect">
            <a:avLst/>
          </a:prstGeom>
          <a:solidFill>
            <a:srgbClr val="1E293B"/>
          </a:solidFill>
          <a:ln w="15240">
            <a:solidFill>
              <a:srgbClr val="4BA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828800" cy="2926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人員欄位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202996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處理工務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2523744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樂群/大直共用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1691640"/>
            <a:ext cx="1828800" cy="1463040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2651760" y="1691640"/>
            <a:ext cx="1828800" cy="2926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2743200" y="1691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工時欄位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24912" y="202996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花費工時 HR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24912" y="2523744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工務處理天數×24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1828800" cy="1463040"/>
          </a:xfrm>
          <a:prstGeom prst="rect">
            <a:avLst/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663440" y="1691640"/>
            <a:ext cx="1828800" cy="2926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754880" y="1691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工項類別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202996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關鍵字自動分類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6592" y="2523744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大類別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1691640"/>
            <a:ext cx="1828800" cy="1463040"/>
          </a:xfrm>
          <a:prstGeom prst="rect">
            <a:avLst/>
          </a:prstGeom>
          <a:solidFill>
            <a:srgbClr val="1E293B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675120" y="1691640"/>
            <a:ext cx="1828800" cy="2926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766560" y="16916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房務保養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8272" y="202996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保養人員 / 工時計算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48272" y="2523744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固定: 每日巡檢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337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數據如有疑問，請以 Ragic 明細表「花費工時」欄位進行對帳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維春集團管理 Portal  ｜  2026-04-23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1317</Words>
  <Application>Microsoft Office PowerPoint</Application>
  <PresentationFormat>如螢幕大小 (16:9)</PresentationFormat>
  <Paragraphs>348</Paragraphs>
  <Slides>14</Slides>
  <Notes>14</Notes>
  <HiddenSlides>1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工項工時 Dashboard — Ragic 欄位對應說明</dc:title>
  <dc:subject>Dashboard KPI 計算邏輯與資料來源說明</dc:subject>
  <dc:creator>維春集團 Portal</dc:creator>
  <cp:lastModifiedBy>Samuel Huang</cp:lastModifiedBy>
  <cp:revision>1</cp:revision>
  <dcterms:created xsi:type="dcterms:W3CDTF">2026-04-23T03:28:51Z</dcterms:created>
  <dcterms:modified xsi:type="dcterms:W3CDTF">2026-04-23T04:24:27Z</dcterms:modified>
</cp:coreProperties>
</file>